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6"/>
  </p:notesMasterIdLst>
  <p:sldIdLst>
    <p:sldId id="273" r:id="rId2"/>
    <p:sldId id="1057" r:id="rId3"/>
    <p:sldId id="1112" r:id="rId4"/>
    <p:sldId id="1087" r:id="rId5"/>
    <p:sldId id="1088" r:id="rId6"/>
    <p:sldId id="1089" r:id="rId7"/>
    <p:sldId id="1090" r:id="rId8"/>
    <p:sldId id="1091" r:id="rId9"/>
    <p:sldId id="1092" r:id="rId10"/>
    <p:sldId id="1096" r:id="rId11"/>
    <p:sldId id="1097" r:id="rId12"/>
    <p:sldId id="1094" r:id="rId13"/>
    <p:sldId id="1098" r:id="rId14"/>
    <p:sldId id="1095" r:id="rId15"/>
    <p:sldId id="1099" r:id="rId16"/>
    <p:sldId id="1100" r:id="rId17"/>
    <p:sldId id="1101" r:id="rId18"/>
    <p:sldId id="1102" r:id="rId19"/>
    <p:sldId id="1103" r:id="rId20"/>
    <p:sldId id="1104" r:id="rId21"/>
    <p:sldId id="1105" r:id="rId22"/>
    <p:sldId id="1106" r:id="rId23"/>
    <p:sldId id="1107" r:id="rId24"/>
    <p:sldId id="1108" r:id="rId25"/>
    <p:sldId id="1109" r:id="rId26"/>
    <p:sldId id="1110" r:id="rId27"/>
    <p:sldId id="1111" r:id="rId28"/>
    <p:sldId id="1113" r:id="rId29"/>
    <p:sldId id="1114" r:id="rId30"/>
    <p:sldId id="1115" r:id="rId31"/>
    <p:sldId id="1118" r:id="rId32"/>
    <p:sldId id="1119" r:id="rId33"/>
    <p:sldId id="1121" r:id="rId34"/>
    <p:sldId id="1120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" initials="m10" lastIdx="1" clrIdx="0">
    <p:extLst>
      <p:ext uri="{19B8F6BF-5375-455C-9EA6-DF929625EA0E}">
        <p15:presenceInfo xmlns:p15="http://schemas.microsoft.com/office/powerpoint/2012/main" userId="m10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5" autoAdjust="0"/>
    <p:restoredTop sz="79402" autoAdjust="0"/>
  </p:normalViewPr>
  <p:slideViewPr>
    <p:cSldViewPr snapToGrid="0">
      <p:cViewPr varScale="1">
        <p:scale>
          <a:sx n="89" d="100"/>
          <a:sy n="89" d="100"/>
        </p:scale>
        <p:origin x="1296" y="7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10/29/2025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6156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6441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9256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8077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1082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082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218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38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855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62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873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3701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8924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444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829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3856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7899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1229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7044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9135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88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7055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6764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2158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135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64141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8160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9235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6881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4275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260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4824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6468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=""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=""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=""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ru.wikipedia.org/wiki/Windows_API" TargetMode="External"/><Relationship Id="rId3" Type="http://schemas.openxmlformats.org/officeDocument/2006/relationships/hyperlink" Target="https://ru.wikipedia.org/wiki/%D0%98%D0%BD%D1%82%D0%B5%D1%80%D1%84%D0%B5%D0%B9%D1%81_%D0%BF%D1%80%D0%BE%D0%B3%D1%80%D0%B0%D0%BC%D0%BC%D0%B8%D1%80%D0%BE%D0%B2%D0%B0%D0%BD%D0%B8%D1%8F_%D0%BF%D1%80%D0%B8%D0%BB%D0%BE%D0%B6%D0%B5%D0%BD%D0%B8%D0%B9" TargetMode="External"/><Relationship Id="rId7" Type="http://schemas.openxmlformats.org/officeDocument/2006/relationships/hyperlink" Target="https://ru.wikipedia.org/wiki/Microsoft_Window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.NET_Framework" TargetMode="External"/><Relationship Id="rId5" Type="http://schemas.openxmlformats.org/officeDocument/2006/relationships/hyperlink" Target="https://ru.wikipedia.org/wiki/Microsoft" TargetMode="External"/><Relationship Id="rId10" Type="http://schemas.openxmlformats.org/officeDocument/2006/relationships/hyperlink" Target="https://ru.wikipedia.org/wiki/API" TargetMode="External"/><Relationship Id="rId4" Type="http://schemas.openxmlformats.org/officeDocument/2006/relationships/hyperlink" Target="https://ru.wikipedia.org/wiki/%D0%93%D1%80%D0%B0%D1%84%D0%B8%D1%87%D0%B5%D1%81%D0%BA%D0%B8%D0%B9_%D0%B8%D0%BD%D1%82%D0%B5%D1%80%D1%84%D0%B5%D0%B9%D1%81_%D0%BF%D0%BE%D0%BB%D1%8C%D0%B7%D0%BE%D0%B2%D0%B0%D1%82%D0%B5%D0%BB%D1%8F" TargetMode="External"/><Relationship Id="rId9" Type="http://schemas.openxmlformats.org/officeDocument/2006/relationships/hyperlink" Target="https://ru.wikipedia.org/wiki/%D0%A3%D0%BF%D1%80%D0%B0%D0%B2%D0%BB%D1%8F%D0%B5%D0%BC%D1%8B%D0%B9_%D0%BA%D0%BE%D0%B4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ru.wikipedia.org/wiki/Windows_7" TargetMode="External"/><Relationship Id="rId3" Type="http://schemas.openxmlformats.org/officeDocument/2006/relationships/hyperlink" Target="https://ru.wikipedia.org/wiki/Windows" TargetMode="External"/><Relationship Id="rId7" Type="http://schemas.openxmlformats.org/officeDocument/2006/relationships/hyperlink" Target="https://ru.wikipedia.org/wiki/Windows_Vista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Windows_Presentation_Foundation#cite_note-1" TargetMode="External"/><Relationship Id="rId11" Type="http://schemas.openxmlformats.org/officeDocument/2006/relationships/hyperlink" Target="https://ru.wikipedia.org/wiki/Windows_10" TargetMode="External"/><Relationship Id="rId5" Type="http://schemas.openxmlformats.org/officeDocument/2006/relationships/hyperlink" Target="https://ru.wikipedia.org/wiki/XAML" TargetMode="External"/><Relationship Id="rId10" Type="http://schemas.openxmlformats.org/officeDocument/2006/relationships/hyperlink" Target="https://ru.wikipedia.org/wiki/Windows_8.1" TargetMode="External"/><Relationship Id="rId4" Type="http://schemas.openxmlformats.org/officeDocument/2006/relationships/hyperlink" Target="https://ru.wikipedia.org/wiki/.NET_Framework" TargetMode="External"/><Relationship Id="rId9" Type="http://schemas.openxmlformats.org/officeDocument/2006/relationships/hyperlink" Target="https://ru.wikipedia.org/wiki/Windows_8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ru.wikipedia.org/wiki/CLR" TargetMode="External"/><Relationship Id="rId3" Type="http://schemas.openxmlformats.org/officeDocument/2006/relationships/hyperlink" Target="https://ru.wikipedia.org/wiki/XAML" TargetMode="External"/><Relationship Id="rId7" Type="http://schemas.openxmlformats.org/officeDocument/2006/relationships/hyperlink" Target="https://ru.wikipedia.org/wiki/GDI+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GDI" TargetMode="External"/><Relationship Id="rId5" Type="http://schemas.openxmlformats.org/officeDocument/2006/relationships/hyperlink" Target="https://ru.wikipedia.org/wiki/Windows_Forms" TargetMode="External"/><Relationship Id="rId10" Type="http://schemas.openxmlformats.org/officeDocument/2006/relationships/hyperlink" Target="https://ru.wikipedia.org/wiki/Silverlight" TargetMode="External"/><Relationship Id="rId4" Type="http://schemas.openxmlformats.org/officeDocument/2006/relationships/hyperlink" Target="https://ru.wikipedia.org/wiki/DirectX" TargetMode="External"/><Relationship Id="rId9" Type="http://schemas.openxmlformats.org/officeDocument/2006/relationships/hyperlink" Target="https://ru.wikipedia.org/wiki/WPF/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XA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%D0%9A%D0%BD%D0%BE%D0%BF%D0%BA%D0%B0_(%D1%8D%D0%BB%D0%B5%D0%BC%D0%B5%D0%BD%D1%82_%D0%B8%D0%BD%D1%82%D0%B5%D1%80%D1%84%D0%B5%D0%B9%D1%81%D0%B0_%D0%BF%D1%80%D0%BE%D0%B3%D1%80%D0%B0%D0%BC%D0%BC)" TargetMode="External"/><Relationship Id="rId5" Type="http://schemas.openxmlformats.org/officeDocument/2006/relationships/hyperlink" Target="https://ru.wikipedia.org/wiki/%D0%AD%D0%BB%D0%B5%D0%BC%D0%B5%D0%BD%D1%82_%D1%83%D0%BF%D1%80%D0%B0%D0%B2%D0%BB%D0%B5%D0%BD%D0%B8%D1%8F" TargetMode="External"/><Relationship Id="rId4" Type="http://schemas.openxmlformats.org/officeDocument/2006/relationships/hyperlink" Target="https://ru.wikipedia.org/wiki/XML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%D0%A1%D1%83%D1%89%D0%BD%D0%BE%D1%81%D1%82%D1%8C_(%D0%B8%D0%BD%D1%84%D0%BE%D1%80%D0%BC%D0%B0%D1%82%D0%B8%D0%BA%D0%B0)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u.wikipedia.org/wiki/%D0%90%D0%BD%D0%B3%D0%BB%D0%B8%D0%B9%D1%81%D0%BA%D0%B8%D0%B9_%D1%8F%D0%B7%D1%8B%D0%BA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%D0%90%D0%BD%D0%B3%D0%BB%D0%B8%D0%B9%D1%81%D0%BA%D0%B8%D0%B9_%D1%8F%D0%B7%D1%8B%D0%BA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u.wikipedia.org/wiki/CDATA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s.msdn.microsoft.com/johngossman/2005/10/08/introduction-to-modelviewviewmodel-pattern-for-building-wpf-app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=""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2803656"/>
            <a:ext cx="8978016" cy="1687197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3 семестр</a:t>
            </a:r>
            <a:b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8.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Эволюция десктоп-разработки на </a:t>
            </a:r>
            <a:r>
              <a:rPr lang="en-US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C</a:t>
            </a: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#</a:t>
            </a:r>
            <a:endParaRPr lang="ru-RU" sz="28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WinForms</a:t>
            </a:r>
            <a:endParaRPr lang="en-US" sz="28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WPF, XML, XSD</a:t>
            </a:r>
            <a:endParaRPr lang="ru-RU" sz="28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WPF </a:t>
            </a: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и </a:t>
            </a: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MVVM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Типы проектов под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Desktop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NET - Background color problem with WinForms and WP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4" y="908356"/>
            <a:ext cx="7502953" cy="4724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valonia UI (@avaloniaui@dotnet.social) - dotnet.social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369" y="4267200"/>
            <a:ext cx="6856044" cy="2285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erusahaan mana yang menggunakan atau produk/aplikasi apa yang dibuat  dengan .NET MAUI? : r/dotnetMAUI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2654" y="1095375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455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—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3" tooltip="Интерфейс программирования приложений"/>
              </a:rPr>
              <a:t>интерфейс программирования приложений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(API), отвечающий за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Графический интерфейс пользователя"/>
              </a:rPr>
              <a:t>графический интерфейс пользователя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и являющийся частью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5" tooltip="Microsoft"/>
              </a:rPr>
              <a:t>Microsoft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6" tooltip=".NET Framework"/>
              </a:rPr>
              <a:t>.NET 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6" tooltip=".NET Framework"/>
              </a:rPr>
              <a:t>Framework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 Данный интерфейс упрощает доступ к элементам интерфейса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7" tooltip="Microsoft Windows"/>
              </a:rPr>
              <a:t>Microsoft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7" tooltip="Microsoft Windows"/>
              </a:rPr>
              <a:t> 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7" tooltip="Microsoft Windows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за счет создания обёртки для существующего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8" tooltip="Windows API"/>
              </a:rPr>
              <a:t>Win32 API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в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9" tooltip="Управляемый код"/>
              </a:rPr>
              <a:t>управляемом коде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 Причём управляемый код — классы, реализующие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10" tooltip="API"/>
              </a:rPr>
              <a:t>API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для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не зависят от языка разработки. То есть программист одинаково может использовать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как при написании ПО на C#, C++, так и на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VB.Net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J# и др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Год </a:t>
            </a: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рождения: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 ~2002, вместе с .NET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Framework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Философия:</a:t>
            </a:r>
            <a:r>
              <a:rPr lang="ru-RU" sz="2400" dirty="0">
                <a:latin typeface="Bookman Old Style" panose="02050604050505020204" pitchFamily="18" charset="0"/>
              </a:rPr>
              <a:t> "</a:t>
            </a:r>
            <a:r>
              <a:rPr lang="ru-RU" sz="2400" dirty="0" err="1">
                <a:latin typeface="Bookman Old Style" panose="02050604050505020204" pitchFamily="18" charset="0"/>
              </a:rPr>
              <a:t>Drag-and-Drop</a:t>
            </a:r>
            <a:r>
              <a:rPr lang="ru-RU" sz="2400" dirty="0">
                <a:latin typeface="Bookman Old Style" panose="02050604050505020204" pitchFamily="18" charset="0"/>
              </a:rPr>
              <a:t>". Визуальный конструктор, быстрая </a:t>
            </a:r>
            <a:r>
              <a:rPr lang="ru-RU" sz="2400" dirty="0" err="1">
                <a:latin typeface="Bookman Old Style" panose="02050604050505020204" pitchFamily="18" charset="0"/>
              </a:rPr>
              <a:t>прототипизация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800" b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6205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15668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Плюсы: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Очень низкий порог входа.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Быстрое создание простых приложений для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Огромная база знаний и готовых решений.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Минусы: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Только для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Внешний вид привязан к версии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 Сложно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кастомизировать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Устаревшая архитектура (часто приводит к "спагетти-коду" с бизнес-логикой в обработчиках кнопок).</a:t>
            </a:r>
            <a:endParaRPr lang="ru-RU" sz="2400" b="0" i="0" dirty="0">
              <a:solidFill>
                <a:srgbClr val="0F1115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635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Windows Presentation Foundation</a:t>
            </a:r>
            <a:r>
              <a:rPr lang="en-US" sz="2400" dirty="0">
                <a:latin typeface="Bookman Old Style" panose="02050604050505020204" pitchFamily="18" charset="0"/>
              </a:rPr>
              <a:t> (</a:t>
            </a:r>
            <a:r>
              <a:rPr lang="en-US" sz="2400" b="1" dirty="0">
                <a:latin typeface="Bookman Old Style" panose="02050604050505020204" pitchFamily="18" charset="0"/>
              </a:rPr>
              <a:t>WPF</a:t>
            </a:r>
            <a:r>
              <a:rPr lang="en-US" sz="2400" dirty="0">
                <a:latin typeface="Bookman Old Style" panose="02050604050505020204" pitchFamily="18" charset="0"/>
              </a:rPr>
              <a:t>) — </a:t>
            </a:r>
            <a:r>
              <a:rPr lang="ru-RU" sz="2400" dirty="0">
                <a:latin typeface="Bookman Old Style" panose="02050604050505020204" pitchFamily="18" charset="0"/>
              </a:rPr>
              <a:t>аналог </a:t>
            </a:r>
            <a:r>
              <a:rPr lang="en-US" sz="2400" dirty="0" err="1">
                <a:latin typeface="Bookman Old Style" panose="02050604050505020204" pitchFamily="18" charset="0"/>
              </a:rPr>
              <a:t>WinForms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система для построения клиентских приложений </a:t>
            </a:r>
            <a:r>
              <a:rPr lang="en-US" sz="2400" dirty="0">
                <a:latin typeface="Bookman Old Style" panose="02050604050505020204" pitchFamily="18" charset="0"/>
                <a:hlinkClick r:id="rId3" tooltip="Windows"/>
              </a:rPr>
              <a:t>Windows</a:t>
            </a:r>
            <a:r>
              <a:rPr lang="en-US" sz="2400" dirty="0">
                <a:latin typeface="Bookman Old Style" panose="02050604050505020204" pitchFamily="18" charset="0"/>
              </a:rPr>
              <a:t> </a:t>
            </a:r>
            <a:r>
              <a:rPr lang="ru-RU" sz="2400" dirty="0">
                <a:latin typeface="Bookman Old Style" panose="02050604050505020204" pitchFamily="18" charset="0"/>
              </a:rPr>
              <a:t>с визуально привлекательными возможностями взаимодействия с пользователем, </a:t>
            </a:r>
            <a:r>
              <a:rPr lang="ru-RU" sz="2400" dirty="0" smtClean="0">
                <a:latin typeface="Bookman Old Style" panose="02050604050505020204" pitchFamily="18" charset="0"/>
              </a:rPr>
              <a:t>графическая </a:t>
            </a:r>
            <a:r>
              <a:rPr lang="ru-RU" sz="2400" dirty="0">
                <a:latin typeface="Bookman Old Style" panose="02050604050505020204" pitchFamily="18" charset="0"/>
              </a:rPr>
              <a:t>подсистема в составе </a:t>
            </a:r>
            <a:r>
              <a:rPr lang="ru-RU" sz="2400" dirty="0">
                <a:latin typeface="Bookman Old Style" panose="02050604050505020204" pitchFamily="18" charset="0"/>
                <a:hlinkClick r:id="rId4" tooltip=".NET Framework"/>
              </a:rPr>
              <a:t>.</a:t>
            </a:r>
            <a:r>
              <a:rPr lang="en-US" sz="2400" dirty="0">
                <a:latin typeface="Bookman Old Style" panose="02050604050505020204" pitchFamily="18" charset="0"/>
                <a:hlinkClick r:id="rId4" tooltip=".NET Framework"/>
              </a:rPr>
              <a:t>NET </a:t>
            </a:r>
            <a:r>
              <a:rPr lang="en-US" sz="2400" dirty="0" smtClean="0">
                <a:latin typeface="Bookman Old Style" panose="02050604050505020204" pitchFamily="18" charset="0"/>
                <a:hlinkClick r:id="rId4" tooltip=".NET Framework"/>
              </a:rPr>
              <a:t>Framework</a:t>
            </a:r>
            <a:r>
              <a:rPr lang="ru-RU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использующая язык разметки </a:t>
            </a:r>
            <a:r>
              <a:rPr lang="en-US" sz="2400" dirty="0">
                <a:latin typeface="Bookman Old Style" panose="02050604050505020204" pitchFamily="18" charset="0"/>
                <a:hlinkClick r:id="rId5" tooltip="XAML"/>
              </a:rPr>
              <a:t>XAML</a:t>
            </a:r>
            <a:r>
              <a:rPr lang="en-US" sz="2400" baseline="30000" dirty="0">
                <a:latin typeface="Bookman Old Style" panose="02050604050505020204" pitchFamily="18" charset="0"/>
                <a:hlinkClick r:id="rId6"/>
              </a:rPr>
              <a:t>[1]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WPF </a:t>
            </a:r>
            <a:r>
              <a:rPr lang="ru-RU" sz="2400" dirty="0">
                <a:latin typeface="Bookman Old Style" panose="02050604050505020204" pitchFamily="18" charset="0"/>
              </a:rPr>
              <a:t>предустановлена в </a:t>
            </a:r>
            <a:r>
              <a:rPr lang="en-US" sz="2400" dirty="0">
                <a:latin typeface="Bookman Old Style" panose="02050604050505020204" pitchFamily="18" charset="0"/>
                <a:hlinkClick r:id="rId7" tooltip="Windows Vista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7" tooltip="Windows Vista"/>
              </a:rPr>
              <a:t>Vista</a:t>
            </a:r>
            <a:r>
              <a:rPr lang="en-US" sz="2400" dirty="0" smtClean="0">
                <a:latin typeface="Bookman Old Style" panose="02050604050505020204" pitchFamily="18" charset="0"/>
              </a:rPr>
              <a:t>,</a:t>
            </a:r>
            <a:r>
              <a:rPr lang="en-US" sz="2400" dirty="0">
                <a:latin typeface="Bookman Old Style" panose="02050604050505020204" pitchFamily="18" charset="0"/>
              </a:rPr>
              <a:t> </a:t>
            </a:r>
            <a:r>
              <a:rPr lang="en-US" sz="2400" dirty="0">
                <a:latin typeface="Bookman Old Style" panose="02050604050505020204" pitchFamily="18" charset="0"/>
                <a:hlinkClick r:id="rId8" tooltip="Windows 7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8" tooltip="Windows 7"/>
              </a:rPr>
              <a:t>7</a:t>
            </a:r>
            <a:r>
              <a:rPr lang="en-US" sz="2400" dirty="0" smtClean="0">
                <a:latin typeface="Bookman Old Style" panose="02050604050505020204" pitchFamily="18" charset="0"/>
              </a:rPr>
              <a:t>,</a:t>
            </a:r>
            <a:r>
              <a:rPr lang="en-US" sz="2400" dirty="0">
                <a:latin typeface="Bookman Old Style" panose="02050604050505020204" pitchFamily="18" charset="0"/>
              </a:rPr>
              <a:t> </a:t>
            </a:r>
            <a:r>
              <a:rPr lang="en-US" sz="2400" dirty="0">
                <a:latin typeface="Bookman Old Style" panose="02050604050505020204" pitchFamily="18" charset="0"/>
                <a:hlinkClick r:id="rId9" tooltip="Windows 8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9" tooltip="Windows 8"/>
              </a:rPr>
              <a:t>8</a:t>
            </a:r>
            <a:r>
              <a:rPr lang="ru-RU" sz="2400" dirty="0" smtClean="0">
                <a:latin typeface="Bookman Old Style" panose="02050604050505020204" pitchFamily="18" charset="0"/>
              </a:rPr>
              <a:t>,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en-US" sz="2400" dirty="0">
                <a:latin typeface="Bookman Old Style" panose="02050604050505020204" pitchFamily="18" charset="0"/>
                <a:hlinkClick r:id="rId10" tooltip="Windows 8.1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10" tooltip="Windows 8.1"/>
              </a:rPr>
              <a:t>8.1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и </a:t>
            </a:r>
            <a:r>
              <a:rPr lang="en-US" sz="2400" dirty="0">
                <a:latin typeface="Bookman Old Style" panose="02050604050505020204" pitchFamily="18" charset="0"/>
                <a:hlinkClick r:id="rId11" tooltip="Windows 10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11" tooltip="Windows 10"/>
              </a:rPr>
              <a:t>10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Год </a:t>
            </a:r>
            <a:r>
              <a:rPr lang="ru-RU" sz="2400" b="1" dirty="0">
                <a:latin typeface="Bookman Old Style" panose="02050604050505020204" pitchFamily="18" charset="0"/>
              </a:rPr>
              <a:t>рождения:</a:t>
            </a:r>
            <a:r>
              <a:rPr lang="ru-RU" sz="2400" dirty="0">
                <a:latin typeface="Bookman Old Style" panose="02050604050505020204" pitchFamily="18" charset="0"/>
              </a:rPr>
              <a:t> 2006 (.NET </a:t>
            </a:r>
            <a:r>
              <a:rPr lang="ru-RU" sz="2400" dirty="0" err="1">
                <a:latin typeface="Bookman Old Style" panose="02050604050505020204" pitchFamily="18" charset="0"/>
              </a:rPr>
              <a:t>Framework</a:t>
            </a:r>
            <a:r>
              <a:rPr lang="ru-RU" sz="2400" dirty="0">
                <a:latin typeface="Bookman Old Style" panose="02050604050505020204" pitchFamily="18" charset="0"/>
              </a:rPr>
              <a:t> 3.0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Философия: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 "Разделение ответственности". Внешний вид (XAML) отделен от логики (C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#).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Windows Presentation Foundation (WPF)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05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28986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В основе WPF лежит векторная система визуализации, не зависящая от разрешения устройства вывода и созданная с учётом возможностей современного графического оборудования. WPF предоставляет средства для создания визуального интерфейса, включая язык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3" tooltip="XAML"/>
              </a:rPr>
              <a:t>XAML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eXtensible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Application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Markup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Language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 элементы управления, привязку данных, макеты, двухмерную и трёхмерную графику, анимацию, стили, шаблоны, документы, текст, мультимедиа и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оформление.</a:t>
            </a: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3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Графической технологией, лежащей в основе WPF, является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4" tooltip="DirectX"/>
              </a:rPr>
              <a:t>DirectX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в отличие от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5" tooltip="Windows Forms"/>
              </a:rPr>
              <a:t>Windows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5" tooltip="Windows Forms"/>
              </a:rPr>
              <a:t> 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5" tooltip="Windows Forms"/>
              </a:rPr>
              <a:t>Forms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где используется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6" tooltip="GDI"/>
              </a:rPr>
              <a:t>GDI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/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7" tooltip="GDI+"/>
              </a:rPr>
              <a:t>GDI</a:t>
            </a:r>
            <a:r>
              <a:rPr lang="ru-RU" sz="2400" dirty="0" smtClean="0">
                <a:solidFill>
                  <a:srgbClr val="0645AD"/>
                </a:solidFill>
                <a:latin typeface="Bookman Old Style" panose="02050604050505020204" pitchFamily="18" charset="0"/>
                <a:hlinkClick r:id="rId7" tooltip="GDI+"/>
              </a:rPr>
              <a:t>+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Производительность WPF выше, чем у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7" tooltip="GDI+"/>
              </a:rPr>
              <a:t>GDI+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за счёт использования аппаратного ускорения графики через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4" tooltip="DirectX"/>
              </a:rPr>
              <a:t>DirectX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3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Также существует урезанная версия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8" tooltip="CLR"/>
              </a:rPr>
              <a:t>CLR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называющаяся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9" tooltip="WPF/E"/>
              </a:rPr>
              <a:t>WPF/E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она же известна как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10" tooltip="Silverlight"/>
              </a:rPr>
              <a:t>Silverlight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ru-RU" sz="2400" b="0" i="0" dirty="0">
              <a:solidFill>
                <a:srgbClr val="202122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434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3" tooltip="XAML"/>
              </a:rPr>
              <a:t>XAML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представляет собой язык декларативного описания интерфейса, основанный на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XML"/>
              </a:rPr>
              <a:t>XML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 Также реализована модель разделения кода и дизайна, позволяющая кооперироваться программисту и дизайнеру. Кроме того, есть встроенная поддержка стилей элементов, а сами элементы легко разделить на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5" tooltip="Элемент управления"/>
              </a:rPr>
              <a:t>элементы управления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второго уровня, которые, в свою очередь, разделяются до уровня векторных фигур и свойств/действий. Это позволяет легко задать стиль для любого элемента, например,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6"/>
              </a:rPr>
              <a:t>Button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(кнопка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).</a:t>
            </a:r>
            <a:endParaRPr lang="en-US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Orientation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Horizontal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&lt;Slider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x:Name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slider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Minimum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Maximum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Value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60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       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ElementName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=slider, Path=Value, Mode=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TwoWay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UpdateSourceTrigger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PropertyChanged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 smtClean="0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20850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Опубликован	</a:t>
            </a:r>
            <a:r>
              <a:rPr lang="ru-RU" sz="2400" b="1" dirty="0" smtClean="0">
                <a:latin typeface="Bookman Old Style" panose="02050604050505020204" pitchFamily="18" charset="0"/>
              </a:rPr>
              <a:t>в 1998 г.</a:t>
            </a: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XML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latin typeface="Bookman Old Style" panose="02050604050505020204" pitchFamily="18" charset="0"/>
              </a:rPr>
              <a:t>eXtensible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Markup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Language</a:t>
            </a:r>
            <a:r>
              <a:rPr lang="ru-RU" sz="2400" dirty="0">
                <a:latin typeface="Bookman Old Style" panose="02050604050505020204" pitchFamily="18" charset="0"/>
              </a:rPr>
              <a:t>) — это расширяемый язык разметки, предназначенный для хранения и передачи данных в структурированном, </a:t>
            </a:r>
            <a:r>
              <a:rPr lang="ru-RU" sz="2400" dirty="0" err="1">
                <a:latin typeface="Bookman Old Style" panose="02050604050505020204" pitchFamily="18" charset="0"/>
              </a:rPr>
              <a:t>человекочитаемом</a:t>
            </a:r>
            <a:r>
              <a:rPr lang="ru-RU" sz="2400" dirty="0">
                <a:latin typeface="Bookman Old Style" panose="02050604050505020204" pitchFamily="18" charset="0"/>
              </a:rPr>
              <a:t> текстовом формате</a:t>
            </a:r>
            <a:r>
              <a:rPr lang="ru-RU" sz="2400" dirty="0" smtClean="0">
                <a:solidFill>
                  <a:srgbClr val="001D35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1D35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Язык называется расширяемым, поскольку он не фиксирует разметку, используемую в документах: разработчик волен создать разметку в соответствии с потребностями к конкретной области, будучи ограниченным лишь синтаксическими правилами языка.</a:t>
            </a:r>
            <a:endParaRPr lang="en-US" sz="2400" dirty="0" smtClean="0">
              <a:solidFill>
                <a:srgbClr val="8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XML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5550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С физической точки зрения документ состоит из </a:t>
            </a:r>
            <a:r>
              <a:rPr lang="ru-RU" sz="2400" i="1" dirty="0">
                <a:solidFill>
                  <a:srgbClr val="0645AD"/>
                </a:solidFill>
                <a:latin typeface="Bookman Old Style" panose="02050604050505020204" pitchFamily="18" charset="0"/>
                <a:hlinkClick r:id="rId3" tooltip="Сущность (информатика)"/>
              </a:rPr>
              <a:t>сущностей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ru-RU" sz="2400" i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entities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 из которых каждая может ссылаться на другую сущность. Единственный </a:t>
            </a:r>
            <a:r>
              <a:rPr lang="ru-RU" sz="2400" b="1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корневой элемент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— </a:t>
            </a:r>
            <a:r>
              <a:rPr lang="ru-RU" sz="24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документная сущность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 Содержание сущностей — символы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С логической точки зрения документ состоит из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комментариев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comments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объявлений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declarations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элементов 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elements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ссылок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на сущности 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character references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и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инструкций обработки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processing instructions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).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Всё это в документе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структуризуется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разметкой 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markup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).</a:t>
            </a:r>
            <a:endParaRPr lang="en-US" sz="2400" dirty="0" smtClean="0">
              <a:solidFill>
                <a:srgbClr val="8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298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677662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Сущность</a:t>
            </a:r>
            <a:r>
              <a:rPr lang="ru-RU" sz="2400" dirty="0">
                <a:latin typeface="Bookman Old Style" panose="02050604050505020204" pitchFamily="18" charset="0"/>
              </a:rPr>
              <a:t> — мельчайшая часть в документе. Все сущности что-нибудь содержат, и у всех них есть имя (существуют исключения, напр. </a:t>
            </a:r>
            <a:r>
              <a:rPr lang="ru-RU" sz="2400" b="1" dirty="0">
                <a:latin typeface="Bookman Old Style" panose="02050604050505020204" pitchFamily="18" charset="0"/>
              </a:rPr>
              <a:t>документная сущность</a:t>
            </a:r>
            <a:r>
              <a:rPr lang="ru-RU" sz="2400" dirty="0">
                <a:latin typeface="Bookman Old Style" panose="02050604050505020204" pitchFamily="18" charset="0"/>
              </a:rPr>
              <a:t>).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Документ </a:t>
            </a:r>
            <a:r>
              <a:rPr lang="ru-RU" sz="2400" dirty="0">
                <a:latin typeface="Bookman Old Style" panose="02050604050505020204" pitchFamily="18" charset="0"/>
              </a:rPr>
              <a:t>состоит из сущностей, содержание которых — символы. Все символы разделены на два типа: символы </a:t>
            </a:r>
            <a:r>
              <a:rPr lang="ru-RU" sz="2400" dirty="0" smtClean="0">
                <a:latin typeface="Bookman Old Style" panose="02050604050505020204" pitchFamily="18" charset="0"/>
              </a:rPr>
              <a:t>данных </a:t>
            </a:r>
            <a:r>
              <a:rPr lang="ru-RU" sz="2400" dirty="0">
                <a:latin typeface="Bookman Old Style" panose="02050604050505020204" pitchFamily="18" charset="0"/>
              </a:rPr>
              <a:t>и символы разметки. К разметке относятся: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теги (</a:t>
            </a:r>
            <a:r>
              <a:rPr lang="ru-RU" sz="2400" dirty="0">
                <a:latin typeface="Bookman Old Style" panose="02050604050505020204" pitchFamily="18" charset="0"/>
                <a:hlinkClick r:id="rId3" tooltip="Английский язык"/>
              </a:rPr>
              <a:t>англ.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i="1" dirty="0" err="1">
                <a:latin typeface="Bookman Old Style" panose="02050604050505020204" pitchFamily="18" charset="0"/>
              </a:rPr>
              <a:t>tags</a:t>
            </a:r>
            <a:r>
              <a:rPr lang="ru-RU" sz="2400" dirty="0">
                <a:latin typeface="Bookman Old Style" panose="02050604050505020204" pitchFamily="18" charset="0"/>
              </a:rPr>
              <a:t>) - обозначают границы элементов;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объявления и инструкции обработки, включая их </a:t>
            </a:r>
            <a:r>
              <a:rPr lang="ru-RU" sz="2400" i="1" dirty="0">
                <a:latin typeface="Bookman Old Style" panose="02050604050505020204" pitchFamily="18" charset="0"/>
              </a:rPr>
              <a:t>атрибуты</a:t>
            </a:r>
            <a:r>
              <a:rPr lang="ru-RU" sz="2400" dirty="0"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latin typeface="Bookman Old Style" panose="02050604050505020204" pitchFamily="18" charset="0"/>
                <a:hlinkClick r:id="rId3" tooltip="Английский язык"/>
              </a:rPr>
              <a:t>англ.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i="1" dirty="0" err="1">
                <a:latin typeface="Bookman Old Style" panose="02050604050505020204" pitchFamily="18" charset="0"/>
              </a:rPr>
              <a:t>attributes</a:t>
            </a:r>
            <a:r>
              <a:rPr lang="ru-RU" sz="2400" dirty="0">
                <a:latin typeface="Bookman Old Style" panose="02050604050505020204" pitchFamily="18" charset="0"/>
              </a:rPr>
              <a:t>);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ссылки на сущности;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комментарии;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последовательности символов, обрамляющие секции «</a:t>
            </a:r>
            <a:r>
              <a:rPr lang="ru-RU" sz="2400" dirty="0">
                <a:latin typeface="Bookman Old Style" panose="02050604050505020204" pitchFamily="18" charset="0"/>
                <a:hlinkClick r:id="rId4" tooltip="CDATA"/>
              </a:rPr>
              <a:t>CDATA</a:t>
            </a:r>
            <a:r>
              <a:rPr lang="ru-RU" sz="2400" dirty="0">
                <a:latin typeface="Bookman Old Style" panose="02050604050505020204" pitchFamily="18" charset="0"/>
              </a:rPr>
              <a:t>».</a:t>
            </a:r>
          </a:p>
        </p:txBody>
      </p:sp>
    </p:spTree>
    <p:extLst>
      <p:ext uri="{BB962C8B-B14F-4D97-AF65-F5344CB8AC3E}">
        <p14:creationId xmlns:p14="http://schemas.microsoft.com/office/powerpoint/2010/main" val="1558049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438150"/>
            <a:ext cx="12192000" cy="1137684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XML каждый элемент должен быть заключен в теги. </a:t>
            </a:r>
            <a:r>
              <a:rPr lang="ru-RU" sz="2400" b="1" dirty="0">
                <a:latin typeface="Bookman Old Style" panose="02050604050505020204" pitchFamily="18" charset="0"/>
              </a:rPr>
              <a:t>Тег</a:t>
            </a:r>
            <a:r>
              <a:rPr lang="ru-RU" sz="2400" dirty="0">
                <a:latin typeface="Bookman Old Style" panose="02050604050505020204" pitchFamily="18" charset="0"/>
              </a:rPr>
              <a:t> — это некий текст, обернутый в угловые скобки:</a:t>
            </a:r>
          </a:p>
        </p:txBody>
      </p:sp>
      <p:pic>
        <p:nvPicPr>
          <p:cNvPr id="2050" name="Picture 2" descr="https://habrastorage.org/r/w1560/webt/r-/y_/tq/r-y_tqlxmqkkq_otfb2-gplu7n8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1764081"/>
            <a:ext cx="7181850" cy="4168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3332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390767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Все составляющие части документа обобщаются в </a:t>
            </a:r>
            <a:r>
              <a:rPr lang="ru-RU" sz="2400" i="1" dirty="0">
                <a:latin typeface="Bookman Old Style" panose="02050604050505020204" pitchFamily="18" charset="0"/>
              </a:rPr>
              <a:t>пролог</a:t>
            </a:r>
            <a:r>
              <a:rPr lang="ru-RU" sz="2400" dirty="0">
                <a:latin typeface="Bookman Old Style" panose="02050604050505020204" pitchFamily="18" charset="0"/>
              </a:rPr>
              <a:t> и </a:t>
            </a:r>
            <a:r>
              <a:rPr lang="ru-RU" sz="2400" b="1" dirty="0">
                <a:latin typeface="Bookman Old Style" panose="02050604050505020204" pitchFamily="18" charset="0"/>
              </a:rPr>
              <a:t>корневой элемент</a:t>
            </a:r>
            <a:r>
              <a:rPr lang="ru-RU" sz="2400" dirty="0">
                <a:latin typeface="Bookman Old Style" panose="02050604050505020204" pitchFamily="18" charset="0"/>
              </a:rPr>
              <a:t>. </a:t>
            </a:r>
            <a:r>
              <a:rPr lang="ru-RU" sz="2400" b="1" dirty="0">
                <a:latin typeface="Bookman Old Style" panose="02050604050505020204" pitchFamily="18" charset="0"/>
              </a:rPr>
              <a:t>Корневой элемент</a:t>
            </a:r>
            <a:r>
              <a:rPr lang="ru-RU" sz="2400" dirty="0">
                <a:latin typeface="Bookman Old Style" panose="02050604050505020204" pitchFamily="18" charset="0"/>
              </a:rPr>
              <a:t> — обязательная часть документа, составляющая всю его суть (пролог, вообще говоря, может отсутствовать). Корневой элемент может включать (а может не включать) вложенные в него элементы, символьные данные и комментарии. Вложенные в корневой элемент элементы, в свою очередь, могут включать вложенные в них элементы, символьные данные и комментарии, и так далее. </a:t>
            </a:r>
          </a:p>
        </p:txBody>
      </p:sp>
      <p:pic>
        <p:nvPicPr>
          <p:cNvPr id="5122" name="Picture 2" descr="https://habrastorage.org/r/w1560/webt/pv/cg/tx/pvcgtxsrt8o3-ewdeqbp77ogwi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3907673"/>
            <a:ext cx="5715000" cy="2971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58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Пролог</a:t>
            </a:r>
            <a:r>
              <a:rPr lang="ru-RU" sz="2400" dirty="0">
                <a:latin typeface="Bookman Old Style" panose="02050604050505020204" pitchFamily="18" charset="0"/>
              </a:rPr>
              <a:t> может включать </a:t>
            </a:r>
            <a:r>
              <a:rPr lang="ru-RU" sz="2400" b="1" dirty="0">
                <a:latin typeface="Bookman Old Style" panose="02050604050505020204" pitchFamily="18" charset="0"/>
              </a:rPr>
              <a:t>объявления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b="1" dirty="0">
                <a:latin typeface="Bookman Old Style" panose="02050604050505020204" pitchFamily="18" charset="0"/>
              </a:rPr>
              <a:t>инструкции обработки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b="1" dirty="0">
                <a:latin typeface="Bookman Old Style" panose="02050604050505020204" pitchFamily="18" charset="0"/>
              </a:rPr>
              <a:t>комментарии</a:t>
            </a:r>
            <a:r>
              <a:rPr lang="ru-RU" sz="2400" dirty="0">
                <a:latin typeface="Bookman Old Style" panose="02050604050505020204" pitchFamily="18" charset="0"/>
              </a:rPr>
              <a:t>. Его следует начинать с </a:t>
            </a:r>
            <a:r>
              <a:rPr lang="ru-RU" sz="2400" i="1" dirty="0">
                <a:latin typeface="Bookman Old Style" panose="02050604050505020204" pitchFamily="18" charset="0"/>
              </a:rPr>
              <a:t>объявления XML</a:t>
            </a:r>
            <a:r>
              <a:rPr lang="ru-RU" sz="2400" dirty="0">
                <a:latin typeface="Bookman Old Style" panose="02050604050505020204" pitchFamily="18" charset="0"/>
              </a:rPr>
              <a:t>, хотя в определённой ситуации допускается отсутствие этого объявления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9218" name="Picture 2" descr="XML: что это за формат и как он используется | Unisender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775" y="1943294"/>
            <a:ext cx="7388225" cy="491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Прямая со стрелкой 4"/>
          <p:cNvCxnSpPr/>
          <p:nvPr/>
        </p:nvCxnSpPr>
        <p:spPr>
          <a:xfrm flipV="1">
            <a:off x="1638300" y="2266950"/>
            <a:ext cx="2536825" cy="13525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2345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4462888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Элементы </a:t>
            </a:r>
            <a:r>
              <a:rPr lang="ru-RU" sz="2400" dirty="0">
                <a:latin typeface="Bookman Old Style" panose="02050604050505020204" pitchFamily="18" charset="0"/>
              </a:rPr>
              <a:t>документа должны быть </a:t>
            </a:r>
            <a:r>
              <a:rPr lang="ru-RU" sz="2400" i="1" dirty="0">
                <a:latin typeface="Bookman Old Style" panose="02050604050505020204" pitchFamily="18" charset="0"/>
              </a:rPr>
              <a:t>правильно вложены</a:t>
            </a:r>
            <a:r>
              <a:rPr lang="ru-RU" sz="2400" dirty="0">
                <a:latin typeface="Bookman Old Style" panose="02050604050505020204" pitchFamily="18" charset="0"/>
              </a:rPr>
              <a:t>: любой элемент, начинающийся внутри другого элемента (то есть любой элемент документа, кроме корневого), должен заканчиваться внутри элемента, в котором он начался. Символьные данные могут встречаться внутри элементов как непосредственно так и в специальных </a:t>
            </a:r>
            <a:r>
              <a:rPr lang="ru-RU" sz="2400" i="1" dirty="0">
                <a:latin typeface="Bookman Old Style" panose="02050604050505020204" pitchFamily="18" charset="0"/>
              </a:rPr>
              <a:t>секциях «CDATA»</a:t>
            </a:r>
            <a:r>
              <a:rPr lang="ru-RU" sz="2400" dirty="0">
                <a:latin typeface="Bookman Old Style" panose="02050604050505020204" pitchFamily="18" charset="0"/>
              </a:rPr>
              <a:t>. Объявления, инструкции обработки и элементы могут иметь связанные с ними атрибуты. Атрибуты используются для связывания с логической единицей текста пар </a:t>
            </a:r>
            <a:r>
              <a:rPr lang="ru-RU" sz="2400" i="1" dirty="0">
                <a:latin typeface="Bookman Old Style" panose="02050604050505020204" pitchFamily="18" charset="0"/>
              </a:rPr>
              <a:t>«</a:t>
            </a:r>
            <a:r>
              <a:rPr lang="ru-RU" sz="2400" dirty="0">
                <a:latin typeface="Bookman Old Style" panose="02050604050505020204" pitchFamily="18" charset="0"/>
              </a:rPr>
              <a:t>имя-значение</a:t>
            </a:r>
            <a:r>
              <a:rPr lang="ru-RU" sz="2400" i="1" dirty="0">
                <a:latin typeface="Bookman Old Style" panose="02050604050505020204" pitchFamily="18" charset="0"/>
              </a:rPr>
              <a:t>»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07899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https://habrastorage.org/r/w1560/webt/cp/ms/ln/cpmslnauu_14-kdbyvw7uw7dghe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3550" y="1513149"/>
            <a:ext cx="6648450" cy="4467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0" y="0"/>
            <a:ext cx="5810250" cy="655564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 fontAlgn="base"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Атрибуты. </a:t>
            </a:r>
            <a:r>
              <a:rPr lang="ru-RU" sz="2400" dirty="0">
                <a:latin typeface="Bookman Old Style" panose="02050604050505020204" pitchFamily="18" charset="0"/>
              </a:rPr>
              <a:t>Это дополнительные данные, которые можно добавить к элементам, чтобы более точно указать их характеристики. Они записываются внутри открывающего тега и позволяют добавлять дополнительную информацию без создания новых элементов. Например, в элементе</a:t>
            </a:r>
            <a:r>
              <a:rPr lang="ru-RU" sz="2400" b="1" dirty="0">
                <a:latin typeface="Bookman Old Style" panose="02050604050505020204" pitchFamily="18" charset="0"/>
              </a:rPr>
              <a:t> &lt;</a:t>
            </a:r>
            <a:r>
              <a:rPr lang="ru-RU" sz="2400" b="1" dirty="0" err="1">
                <a:latin typeface="Bookman Old Style" panose="02050604050505020204" pitchFamily="18" charset="0"/>
              </a:rPr>
              <a:t>book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genre</a:t>
            </a:r>
            <a:r>
              <a:rPr lang="ru-RU" sz="2400" b="1" dirty="0">
                <a:latin typeface="Bookman Old Style" panose="02050604050505020204" pitchFamily="18" charset="0"/>
              </a:rPr>
              <a:t>="учебник"&gt; </a:t>
            </a:r>
            <a:r>
              <a:rPr lang="ru-RU" sz="2400" dirty="0">
                <a:latin typeface="Bookman Old Style" panose="02050604050505020204" pitchFamily="18" charset="0"/>
              </a:rPr>
              <a:t>атрибут </a:t>
            </a:r>
            <a:r>
              <a:rPr lang="ru-RU" sz="2400" b="1" dirty="0" err="1">
                <a:latin typeface="Bookman Old Style" panose="02050604050505020204" pitchFamily="18" charset="0"/>
              </a:rPr>
              <a:t>genre</a:t>
            </a:r>
            <a:r>
              <a:rPr lang="ru-RU" sz="2400" dirty="0">
                <a:latin typeface="Bookman Old Style" panose="02050604050505020204" pitchFamily="18" charset="0"/>
              </a:rPr>
              <a:t> указывает на жанр книги, что помогает более точно описать её содержание.</a:t>
            </a:r>
          </a:p>
        </p:txBody>
      </p:sp>
    </p:spTree>
    <p:extLst>
      <p:ext uri="{BB962C8B-B14F-4D97-AF65-F5344CB8AC3E}">
        <p14:creationId xmlns:p14="http://schemas.microsoft.com/office/powerpoint/2010/main" val="1767550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Опубликован в 2001 г.</a:t>
            </a: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XSD</a:t>
            </a:r>
            <a:r>
              <a:rPr lang="ru-RU" sz="2400" dirty="0">
                <a:latin typeface="Bookman Old Style" panose="02050604050505020204" pitchFamily="18" charset="0"/>
              </a:rPr>
              <a:t> (</a:t>
            </a:r>
            <a:r>
              <a:rPr lang="ru-RU" sz="2400" b="1" dirty="0">
                <a:latin typeface="Bookman Old Style" panose="02050604050505020204" pitchFamily="18" charset="0"/>
              </a:rPr>
              <a:t>X</a:t>
            </a:r>
            <a:r>
              <a:rPr lang="ru-RU" sz="2400" dirty="0">
                <a:latin typeface="Bookman Old Style" panose="02050604050505020204" pitchFamily="18" charset="0"/>
              </a:rPr>
              <a:t>ML </a:t>
            </a:r>
            <a:r>
              <a:rPr lang="ru-RU" sz="2400" b="1" dirty="0" err="1">
                <a:latin typeface="Bookman Old Style" panose="02050604050505020204" pitchFamily="18" charset="0"/>
              </a:rPr>
              <a:t>S</a:t>
            </a:r>
            <a:r>
              <a:rPr lang="ru-RU" sz="2400" dirty="0" err="1">
                <a:latin typeface="Bookman Old Style" panose="02050604050505020204" pitchFamily="18" charset="0"/>
              </a:rPr>
              <a:t>chema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b="1" dirty="0" err="1">
                <a:latin typeface="Bookman Old Style" panose="02050604050505020204" pitchFamily="18" charset="0"/>
              </a:rPr>
              <a:t>D</a:t>
            </a:r>
            <a:r>
              <a:rPr lang="ru-RU" sz="2400" dirty="0" err="1">
                <a:latin typeface="Bookman Old Style" panose="02050604050505020204" pitchFamily="18" charset="0"/>
              </a:rPr>
              <a:t>efinition</a:t>
            </a:r>
            <a:r>
              <a:rPr lang="ru-RU" sz="2400" dirty="0">
                <a:latin typeface="Bookman Old Style" panose="02050604050505020204" pitchFamily="18" charset="0"/>
              </a:rPr>
              <a:t>) — это описание </a:t>
            </a:r>
            <a:r>
              <a:rPr lang="ru-RU" sz="2400" dirty="0" smtClean="0">
                <a:latin typeface="Bookman Old Style" panose="02050604050505020204" pitchFamily="18" charset="0"/>
              </a:rPr>
              <a:t>XML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как </a:t>
            </a:r>
            <a:r>
              <a:rPr lang="ru-RU" sz="2400" dirty="0">
                <a:latin typeface="Bookman Old Style" panose="02050604050505020204" pitchFamily="18" charset="0"/>
              </a:rPr>
              <a:t>он должен выглядеть, что в нем должно </a:t>
            </a:r>
            <a:r>
              <a:rPr lang="ru-RU" sz="2400" dirty="0" smtClean="0">
                <a:latin typeface="Bookman Old Style" panose="02050604050505020204" pitchFamily="18" charset="0"/>
              </a:rPr>
              <a:t>быть.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doRegister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xs:complexType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xs:sequence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email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xs:string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xs:string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password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xs:string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xs:sequence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xs:complexType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XSD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208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4363650"/>
            <a:ext cx="12192000" cy="1754326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Проект состоит из: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Файла окна приложения –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MainWindow.xaml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FontTx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Файл логики кода окна приложения - </a:t>
            </a:r>
            <a:r>
              <a:rPr lang="ru-RU" sz="2400" b="1" dirty="0" err="1">
                <a:latin typeface="Bookman Old Style" panose="02050604050505020204" pitchFamily="18" charset="0"/>
              </a:rPr>
              <a:t>MainWindow.xaml.cs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Программа на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C# WPF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4742"/>
            <a:ext cx="6925584" cy="1917507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40" y="844742"/>
            <a:ext cx="5017703" cy="351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48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4310"/>
          <a:stretch/>
        </p:blipFill>
        <p:spPr>
          <a:xfrm>
            <a:off x="553910" y="0"/>
            <a:ext cx="11084179" cy="6705600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209550" y="285750"/>
            <a:ext cx="11982450" cy="2862322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Файла окна приложения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MainWindow.xaml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Здесь у нас сначала определен элемент верхнего уровня </a:t>
            </a:r>
            <a:r>
              <a:rPr lang="ru-RU" sz="2400" dirty="0" err="1">
                <a:latin typeface="Bookman Old Style" panose="02050604050505020204" pitchFamily="18" charset="0"/>
              </a:rPr>
              <a:t>Window</a:t>
            </a:r>
            <a:r>
              <a:rPr lang="ru-RU" sz="2400" dirty="0">
                <a:latin typeface="Bookman Old Style" panose="02050604050505020204" pitchFamily="18" charset="0"/>
              </a:rPr>
              <a:t> - окно приложения, в нем определен элемент </a:t>
            </a:r>
            <a:r>
              <a:rPr lang="ru-RU" sz="2400" dirty="0" err="1">
                <a:latin typeface="Bookman Old Style" panose="02050604050505020204" pitchFamily="18" charset="0"/>
              </a:rPr>
              <a:t>Grid</a:t>
            </a:r>
            <a:r>
              <a:rPr lang="ru-RU" sz="2400" dirty="0">
                <a:latin typeface="Bookman Old Style" panose="02050604050505020204" pitchFamily="18" charset="0"/>
              </a:rPr>
              <a:t> - контейнер верхнего уровня, в который мы можем добавлять другие элементы.</a:t>
            </a: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508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945" y="96129"/>
            <a:ext cx="9915244" cy="676187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943100" y="515229"/>
            <a:ext cx="8567192" cy="120032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ru-RU" sz="2400" dirty="0">
                <a:latin typeface="Bookman Old Style" panose="02050604050505020204" pitchFamily="18" charset="0"/>
              </a:rPr>
              <a:t>определения кнопки внутри элемента </a:t>
            </a:r>
            <a:r>
              <a:rPr lang="ru-RU" sz="2400" dirty="0" err="1">
                <a:latin typeface="Bookman Old Style" panose="02050604050505020204" pitchFamily="18" charset="0"/>
              </a:rPr>
              <a:t>Grid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добавим элемент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b="1" dirty="0" err="1">
                <a:latin typeface="Bookman Old Style" panose="02050604050505020204" pitchFamily="18" charset="0"/>
              </a:rPr>
              <a:t>Button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3729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92497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Здесь добавлен метод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Button_Click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, который будет выступать в качестве обработчика нажатия кнопки.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Ообработчики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 нажатия кнопки должны принимать два параметра типов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object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RoutedEventArgs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. В самом обработчике вызывается метод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MessageBox.Show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, который отображает окно с сообщением. Отображаемое сообщение передается в качестве параметра.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InitializeComponent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Button_Click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sender,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RoutedEventArgs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MessageBox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.Show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"WPF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METANIT.COM"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7495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Паттерн </a:t>
            </a:r>
            <a:r>
              <a:rPr lang="ru-RU" sz="2400" b="1" dirty="0">
                <a:latin typeface="Bookman Old Style" panose="02050604050505020204" pitchFamily="18" charset="0"/>
              </a:rPr>
              <a:t>MVVM (</a:t>
            </a:r>
            <a:r>
              <a:rPr lang="ru-RU" sz="2400" b="1" dirty="0" err="1">
                <a:latin typeface="Bookman Old Style" panose="02050604050505020204" pitchFamily="18" charset="0"/>
              </a:rPr>
              <a:t>Model-View-ViewModel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позволяет отделить логику приложения от визуальной части (представления). Данный паттерн является архитектурным, то есть он задает общую архитектуру приложения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Данный паттерн был представлен </a:t>
            </a:r>
            <a:r>
              <a:rPr lang="ru-RU" sz="2400" dirty="0">
                <a:latin typeface="Bookman Old Style" panose="02050604050505020204" pitchFamily="18" charset="0"/>
                <a:hlinkClick r:id="rId3"/>
              </a:rPr>
              <a:t>Джоном </a:t>
            </a:r>
            <a:r>
              <a:rPr lang="ru-RU" sz="2400" dirty="0" err="1">
                <a:latin typeface="Bookman Old Style" panose="02050604050505020204" pitchFamily="18" charset="0"/>
                <a:hlinkClick r:id="rId3"/>
              </a:rPr>
              <a:t>Госсманом</a:t>
            </a:r>
            <a:r>
              <a:rPr lang="ru-RU" sz="2400" dirty="0">
                <a:latin typeface="Bookman Old Style" panose="02050604050505020204" pitchFamily="18" charset="0"/>
              </a:rPr>
              <a:t> (</a:t>
            </a:r>
            <a:r>
              <a:rPr lang="ru-RU" sz="2400" dirty="0" err="1">
                <a:latin typeface="Bookman Old Style" panose="02050604050505020204" pitchFamily="18" charset="0"/>
              </a:rPr>
              <a:t>John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Gossman</a:t>
            </a:r>
            <a:r>
              <a:rPr lang="ru-RU" sz="2400" dirty="0">
                <a:latin typeface="Bookman Old Style" panose="02050604050505020204" pitchFamily="18" charset="0"/>
              </a:rPr>
              <a:t>) в 2005 году как модификация шаблона </a:t>
            </a:r>
            <a:r>
              <a:rPr lang="ru-RU" sz="2400" dirty="0" err="1">
                <a:latin typeface="Bookman Old Style" panose="02050604050505020204" pitchFamily="18" charset="0"/>
              </a:rPr>
              <a:t>Presentation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Model</a:t>
            </a:r>
            <a:r>
              <a:rPr lang="ru-RU" sz="2400" dirty="0">
                <a:latin typeface="Bookman Old Style" panose="02050604050505020204" pitchFamily="18" charset="0"/>
              </a:rPr>
              <a:t> и был первоначально нацелен на разработку приложений в WPF. И хотя сейчас данный паттерн вышел за пределы WPF и применяется в самых различных технологиях, в том числе при разработке под </a:t>
            </a:r>
            <a:r>
              <a:rPr lang="ru-RU" sz="2400" dirty="0" err="1">
                <a:latin typeface="Bookman Old Style" panose="02050604050505020204" pitchFamily="18" charset="0"/>
              </a:rPr>
              <a:t>Android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</a:rPr>
              <a:t>iOS</a:t>
            </a:r>
            <a:r>
              <a:rPr lang="ru-RU" sz="2400" dirty="0">
                <a:latin typeface="Bookman Old Style" panose="02050604050505020204" pitchFamily="18" charset="0"/>
              </a:rPr>
              <a:t>, тем не менее WPF является довольно показательной технологией, которая раскрывает возможности данного паттерна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WPF </a:t>
            </a:r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и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MVVM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5820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292100"/>
            <a:ext cx="12192000" cy="1137684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MVVM состоит из трех компонентов: модели (</a:t>
            </a:r>
            <a:r>
              <a:rPr lang="ru-RU" sz="2400" dirty="0" err="1">
                <a:latin typeface="Bookman Old Style" panose="02050604050505020204" pitchFamily="18" charset="0"/>
              </a:rPr>
              <a:t>Model</a:t>
            </a:r>
            <a:r>
              <a:rPr lang="ru-RU" sz="2400" dirty="0">
                <a:latin typeface="Bookman Old Style" panose="02050604050505020204" pitchFamily="18" charset="0"/>
              </a:rPr>
              <a:t>), модели представления (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) и представления (</a:t>
            </a:r>
            <a:r>
              <a:rPr lang="ru-RU" sz="2400" dirty="0" err="1"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latin typeface="Bookman Old Style" panose="02050604050505020204" pitchFamily="18" charset="0"/>
              </a:rPr>
              <a:t>).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7284"/>
            <a:ext cx="12192000" cy="238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166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Модель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описывает используемые в приложении данные. Модели могут содержать логику, непосредственно связанную этими данными, например, логику </a:t>
            </a:r>
            <a:r>
              <a:rPr lang="ru-RU" sz="2400" dirty="0" err="1">
                <a:latin typeface="Bookman Old Style" panose="02050604050505020204" pitchFamily="18" charset="0"/>
              </a:rPr>
              <a:t>валидации</a:t>
            </a:r>
            <a:r>
              <a:rPr lang="ru-RU" sz="2400" dirty="0">
                <a:latin typeface="Bookman Old Style" panose="02050604050505020204" pitchFamily="18" charset="0"/>
              </a:rPr>
              <a:t> свойств модели. В то же время модель не должна содержать никакой логики, связанной с отображением данных и взаимодействием с визуальными элементами управления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Нередко модель реализует интерфейсы </a:t>
            </a:r>
            <a:r>
              <a:rPr lang="ru-RU" sz="2400" b="1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dirty="0">
                <a:latin typeface="Bookman Old Style" panose="02050604050505020204" pitchFamily="18" charset="0"/>
              </a:rPr>
              <a:t> или </a:t>
            </a:r>
            <a:r>
              <a:rPr lang="ru-RU" sz="2400" b="1" dirty="0" err="1">
                <a:latin typeface="Bookman Old Style" panose="02050604050505020204" pitchFamily="18" charset="0"/>
              </a:rPr>
              <a:t>INotifyCollectionChanged</a:t>
            </a:r>
            <a:r>
              <a:rPr lang="ru-RU" sz="2400" dirty="0">
                <a:latin typeface="Bookman Old Style" panose="02050604050505020204" pitchFamily="18" charset="0"/>
              </a:rPr>
              <a:t>, которые позволяют уведомлять систему об изменениях свойств модели. Благодаря этому облегчается привязка к представлению, хотя опять же прямое взаимодействие между моделью и представлением отсутствует.</a:t>
            </a:r>
          </a:p>
        </p:txBody>
      </p:sp>
    </p:spTree>
    <p:extLst>
      <p:ext uri="{BB962C8B-B14F-4D97-AF65-F5344CB8AC3E}">
        <p14:creationId xmlns:p14="http://schemas.microsoft.com/office/powerpoint/2010/main" val="89780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View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или представление определяет визуальный интерфейс, через который пользователь взаимодействует с приложением. Применительно к WPF представление - это код в </a:t>
            </a:r>
            <a:r>
              <a:rPr lang="ru-RU" sz="2400" dirty="0" err="1">
                <a:latin typeface="Bookman Old Style" panose="02050604050505020204" pitchFamily="18" charset="0"/>
              </a:rPr>
              <a:t>xaml</a:t>
            </a:r>
            <a:r>
              <a:rPr lang="ru-RU" sz="2400" dirty="0">
                <a:latin typeface="Bookman Old Style" panose="02050604050505020204" pitchFamily="18" charset="0"/>
              </a:rPr>
              <a:t>, который определяет интерфейс в виде кнопок, текстовых полей и прочих визуальных элементов.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Хотя окно (класс </a:t>
            </a:r>
            <a:r>
              <a:rPr lang="ru-RU" sz="2400" dirty="0" err="1">
                <a:latin typeface="Bookman Old Style" panose="02050604050505020204" pitchFamily="18" charset="0"/>
              </a:rPr>
              <a:t>Window</a:t>
            </a:r>
            <a:r>
              <a:rPr lang="ru-RU" sz="2400" dirty="0">
                <a:latin typeface="Bookman Old Style" panose="02050604050505020204" pitchFamily="18" charset="0"/>
              </a:rPr>
              <a:t>) в WPF может содержать как интерфейс в </a:t>
            </a:r>
            <a:r>
              <a:rPr lang="ru-RU" sz="2400" dirty="0" err="1">
                <a:latin typeface="Bookman Old Style" panose="02050604050505020204" pitchFamily="18" charset="0"/>
              </a:rPr>
              <a:t>xaml</a:t>
            </a:r>
            <a:r>
              <a:rPr lang="ru-RU" sz="2400" dirty="0">
                <a:latin typeface="Bookman Old Style" panose="02050604050505020204" pitchFamily="18" charset="0"/>
              </a:rPr>
              <a:t>, так и привязанный к нему код C#, однако в идеале код C# не должен содержать какой-то логики, кроме разве что конструктора, который вызывает метод </a:t>
            </a:r>
            <a:r>
              <a:rPr lang="ru-RU" sz="2400" dirty="0" err="1">
                <a:latin typeface="Bookman Old Style" panose="02050604050505020204" pitchFamily="18" charset="0"/>
              </a:rPr>
              <a:t>InitializeComponent</a:t>
            </a:r>
            <a:r>
              <a:rPr lang="ru-RU" sz="2400" dirty="0">
                <a:latin typeface="Bookman Old Style" panose="02050604050505020204" pitchFamily="18" charset="0"/>
              </a:rPr>
              <a:t> и выполняет начальную инициализацию окна. Вся же основная логика приложения выносится в компонент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 </a:t>
            </a:r>
            <a:r>
              <a:rPr lang="ru-RU" sz="2400" dirty="0">
                <a:latin typeface="Bookman Old Style" panose="02050604050505020204" pitchFamily="18" charset="0"/>
              </a:rPr>
              <a:t>обрабатывает события за редким исключением, а выполняет действия в основном посредством команд.</a:t>
            </a:r>
          </a:p>
        </p:txBody>
      </p:sp>
    </p:spTree>
    <p:extLst>
      <p:ext uri="{BB962C8B-B14F-4D97-AF65-F5344CB8AC3E}">
        <p14:creationId xmlns:p14="http://schemas.microsoft.com/office/powerpoint/2010/main" val="2285632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ViewModel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или модель представления связывает модель и представление через механизм привязки данных. Если в модели изменяются значения свойств, при реализации моделью интерфейса </a:t>
            </a:r>
            <a:r>
              <a:rPr lang="ru-RU" sz="2400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dirty="0">
                <a:latin typeface="Bookman Old Style" panose="02050604050505020204" pitchFamily="18" charset="0"/>
              </a:rPr>
              <a:t> автоматически идет изменение отображаемых данных в представлении, хотя напрямую модель и представление не связаны.</a:t>
            </a:r>
          </a:p>
          <a:p>
            <a:pPr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также содержит логику по получению данных из модели, которые потом передаются в представление. И также </a:t>
            </a:r>
            <a:r>
              <a:rPr lang="ru-RU" sz="2400" dirty="0" err="1">
                <a:latin typeface="Bookman Old Style" panose="02050604050505020204" pitchFamily="18" charset="0"/>
              </a:rPr>
              <a:t>VewModel</a:t>
            </a:r>
            <a:r>
              <a:rPr lang="ru-RU" sz="2400" dirty="0">
                <a:latin typeface="Bookman Old Style" panose="02050604050505020204" pitchFamily="18" charset="0"/>
              </a:rPr>
              <a:t> определяет логику по обновлению данных в модели.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Поскольку элементы представления, то есть визуальные компоненты типа кнопок, не используют события, то представление взаимодействует с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посредством команд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298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Например</a:t>
            </a:r>
            <a:r>
              <a:rPr lang="ru-RU" sz="2400" dirty="0">
                <a:latin typeface="Bookman Old Style" panose="02050604050505020204" pitchFamily="18" charset="0"/>
              </a:rPr>
              <a:t>, пользователь хочет сохранить введенные в текстовое поле данные. Он нажимает на кнопку и тем самым отправляет команду во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. А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уже получает переданные данные и в соответствии с ними обновляет модель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Итогом</a:t>
            </a:r>
            <a:r>
              <a:rPr lang="ru-RU" sz="2400" dirty="0">
                <a:latin typeface="Bookman Old Style" panose="02050604050505020204" pitchFamily="18" charset="0"/>
              </a:rPr>
              <a:t> применения паттерна MVVM является функциональное разделение приложения на три компонента, которые проще разрабатывать и тестировать, а также в дальнейшем модифицировать и поддерживать.</a:t>
            </a:r>
          </a:p>
        </p:txBody>
      </p:sp>
    </p:spTree>
    <p:extLst>
      <p:ext uri="{BB962C8B-B14F-4D97-AF65-F5344CB8AC3E}">
        <p14:creationId xmlns:p14="http://schemas.microsoft.com/office/powerpoint/2010/main" val="3009652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452431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sz="2400" dirty="0" err="1" smtClean="0">
                <a:latin typeface="Bookman Old Style" panose="02050604050505020204" pitchFamily="18" charset="0"/>
              </a:rPr>
              <a:t>MainViewModel.cs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ru-RU" sz="2400" dirty="0">
                <a:latin typeface="Bookman Old Style" panose="02050604050505020204" pitchFamily="18" charset="0"/>
              </a:rPr>
              <a:t>вся логика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System.ComponentModel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System.Windows.Input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WpfApp1;</a:t>
            </a:r>
          </a:p>
          <a:p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INotifyPropertyChanged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Содержимое далее</a:t>
            </a:r>
            <a:endParaRPr lang="en-US" sz="2400" dirty="0" smtClean="0">
              <a:solidFill>
                <a:srgbClr val="00B05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Программа на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WPF + MVVM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2389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489364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_text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Привет!"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 = 0;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Text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_text;</a:t>
            </a: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_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nameof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981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_count;</a:t>
            </a: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_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nameof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(Count));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nameof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DisplayText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Автоматическое обновление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Нажато: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раз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ClickCommand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(() =&gt; Count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++);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PropertyChangedEventHandler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protected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name) =&gt;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?.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Invoke(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PropertyChangedEventArgs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(name));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242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Вспомогательный класс: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System.Windows.Input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WpfApp1;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_execute;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execute) =&gt; _execute = execute;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parameter) =&gt;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Execute(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parameter) =&gt; _execute();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88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41714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2</a:t>
            </a:r>
            <a:r>
              <a:rPr lang="ru-RU" sz="2400" dirty="0">
                <a:latin typeface="Bookman Old Style" panose="02050604050505020204" pitchFamily="18" charset="0"/>
              </a:rPr>
              <a:t>. </a:t>
            </a:r>
            <a:r>
              <a:rPr lang="en-US" sz="2400" dirty="0" err="1">
                <a:latin typeface="Bookman Old Style" panose="02050604050505020204" pitchFamily="18" charset="0"/>
              </a:rPr>
              <a:t>MainWindow.xaml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(XAML) - красивый </a:t>
            </a:r>
            <a:r>
              <a:rPr lang="ru-RU" sz="2400" dirty="0" smtClean="0">
                <a:latin typeface="Bookman Old Style" panose="02050604050505020204" pitchFamily="18" charset="0"/>
              </a:rPr>
              <a:t>интерфейс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Вспомогательные настройки:</a:t>
            </a: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endParaRPr lang="ru-RU" sz="2400" dirty="0" smtClean="0">
              <a:solidFill>
                <a:srgbClr val="FF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3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3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WpfApp1.MainWindow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ru-RU" sz="23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=http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://</a:t>
            </a:r>
            <a:r>
              <a:rPr lang="en-US" sz="23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schemas.microsoft.com/winfx/2006/xaml/presentation</a:t>
            </a:r>
            <a:endParaRPr lang="ru-RU" sz="23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="http://schemas.microsoft.com/</a:t>
            </a:r>
            <a:r>
              <a:rPr lang="en-US" sz="23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winfx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/2006/</a:t>
            </a:r>
            <a:r>
              <a:rPr lang="en-US" sz="23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xaml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="http://schemas.microsoft.com/expression/blend/2008"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mc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="http://schemas.openxmlformats.org/markup-compatibility/2006"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local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="clr-namespace:WpfApp1"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mc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Ignorable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="d"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="WPF MVVM"</a:t>
            </a:r>
            <a:r>
              <a:rPr lang="en-US" sz="23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Height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="200"</a:t>
            </a:r>
            <a:r>
              <a:rPr lang="en-US" sz="23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Width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="300"&gt;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Содержимое </a:t>
            </a:r>
            <a:r>
              <a:rPr lang="ru-RU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далее --&gt;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latin typeface="Bookman Old Style" panose="02050604050505020204" pitchFamily="18" charset="0"/>
              </a:rPr>
              <a:t>Важно чтобы совпадало название класса (</a:t>
            </a:r>
            <a:r>
              <a:rPr lang="en-US" sz="2400" dirty="0" err="1">
                <a:latin typeface="Bookman Old Style" panose="02050604050505020204" pitchFamily="18" charset="0"/>
              </a:rPr>
              <a:t>MainWindow</a:t>
            </a:r>
            <a:r>
              <a:rPr lang="ru-RU" sz="2400" dirty="0">
                <a:latin typeface="Bookman Old Style" panose="02050604050505020204" pitchFamily="18" charset="0"/>
              </a:rPr>
              <a:t>)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3051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endParaRPr lang="ru-RU" sz="2400" dirty="0" smtClean="0">
              <a:solidFill>
                <a:srgbClr val="FF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VerticalAlignment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="Center"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HorizontalAlignment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="Center"&gt;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&lt;!--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Текстовое поле СРАЗУ связано со свойством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Text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ru-RU" sz="2400" dirty="0" smtClean="0">
              <a:solidFill>
                <a:srgbClr val="FF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 </a:t>
            </a:r>
            <a:r>
              <a:rPr lang="en-US" sz="24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UpdateSourceTrigger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FontSize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="14"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Width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="150"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Margin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="5"/&gt;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&lt;!--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Отображаем вычисляемое свойство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TextBlock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Text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DisplayText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 	 </a:t>
            </a:r>
            <a:r>
              <a:rPr lang="en-US" sz="24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FontSize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="16"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FontWeight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Bold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Foreground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="Blue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 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Margin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="5"/&gt;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&lt;!-- Кнопка вызывает команду --&gt;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Content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Нажми меня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ru-RU" sz="2400" dirty="0" smtClean="0">
              <a:solidFill>
                <a:srgbClr val="FF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Command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ClickCommand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LightGreen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Padding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="10,5"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Margin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="5"/&gt;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649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26297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Осталось только привязать контекст данных:</a:t>
            </a: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System.Windows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WpfApp1;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InitializeComponent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DataContext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338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8342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В дизайнере:											Результат: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67" y="583429"/>
            <a:ext cx="5955333" cy="3965998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666" y="583429"/>
            <a:ext cx="5877073" cy="396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161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15177</TotalTime>
  <Words>908</Words>
  <Application>Microsoft Office PowerPoint</Application>
  <PresentationFormat>Широкоэкранный</PresentationFormat>
  <Paragraphs>240</Paragraphs>
  <Slides>34</Slides>
  <Notes>34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42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3 семестр Лекция 8.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m10</cp:lastModifiedBy>
  <cp:revision>968</cp:revision>
  <dcterms:modified xsi:type="dcterms:W3CDTF">2025-10-29T05:35:05Z</dcterms:modified>
</cp:coreProperties>
</file>