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24"/>
  </p:notesMasterIdLst>
  <p:sldIdLst>
    <p:sldId id="273" r:id="rId2"/>
    <p:sldId id="969" r:id="rId3"/>
    <p:sldId id="1092" r:id="rId4"/>
    <p:sldId id="995" r:id="rId5"/>
    <p:sldId id="1108" r:id="rId6"/>
    <p:sldId id="1098" r:id="rId7"/>
    <p:sldId id="1099" r:id="rId8"/>
    <p:sldId id="1109" r:id="rId9"/>
    <p:sldId id="1094" r:id="rId10"/>
    <p:sldId id="1095" r:id="rId11"/>
    <p:sldId id="1096" r:id="rId12"/>
    <p:sldId id="1100" r:id="rId13"/>
    <p:sldId id="1110" r:id="rId14"/>
    <p:sldId id="1101" r:id="rId15"/>
    <p:sldId id="1102" r:id="rId16"/>
    <p:sldId id="1103" r:id="rId17"/>
    <p:sldId id="1104" r:id="rId18"/>
    <p:sldId id="1105" r:id="rId19"/>
    <p:sldId id="1111" r:id="rId20"/>
    <p:sldId id="1112" r:id="rId21"/>
    <p:sldId id="1113" r:id="rId22"/>
    <p:sldId id="1114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96" autoAdjust="0"/>
    <p:restoredTop sz="95343" autoAdjust="0"/>
  </p:normalViewPr>
  <p:slideViewPr>
    <p:cSldViewPr snapToGrid="0">
      <p:cViewPr>
        <p:scale>
          <a:sx n="66" d="100"/>
          <a:sy n="66" d="100"/>
        </p:scale>
        <p:origin x="2280" y="111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9/29/2025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65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880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659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243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6133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9704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6858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948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3651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210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9387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7084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5816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0595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510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3609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1401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6366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0809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2880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876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Информационные технологии</a:t>
            </a:r>
            <a:br>
              <a:rPr lang="ru-RU" sz="4800" b="1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</a:br>
            <a:r>
              <a:rPr lang="ru-RU" sz="4800" b="1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xmlns="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2" y="2490651"/>
            <a:ext cx="10670534" cy="2000203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3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6. Регулярные выражения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F7B00361-5492-4290-B470-295172C16526}"/>
              </a:ext>
            </a:extLst>
          </p:cNvPr>
          <p:cNvSpPr txBox="1"/>
          <p:nvPr/>
        </p:nvSpPr>
        <p:spPr>
          <a:xfrm>
            <a:off x="877031" y="4490853"/>
            <a:ext cx="1104134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Класс 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Regex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Проверка соответствия шаблону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Замена символов по шаблону</a:t>
            </a:r>
            <a:endParaRPr lang="ru-RU" sz="28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Регулярные выражения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Регулярные выражения </a:t>
            </a:r>
            <a:r>
              <a:rPr lang="ru-RU" sz="2400" dirty="0">
                <a:latin typeface="Bookman Old Style" panose="02050604050505020204" pitchFamily="18" charset="0"/>
              </a:rPr>
              <a:t>представляют эффективный и гибкий метод по обработке больших текстов, позволяя в то же время существенно уменьшить объемы кода по сравнению с использованием стандартных операций со строками</a:t>
            </a:r>
            <a:r>
              <a:rPr lang="ru-RU" sz="2400" dirty="0" smtClean="0">
                <a:latin typeface="Bookman Old Style" panose="02050604050505020204" pitchFamily="18" charset="0"/>
              </a:rPr>
              <a:t>. Основная </a:t>
            </a:r>
            <a:r>
              <a:rPr lang="ru-RU" sz="2400" dirty="0">
                <a:latin typeface="Bookman Old Style" panose="02050604050505020204" pitchFamily="18" charset="0"/>
              </a:rPr>
              <a:t>функциональность регулярных выражений в .NET сосредоточена в пространстве имен </a:t>
            </a:r>
            <a:r>
              <a:rPr lang="ru-RU" sz="2400" b="1" dirty="0" err="1">
                <a:latin typeface="Bookman Old Style" panose="02050604050505020204" pitchFamily="18" charset="0"/>
              </a:rPr>
              <a:t>System.Text.RegularExpressions</a:t>
            </a:r>
            <a:r>
              <a:rPr lang="ru-RU" sz="2400" dirty="0">
                <a:latin typeface="Bookman Old Style" panose="02050604050505020204" pitchFamily="18" charset="0"/>
              </a:rPr>
              <a:t>. А центральным классом при работе с регулярными выражениями является класс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Regex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Стоит отметить, что регулярные выражения есть и в других языках программирования, например, </a:t>
            </a:r>
            <a:r>
              <a:rPr lang="en-US" sz="2400" dirty="0" smtClean="0">
                <a:latin typeface="Bookman Old Style" panose="02050604050505020204" pitchFamily="18" charset="0"/>
              </a:rPr>
              <a:t>Python</a:t>
            </a:r>
            <a:r>
              <a:rPr lang="ru-RU" sz="2400" dirty="0" smtClean="0">
                <a:latin typeface="Bookman Old Style" panose="02050604050505020204" pitchFamily="18" charset="0"/>
              </a:rPr>
              <a:t>, причем синтаксис самих выражений полностью совпадает.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555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92497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Например, у нас есть некоторый текст и нам надо найти в нем все словоформы какого-нибудь слова. С классом </a:t>
            </a:r>
            <a:r>
              <a:rPr lang="ru-RU" sz="2400" dirty="0" err="1">
                <a:latin typeface="Bookman Old Style" panose="02050604050505020204" pitchFamily="18" charset="0"/>
              </a:rPr>
              <a:t>Regex</a:t>
            </a:r>
            <a:r>
              <a:rPr lang="ru-RU" sz="2400" dirty="0">
                <a:latin typeface="Bookman Old Style" panose="02050604050505020204" pitchFamily="18" charset="0"/>
              </a:rPr>
              <a:t> это сделать очень просто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/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System.Text.RegularExpressions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str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"Бык </a:t>
            </a:r>
            <a:r>
              <a:rPr lang="ru-RU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тупогуб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, </a:t>
            </a:r>
            <a:r>
              <a:rPr lang="ru-RU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тупогубенький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бычок, у быка губа бела была тупа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//Задаем шаблон:</a:t>
            </a:r>
            <a:endParaRPr lang="ru-RU" sz="2400" dirty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regex = 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Regex(</a:t>
            </a:r>
            <a:r>
              <a:rPr lang="nn-NO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@"туп\w</a:t>
            </a:r>
            <a:r>
              <a:rPr lang="nn-NO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*"</a:t>
            </a:r>
            <a:r>
              <a:rPr lang="nn-NO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nn-NO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matches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regex.Matches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matches.Count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&gt; 0)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(Match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match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matches)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match.Value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else</a:t>
            </a:r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Совпадений не найдено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3633" y="3168965"/>
            <a:ext cx="3936195" cy="1785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994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Разберем шаблон </a:t>
            </a:r>
            <a:r>
              <a:rPr lang="ru-RU" sz="2400" dirty="0" smtClean="0">
                <a:latin typeface="Bookman Old Style" panose="02050604050505020204" pitchFamily="18" charset="0"/>
              </a:rPr>
              <a:t>подробнее:</a:t>
            </a:r>
          </a:p>
          <a:p>
            <a:pPr algn="just"/>
            <a:endParaRPr lang="ru-RU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str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"Бык </a:t>
            </a:r>
            <a:r>
              <a:rPr lang="ru-RU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тупогуб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, </a:t>
            </a:r>
            <a:r>
              <a:rPr lang="ru-RU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тупогубенький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бычок, у быка губа бела была тупа"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pPr algn="just"/>
            <a:r>
              <a:rPr lang="nn-NO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nn-NO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regex = 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Regex(</a:t>
            </a:r>
            <a:r>
              <a:rPr lang="nn-NO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@"туп\w</a:t>
            </a:r>
            <a:r>
              <a:rPr lang="nn-NO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*"</a:t>
            </a:r>
            <a:r>
              <a:rPr lang="nn-NO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/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>
                <a:latin typeface="Bookman Old Style" panose="02050604050505020204" pitchFamily="18" charset="0"/>
              </a:rPr>
              <a:t>данном случае последовательность начинается с «</a:t>
            </a:r>
            <a:r>
              <a:rPr lang="ru-RU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туп</a:t>
            </a:r>
            <a:r>
              <a:rPr lang="ru-RU" sz="2400" dirty="0">
                <a:latin typeface="Bookman Old Style" panose="02050604050505020204" pitchFamily="18" charset="0"/>
              </a:rPr>
              <a:t>», </a:t>
            </a:r>
            <a:r>
              <a:rPr lang="en-US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\w </a:t>
            </a:r>
            <a:r>
              <a:rPr lang="ru-RU" sz="2400" dirty="0">
                <a:latin typeface="Bookman Old Style" panose="02050604050505020204" pitchFamily="18" charset="0"/>
              </a:rPr>
              <a:t>означает любой символ слова (любые буквы, а также </a:t>
            </a:r>
            <a:r>
              <a:rPr lang="ru-RU" sz="2400" dirty="0" smtClean="0">
                <a:latin typeface="Bookman Old Style" panose="02050604050505020204" pitchFamily="18" charset="0"/>
              </a:rPr>
              <a:t>знаки и цифры, </a:t>
            </a:r>
            <a:r>
              <a:rPr lang="ru-RU" sz="2400" dirty="0">
                <a:latin typeface="Bookman Old Style" panose="02050604050505020204" pitchFamily="18" charset="0"/>
              </a:rPr>
              <a:t>если они являются частью слова, например, «</a:t>
            </a:r>
            <a:r>
              <a:rPr lang="ru-RU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А.13</a:t>
            </a:r>
            <a:r>
              <a:rPr lang="ru-RU" sz="2400" dirty="0">
                <a:latin typeface="Bookman Old Style" panose="02050604050505020204" pitchFamily="18" charset="0"/>
              </a:rPr>
              <a:t>» будет считаться словом и все её символы будут подходить по шаблону </a:t>
            </a:r>
            <a:r>
              <a:rPr lang="en-US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\w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Знак звездочки «</a:t>
            </a:r>
            <a:r>
              <a:rPr lang="ru-RU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*</a:t>
            </a:r>
            <a:r>
              <a:rPr lang="ru-RU" sz="2400" dirty="0" smtClean="0">
                <a:latin typeface="Bookman Old Style" panose="02050604050505020204" pitchFamily="18" charset="0"/>
              </a:rPr>
              <a:t>» означает, что выражение левее него может повторяться 0 раз и более. В данном случае это относится к </a:t>
            </a:r>
            <a:r>
              <a:rPr lang="en-US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\w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54377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latin typeface="Bookman Old Style" panose="02050604050505020204" pitchFamily="18" charset="0"/>
              </a:rPr>
              <a:t>Заменим шаблон на</a:t>
            </a:r>
          </a:p>
          <a:p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nn-NO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nn-NO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regex = </a:t>
            </a:r>
            <a:r>
              <a:rPr lang="nn-NO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nn-NO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Regex(</a:t>
            </a:r>
            <a:r>
              <a:rPr lang="nn-NO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@"губ\w*"</a:t>
            </a:r>
            <a:r>
              <a:rPr lang="nn-NO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latin typeface="Bookman Old Style" panose="02050604050505020204" pitchFamily="18" charset="0"/>
              </a:rPr>
              <a:t>Будут найдены выражения:</a:t>
            </a:r>
          </a:p>
          <a:p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 smtClean="0">
                <a:latin typeface="Bookman Old Style" panose="02050604050505020204" pitchFamily="18" charset="0"/>
              </a:rPr>
              <a:t>Видим, что мы потеряли все левее «</a:t>
            </a:r>
            <a:r>
              <a:rPr lang="ru-RU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губ</a:t>
            </a:r>
            <a:r>
              <a:rPr lang="ru-RU" sz="2400" dirty="0" smtClean="0">
                <a:latin typeface="Bookman Old Style" panose="02050604050505020204" pitchFamily="18" charset="0"/>
              </a:rPr>
              <a:t>», почему?</a:t>
            </a:r>
          </a:p>
          <a:p>
            <a:endParaRPr lang="ru-RU" sz="2400" dirty="0" smtClean="0">
              <a:latin typeface="Bookman Old Style" panose="02050604050505020204" pitchFamily="18" charset="0"/>
            </a:endParaRPr>
          </a:p>
          <a:p>
            <a:endParaRPr lang="ru-RU" sz="2400" dirty="0" smtClean="0">
              <a:latin typeface="Bookman Old Style" panose="02050604050505020204" pitchFamily="18" charset="0"/>
            </a:endParaRPr>
          </a:p>
          <a:p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 smtClean="0">
                <a:latin typeface="Bookman Old Style" panose="02050604050505020204" pitchFamily="18" charset="0"/>
              </a:rPr>
              <a:t>Чтобы получить символы левее «</a:t>
            </a:r>
            <a:r>
              <a:rPr lang="ru-RU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губ</a:t>
            </a:r>
            <a:r>
              <a:rPr lang="ru-RU" sz="2400" dirty="0" smtClean="0">
                <a:latin typeface="Bookman Old Style" panose="02050604050505020204" pitchFamily="18" charset="0"/>
              </a:rPr>
              <a:t>», необходимо также указать слева </a:t>
            </a:r>
            <a:r>
              <a:rPr lang="en-US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\w*</a:t>
            </a:r>
            <a:endParaRPr lang="ru-RU" sz="2400" dirty="0">
              <a:solidFill>
                <a:srgbClr val="800000"/>
              </a:solidFill>
              <a:latin typeface="Cascadia Mono" panose="020B06090200000200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235" y="1984465"/>
            <a:ext cx="2466974" cy="152632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235" y="4392930"/>
            <a:ext cx="3641584" cy="1525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244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Класс символов соответствует любому из набора символов. Классы символов включают языковые элементы, перечисленные в </a:t>
            </a:r>
            <a:r>
              <a:rPr lang="ru-RU" sz="2400" dirty="0" smtClean="0">
                <a:latin typeface="Bookman Old Style" panose="02050604050505020204" pitchFamily="18" charset="0"/>
              </a:rPr>
              <a:t>таблице.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114789"/>
              </p:ext>
            </p:extLst>
          </p:nvPr>
        </p:nvGraphicFramePr>
        <p:xfrm>
          <a:off x="376237" y="1200329"/>
          <a:ext cx="11439527" cy="5364480"/>
        </p:xfrm>
        <a:graphic>
          <a:graphicData uri="http://schemas.openxmlformats.org/drawingml/2006/table">
            <a:tbl>
              <a:tblPr/>
              <a:tblGrid>
                <a:gridCol w="3157785">
                  <a:extLst>
                    <a:ext uri="{9D8B030D-6E8A-4147-A177-3AD203B41FA5}">
                      <a16:colId xmlns:a16="http://schemas.microsoft.com/office/drawing/2014/main" xmlns="" val="3274012395"/>
                    </a:ext>
                  </a:extLst>
                </a:gridCol>
                <a:gridCol w="3443774">
                  <a:extLst>
                    <a:ext uri="{9D8B030D-6E8A-4147-A177-3AD203B41FA5}">
                      <a16:colId xmlns:a16="http://schemas.microsoft.com/office/drawing/2014/main" xmlns="" val="2736568033"/>
                    </a:ext>
                  </a:extLst>
                </a:gridCol>
                <a:gridCol w="1978086">
                  <a:extLst>
                    <a:ext uri="{9D8B030D-6E8A-4147-A177-3AD203B41FA5}">
                      <a16:colId xmlns:a16="http://schemas.microsoft.com/office/drawing/2014/main" xmlns="" val="4050211339"/>
                    </a:ext>
                  </a:extLst>
                </a:gridCol>
                <a:gridCol w="2859882">
                  <a:extLst>
                    <a:ext uri="{9D8B030D-6E8A-4147-A177-3AD203B41FA5}">
                      <a16:colId xmlns:a16="http://schemas.microsoft.com/office/drawing/2014/main" xmlns="" val="34644965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b="1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Класс</a:t>
                      </a:r>
                      <a:endParaRPr lang="en-US" sz="2300" b="1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b="1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Описание</a:t>
                      </a:r>
                      <a:endParaRPr lang="en-US" sz="2300" b="1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b="1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Шаблон</a:t>
                      </a:r>
                      <a:endParaRPr lang="en-US" sz="2300" b="1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b="1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Ответ</a:t>
                      </a:r>
                      <a:endParaRPr lang="en-US" sz="2300" b="1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38931298"/>
                  </a:ext>
                </a:extLst>
              </a:tr>
              <a:tr h="449323"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[ </a:t>
                      </a:r>
                      <a:r>
                        <a:rPr lang="ru-RU" sz="2300" i="0" dirty="0" err="1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группа_символов</a:t>
                      </a:r>
                      <a:r>
                        <a:rPr lang="en-US" sz="23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]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Единичный символ</a:t>
                      </a:r>
                      <a:r>
                        <a:rPr lang="ru-RU" sz="2300" baseline="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 из группы (чувствителен к регистру)</a:t>
                      </a:r>
                      <a:endParaRPr lang="en-US" sz="230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[ae]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it-IT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"a" </a:t>
                      </a:r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it-IT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"gray"</a:t>
                      </a:r>
                      <a:br>
                        <a:rPr lang="it-IT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it-IT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/>
                      </a:r>
                      <a:br>
                        <a:rPr lang="it-IT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it-IT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"a", "e" </a:t>
                      </a:r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it-IT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"lane"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689983154"/>
                  </a:ext>
                </a:extLst>
              </a:tr>
              <a:tr h="591214"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[^ </a:t>
                      </a:r>
                      <a:r>
                        <a:rPr lang="ru-RU" sz="2300" i="0" dirty="0" err="1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группа_символов</a:t>
                      </a:r>
                      <a:r>
                        <a:rPr lang="en-US" sz="23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]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НЕ единичный символ</a:t>
                      </a:r>
                      <a:r>
                        <a:rPr lang="ru-RU" sz="2300" baseline="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 из группы (инверсия предыдущего примера)</a:t>
                      </a:r>
                      <a:endParaRPr lang="en-US" sz="230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[^</a:t>
                      </a:r>
                      <a:r>
                        <a:rPr lang="en-US" sz="2300" dirty="0" err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aei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]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"r", "g", "n" </a:t>
                      </a:r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"reign"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864201936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[ </a:t>
                      </a:r>
                      <a:r>
                        <a:rPr lang="ru-RU" sz="2300" i="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первый</a:t>
                      </a:r>
                      <a:r>
                        <a:rPr lang="en-US" sz="23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- </a:t>
                      </a:r>
                      <a:r>
                        <a:rPr lang="ru-RU" sz="2300" i="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последний</a:t>
                      </a:r>
                      <a:r>
                        <a:rPr lang="en-US" sz="23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]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Диапазон</a:t>
                      </a:r>
                      <a:r>
                        <a:rPr lang="ru-RU" sz="2300" baseline="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 символов</a:t>
                      </a:r>
                      <a:endParaRPr lang="en-US" sz="230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[A-Z]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"A", "B" </a:t>
                      </a:r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"AB123"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42416597"/>
                  </a:ext>
                </a:extLst>
              </a:tr>
              <a:tr h="733106"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i="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. (Знак точки)</a:t>
                      </a:r>
                      <a:endParaRPr lang="ru-RU" sz="2300" i="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Любой единичный символ</a:t>
                      </a:r>
                      <a:endParaRPr lang="en-US" sz="230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 err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a.e</a:t>
                      </a:r>
                      <a:endParaRPr lang="en-US" sz="230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  <a:r>
                        <a:rPr lang="en-US" sz="2300" dirty="0" err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ave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 </a:t>
                      </a:r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"nave"</a:t>
                      </a:r>
                      <a:b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/>
                      </a:r>
                      <a:b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"ate" </a:t>
                      </a:r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"water"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655396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9889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1650905"/>
              </p:ext>
            </p:extLst>
          </p:nvPr>
        </p:nvGraphicFramePr>
        <p:xfrm>
          <a:off x="361949" y="371475"/>
          <a:ext cx="11458576" cy="6065520"/>
        </p:xfrm>
        <a:graphic>
          <a:graphicData uri="http://schemas.openxmlformats.org/drawingml/2006/table">
            <a:tbl>
              <a:tblPr/>
              <a:tblGrid>
                <a:gridCol w="2864644">
                  <a:extLst>
                    <a:ext uri="{9D8B030D-6E8A-4147-A177-3AD203B41FA5}">
                      <a16:colId xmlns:a16="http://schemas.microsoft.com/office/drawing/2014/main" xmlns="" val="3274012395"/>
                    </a:ext>
                  </a:extLst>
                </a:gridCol>
                <a:gridCol w="2864644">
                  <a:extLst>
                    <a:ext uri="{9D8B030D-6E8A-4147-A177-3AD203B41FA5}">
                      <a16:colId xmlns:a16="http://schemas.microsoft.com/office/drawing/2014/main" xmlns="" val="2736568033"/>
                    </a:ext>
                  </a:extLst>
                </a:gridCol>
                <a:gridCol w="2864644">
                  <a:extLst>
                    <a:ext uri="{9D8B030D-6E8A-4147-A177-3AD203B41FA5}">
                      <a16:colId xmlns:a16="http://schemas.microsoft.com/office/drawing/2014/main" xmlns="" val="4050211339"/>
                    </a:ext>
                  </a:extLst>
                </a:gridCol>
                <a:gridCol w="2864644">
                  <a:extLst>
                    <a:ext uri="{9D8B030D-6E8A-4147-A177-3AD203B41FA5}">
                      <a16:colId xmlns:a16="http://schemas.microsoft.com/office/drawing/2014/main" xmlns="" val="34644965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b="1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Класс</a:t>
                      </a:r>
                      <a:endParaRPr lang="en-US" sz="2300" b="1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b="1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Описание</a:t>
                      </a:r>
                      <a:endParaRPr lang="en-US" sz="2300" b="1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b="1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Шаблон</a:t>
                      </a:r>
                      <a:endParaRPr lang="en-US" sz="2300" b="1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b="1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Ответ</a:t>
                      </a:r>
                      <a:endParaRPr lang="en-US" sz="2300" b="1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38931298"/>
                  </a:ext>
                </a:extLst>
              </a:tr>
              <a:tr h="449323"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\p{ </a:t>
                      </a:r>
                      <a:r>
                        <a:rPr lang="ru-RU" sz="2300" i="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кодировка</a:t>
                      </a:r>
                      <a:r>
                        <a:rPr lang="en-US" sz="23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}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Любой единичный символ заданной кодировки</a:t>
                      </a:r>
                      <a:endParaRPr lang="en-US" sz="230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\p{Lu}</a:t>
                      </a:r>
                      <a:b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/>
                      </a:r>
                      <a:b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\p{</a:t>
                      </a:r>
                      <a:r>
                        <a:rPr lang="en-US" sz="2300" dirty="0" err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IsCyrillic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}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"C", "L" </a:t>
                      </a:r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"City Lights"</a:t>
                      </a:r>
                      <a:b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/>
                      </a:r>
                      <a:b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"Д", "Ж" </a:t>
                      </a:r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</a:t>
                      </a:r>
                      <a:r>
                        <a:rPr lang="en-US" sz="2300" dirty="0" err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ДЖem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767226120"/>
                  </a:ext>
                </a:extLst>
              </a:tr>
              <a:tr h="449323"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i="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</a:t>
                      </a:r>
                      <a:r>
                        <a:rPr lang="en-US" sz="23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P{ </a:t>
                      </a:r>
                      <a:r>
                        <a:rPr lang="ru-RU" sz="2300" i="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кодировка</a:t>
                      </a:r>
                      <a:r>
                        <a:rPr lang="en-US" sz="23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}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Любой единичный символ НЕ заданной кодировки (инверсия предыдущего)</a:t>
                      </a:r>
                      <a:endParaRPr lang="en-US" sz="230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\P{Lu}</a:t>
                      </a:r>
                      <a:b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/>
                      </a:r>
                      <a:b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\P{</a:t>
                      </a:r>
                      <a:r>
                        <a:rPr lang="en-US" sz="2300" dirty="0" err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IsCyrillic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}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  <a:r>
                        <a:rPr lang="en-US" sz="2300" dirty="0" err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i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", "t", "y" </a:t>
                      </a:r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"City"</a:t>
                      </a:r>
                      <a:b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/>
                      </a:r>
                      <a:b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"e", "m" </a:t>
                      </a:r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</a:t>
                      </a:r>
                      <a:r>
                        <a:rPr lang="ru-RU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ДЖ</a:t>
                      </a:r>
                      <a:r>
                        <a:rPr lang="en-US" sz="2300" dirty="0" err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em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238821135"/>
                  </a:ext>
                </a:extLst>
              </a:tr>
              <a:tr h="449323"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\w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Любой символ слова</a:t>
                      </a:r>
                      <a:endParaRPr lang="en-US" sz="230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\w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"I", "D", "A", "1", "3" </a:t>
                      </a:r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"ID A1.3"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689983154"/>
                  </a:ext>
                </a:extLst>
              </a:tr>
              <a:tr h="591214"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\W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Любой символ кроме символа слова</a:t>
                      </a:r>
                      <a:endParaRPr lang="en-US" sz="230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\W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 ", "." </a:t>
                      </a:r>
                      <a:r>
                        <a:rPr lang="ru-RU" sz="23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"ID A1.3"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864201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4540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9631933"/>
              </p:ext>
            </p:extLst>
          </p:nvPr>
        </p:nvGraphicFramePr>
        <p:xfrm>
          <a:off x="314324" y="409575"/>
          <a:ext cx="11544300" cy="3383280"/>
        </p:xfrm>
        <a:graphic>
          <a:graphicData uri="http://schemas.openxmlformats.org/drawingml/2006/table">
            <a:tbl>
              <a:tblPr/>
              <a:tblGrid>
                <a:gridCol w="2886075">
                  <a:extLst>
                    <a:ext uri="{9D8B030D-6E8A-4147-A177-3AD203B41FA5}">
                      <a16:colId xmlns:a16="http://schemas.microsoft.com/office/drawing/2014/main" xmlns="" val="3274012395"/>
                    </a:ext>
                  </a:extLst>
                </a:gridCol>
                <a:gridCol w="2886075">
                  <a:extLst>
                    <a:ext uri="{9D8B030D-6E8A-4147-A177-3AD203B41FA5}">
                      <a16:colId xmlns:a16="http://schemas.microsoft.com/office/drawing/2014/main" xmlns="" val="2736568033"/>
                    </a:ext>
                  </a:extLst>
                </a:gridCol>
                <a:gridCol w="2886075">
                  <a:extLst>
                    <a:ext uri="{9D8B030D-6E8A-4147-A177-3AD203B41FA5}">
                      <a16:colId xmlns:a16="http://schemas.microsoft.com/office/drawing/2014/main" xmlns="" val="4050211339"/>
                    </a:ext>
                  </a:extLst>
                </a:gridCol>
                <a:gridCol w="2886075">
                  <a:extLst>
                    <a:ext uri="{9D8B030D-6E8A-4147-A177-3AD203B41FA5}">
                      <a16:colId xmlns:a16="http://schemas.microsoft.com/office/drawing/2014/main" xmlns="" val="34644965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Класс</a:t>
                      </a:r>
                      <a:endParaRPr lang="en-US" sz="2400" b="1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Описание</a:t>
                      </a:r>
                      <a:endParaRPr lang="en-US" sz="2400" b="1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Шаблон</a:t>
                      </a:r>
                      <a:endParaRPr lang="en-US" sz="2400" b="1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Ответ</a:t>
                      </a:r>
                      <a:endParaRPr lang="en-US" sz="2400" b="1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38931298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\s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Любой символ пробела</a:t>
                      </a:r>
                      <a:endParaRPr lang="en-US" sz="240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\w\s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"D " </a:t>
                      </a:r>
                      <a:r>
                        <a:rPr lang="ru-RU" sz="24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"ID A1.3"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42416597"/>
                  </a:ext>
                </a:extLst>
              </a:tr>
              <a:tr h="733106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\S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Любой символ кроме пробела</a:t>
                      </a:r>
                      <a:endParaRPr lang="en-US" sz="240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\s\S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 _" </a:t>
                      </a:r>
                      <a:r>
                        <a:rPr lang="ru-RU" sz="24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int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 __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ctr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655396559"/>
                  </a:ext>
                </a:extLst>
              </a:tr>
              <a:tr h="449323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\d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Любая</a:t>
                      </a:r>
                      <a:r>
                        <a:rPr lang="ru-RU" sz="2400" baseline="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 цифра</a:t>
                      </a:r>
                      <a:endParaRPr lang="en-US" sz="240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\d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"4" </a:t>
                      </a:r>
                      <a:r>
                        <a:rPr lang="ru-RU" sz="24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"4 = IV"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495708781"/>
                  </a:ext>
                </a:extLst>
              </a:tr>
              <a:tr h="449323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i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\D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Любой</a:t>
                      </a:r>
                      <a:r>
                        <a:rPr lang="ru-RU" sz="2400" baseline="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 символ кроме цифры</a:t>
                      </a:r>
                      <a:endParaRPr lang="en-US" sz="240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\D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it-IT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" ", "=", " ", "I", "V" </a:t>
                      </a:r>
                      <a:r>
                        <a:rPr lang="ru-RU" sz="2400" dirty="0" smtClean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it-IT" sz="240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 "4 = IV"</a:t>
                      </a:r>
                    </a:p>
                  </a:txBody>
                  <a:tcPr marL="45720" marR="457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434999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832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074923"/>
              </p:ext>
            </p:extLst>
          </p:nvPr>
        </p:nvGraphicFramePr>
        <p:xfrm>
          <a:off x="347664" y="160020"/>
          <a:ext cx="11496676" cy="5196840"/>
        </p:xfrm>
        <a:graphic>
          <a:graphicData uri="http://schemas.openxmlformats.org/drawingml/2006/table">
            <a:tbl>
              <a:tblPr/>
              <a:tblGrid>
                <a:gridCol w="1520913">
                  <a:extLst>
                    <a:ext uri="{9D8B030D-6E8A-4147-A177-3AD203B41FA5}">
                      <a16:colId xmlns:a16="http://schemas.microsoft.com/office/drawing/2014/main" xmlns="" val="424884719"/>
                    </a:ext>
                  </a:extLst>
                </a:gridCol>
                <a:gridCol w="4622622">
                  <a:extLst>
                    <a:ext uri="{9D8B030D-6E8A-4147-A177-3AD203B41FA5}">
                      <a16:colId xmlns:a16="http://schemas.microsoft.com/office/drawing/2014/main" xmlns="" val="4023994622"/>
                    </a:ext>
                  </a:extLst>
                </a:gridCol>
                <a:gridCol w="1428840">
                  <a:extLst>
                    <a:ext uri="{9D8B030D-6E8A-4147-A177-3AD203B41FA5}">
                      <a16:colId xmlns:a16="http://schemas.microsoft.com/office/drawing/2014/main" xmlns="" val="3619594727"/>
                    </a:ext>
                  </a:extLst>
                </a:gridCol>
                <a:gridCol w="3924301">
                  <a:extLst>
                    <a:ext uri="{9D8B030D-6E8A-4147-A177-3AD203B41FA5}">
                      <a16:colId xmlns:a16="http://schemas.microsoft.com/office/drawing/2014/main" xmlns="" val="15512280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b="1" dirty="0" smtClean="0">
                          <a:effectLst/>
                          <a:latin typeface="Bookman Old Style" panose="02050604050505020204" pitchFamily="18" charset="0"/>
                        </a:rPr>
                        <a:t>Квантор</a:t>
                      </a:r>
                      <a:endParaRPr lang="en-US" sz="23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b="1" dirty="0" smtClean="0">
                          <a:effectLst/>
                          <a:latin typeface="Bookman Old Style" panose="02050604050505020204" pitchFamily="18" charset="0"/>
                        </a:rPr>
                        <a:t>Описание</a:t>
                      </a:r>
                      <a:endParaRPr lang="en-US" sz="23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b="1" dirty="0" smtClean="0">
                          <a:effectLst/>
                          <a:latin typeface="Bookman Old Style" panose="02050604050505020204" pitchFamily="18" charset="0"/>
                        </a:rPr>
                        <a:t>Шаблон</a:t>
                      </a:r>
                      <a:endParaRPr lang="en-US" sz="23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b="1" dirty="0" smtClean="0">
                          <a:effectLst/>
                          <a:latin typeface="Bookman Old Style" panose="02050604050505020204" pitchFamily="18" charset="0"/>
                        </a:rPr>
                        <a:t>Ответ</a:t>
                      </a:r>
                      <a:endParaRPr lang="en-US" sz="23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929495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dirty="0">
                          <a:effectLst/>
                          <a:latin typeface="Bookman Old Style" panose="02050604050505020204" pitchFamily="18" charset="0"/>
                        </a:rPr>
                        <a:t>*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Предыдущий</a:t>
                      </a:r>
                      <a:r>
                        <a:rPr lang="ru-RU" sz="2300" baseline="0" dirty="0" smtClean="0">
                          <a:effectLst/>
                          <a:latin typeface="Bookman Old Style" panose="02050604050505020204" pitchFamily="18" charset="0"/>
                        </a:rPr>
                        <a:t> элемент повторяется 0 и более раз</a:t>
                      </a:r>
                      <a:endParaRPr lang="en-US" sz="23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a.*c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  <a:r>
                        <a:rPr lang="en-US" sz="2300" dirty="0" err="1">
                          <a:effectLst/>
                          <a:latin typeface="Bookman Old Style" panose="02050604050505020204" pitchFamily="18" charset="0"/>
                        </a:rPr>
                        <a:t>abcbc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</a:t>
                      </a:r>
                      <a:r>
                        <a:rPr lang="en-US" sz="2300" dirty="0" err="1">
                          <a:effectLst/>
                          <a:latin typeface="Bookman Old Style" panose="02050604050505020204" pitchFamily="18" charset="0"/>
                        </a:rPr>
                        <a:t>abcbc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4135988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dirty="0">
                          <a:effectLst/>
                          <a:latin typeface="Bookman Old Style" panose="02050604050505020204" pitchFamily="18" charset="0"/>
                        </a:rPr>
                        <a:t>+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1 и более раз</a:t>
                      </a:r>
                      <a:endParaRPr lang="en-US" sz="23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"be+"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"bee"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"been", "be"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"bent"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2003256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dirty="0">
                          <a:effectLst/>
                          <a:latin typeface="Bookman Old Style" panose="02050604050505020204" pitchFamily="18" charset="0"/>
                        </a:rPr>
                        <a:t>?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0 или 1 раз</a:t>
                      </a:r>
                      <a:endParaRPr lang="en-US" sz="23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"rai?"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"rai"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"rain"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696146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{ </a:t>
                      </a:r>
                      <a:r>
                        <a:rPr lang="en-US" sz="2300" i="1" dirty="0">
                          <a:effectLst/>
                          <a:latin typeface="Bookman Old Style" panose="02050604050505020204" pitchFamily="18" charset="0"/>
                        </a:rPr>
                        <a:t>n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}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 smtClean="0">
                          <a:effectLst/>
                          <a:latin typeface="Bookman Old Style" panose="02050604050505020204" pitchFamily="18" charset="0"/>
                        </a:rPr>
                        <a:t>n 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раз</a:t>
                      </a:r>
                      <a:endParaRPr lang="en-US" sz="23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",\d{3}"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",043"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"1,043.6", ",876", ",543", 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и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",210"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"9,876,543,210"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7888241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{ </a:t>
                      </a:r>
                      <a:r>
                        <a:rPr lang="en-US" sz="2300" i="1" dirty="0">
                          <a:effectLst/>
                          <a:latin typeface="Bookman Old Style" panose="02050604050505020204" pitchFamily="18" charset="0"/>
                        </a:rPr>
                        <a:t>n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,}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baseline="0" dirty="0" smtClean="0">
                          <a:effectLst/>
                          <a:latin typeface="Bookman Old Style" panose="02050604050505020204" pitchFamily="18" charset="0"/>
                        </a:rPr>
                        <a:t>n </a:t>
                      </a:r>
                      <a:r>
                        <a:rPr lang="ru-RU" sz="2300" baseline="0" dirty="0" smtClean="0">
                          <a:effectLst/>
                          <a:latin typeface="Bookman Old Style" panose="02050604050505020204" pitchFamily="18" charset="0"/>
                        </a:rPr>
                        <a:t>и более раз</a:t>
                      </a:r>
                      <a:endParaRPr lang="en-US" sz="23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"\d{2,}"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>
                          <a:effectLst/>
                          <a:latin typeface="Bookman Old Style" panose="02050604050505020204" pitchFamily="18" charset="0"/>
                        </a:rPr>
                        <a:t>"166", "29", "1930"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406214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{ </a:t>
                      </a:r>
                      <a:r>
                        <a:rPr lang="en-US" sz="2300" i="1" dirty="0">
                          <a:effectLst/>
                          <a:latin typeface="Bookman Old Style" panose="02050604050505020204" pitchFamily="18" charset="0"/>
                        </a:rPr>
                        <a:t>n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, </a:t>
                      </a:r>
                      <a:r>
                        <a:rPr lang="en-US" sz="2300" i="1" dirty="0">
                          <a:effectLst/>
                          <a:latin typeface="Bookman Old Style" panose="02050604050505020204" pitchFamily="18" charset="0"/>
                        </a:rPr>
                        <a:t>m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}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baseline="0" dirty="0" smtClean="0">
                          <a:effectLst/>
                          <a:latin typeface="Bookman Old Style" panose="02050604050505020204" pitchFamily="18" charset="0"/>
                        </a:rPr>
                        <a:t> от </a:t>
                      </a:r>
                      <a:r>
                        <a:rPr lang="en-US" sz="2300" baseline="0" dirty="0" smtClean="0">
                          <a:effectLst/>
                          <a:latin typeface="Bookman Old Style" panose="02050604050505020204" pitchFamily="18" charset="0"/>
                        </a:rPr>
                        <a:t>n </a:t>
                      </a:r>
                      <a:r>
                        <a:rPr lang="ru-RU" sz="2300" baseline="0" dirty="0" smtClean="0">
                          <a:effectLst/>
                          <a:latin typeface="Bookman Old Style" panose="02050604050505020204" pitchFamily="18" charset="0"/>
                        </a:rPr>
                        <a:t>до </a:t>
                      </a:r>
                      <a:r>
                        <a:rPr lang="en-US" sz="2300" baseline="0" dirty="0" smtClean="0">
                          <a:effectLst/>
                          <a:latin typeface="Bookman Old Style" panose="02050604050505020204" pitchFamily="18" charset="0"/>
                        </a:rPr>
                        <a:t>m </a:t>
                      </a:r>
                      <a:r>
                        <a:rPr lang="ru-RU" sz="2300" baseline="0" dirty="0" smtClean="0">
                          <a:effectLst/>
                          <a:latin typeface="Bookman Old Style" panose="02050604050505020204" pitchFamily="18" charset="0"/>
                        </a:rPr>
                        <a:t>раз включительно</a:t>
                      </a:r>
                      <a:endParaRPr lang="en-US" sz="23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"\d{3,5}"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"166", "17668"</a:t>
                      </a:r>
                      <a:b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/>
                      </a:r>
                      <a:b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"19302"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"193024"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39968293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2" y="539496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Данные кванторы являются </a:t>
            </a:r>
            <a:r>
              <a:rPr lang="ru-RU" sz="2400" b="1" dirty="0" smtClean="0">
                <a:latin typeface="Bookman Old Style" panose="02050604050505020204" pitchFamily="18" charset="0"/>
              </a:rPr>
              <a:t>жадными</a:t>
            </a:r>
            <a:r>
              <a:rPr lang="ru-RU" sz="2400" dirty="0" smtClean="0">
                <a:latin typeface="Bookman Old Style" panose="02050604050505020204" pitchFamily="18" charset="0"/>
              </a:rPr>
              <a:t>, т.е. выбирают наибольшее количество символов, например</a:t>
            </a:r>
            <a:r>
              <a:rPr lang="en-US" sz="2400" dirty="0" smtClean="0">
                <a:latin typeface="Bookman Old Style" panose="02050604050505020204" pitchFamily="18" charset="0"/>
              </a:rPr>
              <a:t>,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en-US" sz="2400" dirty="0" smtClean="0">
                <a:latin typeface="Bookman Old Style" panose="02050604050505020204" pitchFamily="18" charset="0"/>
              </a:rPr>
              <a:t>a.*c </a:t>
            </a:r>
            <a:r>
              <a:rPr lang="ru-RU" sz="2400" dirty="0" smtClean="0">
                <a:latin typeface="Bookman Old Style" panose="02050604050505020204" pitchFamily="18" charset="0"/>
              </a:rPr>
              <a:t>для строки </a:t>
            </a:r>
            <a:r>
              <a:rPr lang="en-US" sz="2400" dirty="0" err="1" smtClean="0">
                <a:latin typeface="Bookman Old Style" panose="02050604050505020204" pitchFamily="18" charset="0"/>
              </a:rPr>
              <a:t>abcbc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выведет </a:t>
            </a:r>
            <a:r>
              <a:rPr lang="en-US" sz="2400" dirty="0" err="1" smtClean="0">
                <a:latin typeface="Bookman Old Style" panose="02050604050505020204" pitchFamily="18" charset="0"/>
              </a:rPr>
              <a:t>abcbc</a:t>
            </a:r>
            <a:r>
              <a:rPr lang="ru-RU" sz="2400" dirty="0" smtClean="0">
                <a:latin typeface="Bookman Old Style" panose="02050604050505020204" pitchFamily="18" charset="0"/>
              </a:rPr>
              <a:t>,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а не </a:t>
            </a:r>
            <a:r>
              <a:rPr lang="en-US" sz="2400" dirty="0" err="1" smtClean="0">
                <a:latin typeface="Bookman Old Style" panose="02050604050505020204" pitchFamily="18" charset="0"/>
              </a:rPr>
              <a:t>abc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r>
              <a:rPr lang="ru-RU" sz="2400" dirty="0" smtClean="0">
                <a:latin typeface="Bookman Old Style" panose="02050604050505020204" pitchFamily="18" charset="0"/>
              </a:rPr>
              <a:t> Кванторы можно сделать не жадными с помощью символа «</a:t>
            </a:r>
            <a:r>
              <a:rPr lang="en-US" sz="2400" dirty="0" smtClean="0">
                <a:latin typeface="Bookman Old Style" panose="02050604050505020204" pitchFamily="18" charset="0"/>
              </a:rPr>
              <a:t>?</a:t>
            </a:r>
            <a:r>
              <a:rPr lang="ru-RU" sz="2400" dirty="0" smtClean="0">
                <a:latin typeface="Bookman Old Style" panose="02050604050505020204" pitchFamily="18" charset="0"/>
              </a:rPr>
              <a:t>».</a:t>
            </a:r>
          </a:p>
        </p:txBody>
      </p:sp>
    </p:spTree>
    <p:extLst>
      <p:ext uri="{BB962C8B-B14F-4D97-AF65-F5344CB8AC3E}">
        <p14:creationId xmlns:p14="http://schemas.microsoft.com/office/powerpoint/2010/main" val="2410051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688316"/>
              </p:ext>
            </p:extLst>
          </p:nvPr>
        </p:nvGraphicFramePr>
        <p:xfrm>
          <a:off x="381001" y="698500"/>
          <a:ext cx="11487148" cy="4846320"/>
        </p:xfrm>
        <a:graphic>
          <a:graphicData uri="http://schemas.openxmlformats.org/drawingml/2006/table">
            <a:tbl>
              <a:tblPr/>
              <a:tblGrid>
                <a:gridCol w="1619249">
                  <a:extLst>
                    <a:ext uri="{9D8B030D-6E8A-4147-A177-3AD203B41FA5}">
                      <a16:colId xmlns:a16="http://schemas.microsoft.com/office/drawing/2014/main" xmlns="" val="424884719"/>
                    </a:ext>
                  </a:extLst>
                </a:gridCol>
                <a:gridCol w="4375607">
                  <a:extLst>
                    <a:ext uri="{9D8B030D-6E8A-4147-A177-3AD203B41FA5}">
                      <a16:colId xmlns:a16="http://schemas.microsoft.com/office/drawing/2014/main" xmlns="" val="4023994622"/>
                    </a:ext>
                  </a:extLst>
                </a:gridCol>
                <a:gridCol w="1579483">
                  <a:extLst>
                    <a:ext uri="{9D8B030D-6E8A-4147-A177-3AD203B41FA5}">
                      <a16:colId xmlns:a16="http://schemas.microsoft.com/office/drawing/2014/main" xmlns="" val="3619594727"/>
                    </a:ext>
                  </a:extLst>
                </a:gridCol>
                <a:gridCol w="3912809">
                  <a:extLst>
                    <a:ext uri="{9D8B030D-6E8A-4147-A177-3AD203B41FA5}">
                      <a16:colId xmlns:a16="http://schemas.microsoft.com/office/drawing/2014/main" xmlns="" val="15512280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b="1" dirty="0" smtClean="0">
                          <a:effectLst/>
                          <a:latin typeface="Bookman Old Style" panose="02050604050505020204" pitchFamily="18" charset="0"/>
                        </a:rPr>
                        <a:t>Квантор</a:t>
                      </a:r>
                      <a:endParaRPr lang="en-US" sz="23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b="1" dirty="0" smtClean="0">
                          <a:effectLst/>
                          <a:latin typeface="Bookman Old Style" panose="02050604050505020204" pitchFamily="18" charset="0"/>
                        </a:rPr>
                        <a:t>Описание</a:t>
                      </a:r>
                      <a:endParaRPr lang="en-US" sz="23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b="1" dirty="0" smtClean="0">
                          <a:effectLst/>
                          <a:latin typeface="Bookman Old Style" panose="02050604050505020204" pitchFamily="18" charset="0"/>
                        </a:rPr>
                        <a:t>Шаблон</a:t>
                      </a:r>
                      <a:endParaRPr lang="en-US" sz="23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b="1" dirty="0" smtClean="0">
                          <a:effectLst/>
                          <a:latin typeface="Bookman Old Style" panose="02050604050505020204" pitchFamily="18" charset="0"/>
                        </a:rPr>
                        <a:t>Ответ</a:t>
                      </a:r>
                      <a:endParaRPr lang="en-US" sz="23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929495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dirty="0">
                          <a:effectLst/>
                          <a:latin typeface="Bookman Old Style" panose="02050604050505020204" pitchFamily="18" charset="0"/>
                        </a:rPr>
                        <a:t>*?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Предыдущий</a:t>
                      </a:r>
                      <a:r>
                        <a:rPr lang="ru-RU" sz="2300" baseline="0" dirty="0" smtClean="0">
                          <a:effectLst/>
                          <a:latin typeface="Bookman Old Style" panose="02050604050505020204" pitchFamily="18" charset="0"/>
                        </a:rPr>
                        <a:t> элемент повторяется 0 и более раз</a:t>
                      </a:r>
                      <a:endParaRPr lang="en-US" sz="23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a.*?c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  <a:r>
                        <a:rPr lang="en-US" sz="2300" dirty="0" err="1">
                          <a:effectLst/>
                          <a:latin typeface="Bookman Old Style" panose="02050604050505020204" pitchFamily="18" charset="0"/>
                        </a:rPr>
                        <a:t>abc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</a:t>
                      </a:r>
                      <a:r>
                        <a:rPr lang="en-US" sz="2300" dirty="0" err="1">
                          <a:effectLst/>
                          <a:latin typeface="Bookman Old Style" panose="02050604050505020204" pitchFamily="18" charset="0"/>
                        </a:rPr>
                        <a:t>abcbc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4135988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dirty="0">
                          <a:effectLst/>
                          <a:latin typeface="Bookman Old Style" panose="02050604050505020204" pitchFamily="18" charset="0"/>
                        </a:rPr>
                        <a:t>+?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1 и более раз</a:t>
                      </a:r>
                      <a:endParaRPr lang="en-US" sz="23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"be+?"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"be"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"been", "be"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"bent"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2003256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ru-RU" sz="2300" dirty="0">
                          <a:effectLst/>
                          <a:latin typeface="Bookman Old Style" panose="02050604050505020204" pitchFamily="18" charset="0"/>
                        </a:rPr>
                        <a:t>??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0 или 1 раз</a:t>
                      </a:r>
                      <a:endParaRPr lang="en-US" sz="23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>
                          <a:effectLst/>
                          <a:latin typeface="Bookman Old Style" panose="02050604050505020204" pitchFamily="18" charset="0"/>
                        </a:rPr>
                        <a:t>"rai??"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  <a:r>
                        <a:rPr lang="en-US" sz="2300" dirty="0" err="1">
                          <a:effectLst/>
                          <a:latin typeface="Bookman Old Style" panose="02050604050505020204" pitchFamily="18" charset="0"/>
                        </a:rPr>
                        <a:t>ra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"rain"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696146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{ </a:t>
                      </a:r>
                      <a:r>
                        <a:rPr lang="en-US" sz="2300" i="1" dirty="0">
                          <a:effectLst/>
                          <a:latin typeface="Bookman Old Style" panose="02050604050505020204" pitchFamily="18" charset="0"/>
                        </a:rPr>
                        <a:t>n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}?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 smtClean="0">
                          <a:effectLst/>
                          <a:latin typeface="Bookman Old Style" panose="02050604050505020204" pitchFamily="18" charset="0"/>
                        </a:rPr>
                        <a:t>n 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раз</a:t>
                      </a:r>
                      <a:endParaRPr lang="en-US" sz="23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",\d{3}?"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",043"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"1,043.6", ",876", ",543", 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и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",210"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"9,876,543,210"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7888241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{ </a:t>
                      </a:r>
                      <a:r>
                        <a:rPr lang="en-US" sz="2300" i="1" dirty="0">
                          <a:effectLst/>
                          <a:latin typeface="Bookman Old Style" panose="02050604050505020204" pitchFamily="18" charset="0"/>
                        </a:rPr>
                        <a:t>n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,}?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baseline="0" dirty="0" smtClean="0">
                          <a:effectLst/>
                          <a:latin typeface="Bookman Old Style" panose="02050604050505020204" pitchFamily="18" charset="0"/>
                        </a:rPr>
                        <a:t>n </a:t>
                      </a:r>
                      <a:r>
                        <a:rPr lang="ru-RU" sz="2300" baseline="0" dirty="0" smtClean="0">
                          <a:effectLst/>
                          <a:latin typeface="Bookman Old Style" panose="02050604050505020204" pitchFamily="18" charset="0"/>
                        </a:rPr>
                        <a:t>и более раз</a:t>
                      </a:r>
                      <a:endParaRPr lang="en-US" sz="23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"\d{2,}?"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dirty="0">
                          <a:effectLst/>
                          <a:latin typeface="Bookman Old Style" panose="02050604050505020204" pitchFamily="18" charset="0"/>
                        </a:rPr>
                        <a:t>"166", "29", "1930"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406214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{ </a:t>
                      </a:r>
                      <a:r>
                        <a:rPr lang="en-US" sz="2300" i="1" dirty="0">
                          <a:effectLst/>
                          <a:latin typeface="Bookman Old Style" panose="02050604050505020204" pitchFamily="18" charset="0"/>
                        </a:rPr>
                        <a:t>n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, </a:t>
                      </a:r>
                      <a:r>
                        <a:rPr lang="en-US" sz="2300" i="1" dirty="0">
                          <a:effectLst/>
                          <a:latin typeface="Bookman Old Style" panose="02050604050505020204" pitchFamily="18" charset="0"/>
                        </a:rPr>
                        <a:t>m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}?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300" baseline="0" dirty="0" smtClean="0">
                          <a:effectLst/>
                          <a:latin typeface="Bookman Old Style" panose="02050604050505020204" pitchFamily="18" charset="0"/>
                        </a:rPr>
                        <a:t> от </a:t>
                      </a:r>
                      <a:r>
                        <a:rPr lang="en-US" sz="2300" baseline="0" dirty="0" smtClean="0">
                          <a:effectLst/>
                          <a:latin typeface="Bookman Old Style" panose="02050604050505020204" pitchFamily="18" charset="0"/>
                        </a:rPr>
                        <a:t>n </a:t>
                      </a:r>
                      <a:r>
                        <a:rPr lang="ru-RU" sz="2300" baseline="0" dirty="0" smtClean="0">
                          <a:effectLst/>
                          <a:latin typeface="Bookman Old Style" panose="02050604050505020204" pitchFamily="18" charset="0"/>
                        </a:rPr>
                        <a:t>до </a:t>
                      </a:r>
                      <a:r>
                        <a:rPr lang="en-US" sz="2300" baseline="0" dirty="0" smtClean="0">
                          <a:effectLst/>
                          <a:latin typeface="Bookman Old Style" panose="02050604050505020204" pitchFamily="18" charset="0"/>
                        </a:rPr>
                        <a:t>m </a:t>
                      </a:r>
                      <a:r>
                        <a:rPr lang="ru-RU" sz="2300" baseline="0" dirty="0" smtClean="0">
                          <a:effectLst/>
                          <a:latin typeface="Bookman Old Style" panose="02050604050505020204" pitchFamily="18" charset="0"/>
                        </a:rPr>
                        <a:t>раз включительно</a:t>
                      </a:r>
                      <a:endParaRPr lang="en-US" sz="23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"\d{3,5}?"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"166", "17668"</a:t>
                      </a:r>
                      <a:b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/>
                      </a:r>
                      <a:b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"193", "024" </a:t>
                      </a:r>
                      <a:r>
                        <a:rPr lang="ru-RU" sz="23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300" dirty="0">
                          <a:effectLst/>
                          <a:latin typeface="Bookman Old Style" panose="02050604050505020204" pitchFamily="18" charset="0"/>
                        </a:rPr>
                        <a:t> "193024"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39968293"/>
                  </a:ext>
                </a:extLst>
              </a:tr>
            </a:tbl>
          </a:graphicData>
        </a:graphic>
      </p:graphicFrame>
      <p:sp>
        <p:nvSpPr>
          <p:cNvPr id="4" name="Прямоугольник 3"/>
          <p:cNvSpPr/>
          <p:nvPr/>
        </p:nvSpPr>
        <p:spPr>
          <a:xfrm>
            <a:off x="2" y="127337"/>
            <a:ext cx="12192000" cy="46166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latin typeface="Bookman Old Style" panose="02050604050505020204" pitchFamily="18" charset="0"/>
              </a:rPr>
              <a:t>Примеры не жадных кванторов: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0" y="5812433"/>
            <a:ext cx="12192000" cy="46166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latin typeface="Bookman Old Style" panose="02050604050505020204" pitchFamily="18" charset="0"/>
              </a:rPr>
              <a:t>Как видим синтаксис отличается только добавлением знака «</a:t>
            </a:r>
            <a:r>
              <a:rPr lang="en-US" sz="2400" dirty="0" smtClean="0">
                <a:latin typeface="Bookman Old Style" panose="02050604050505020204" pitchFamily="18" charset="0"/>
              </a:rPr>
              <a:t>?</a:t>
            </a:r>
            <a:r>
              <a:rPr lang="ru-RU" sz="2400" dirty="0" smtClean="0">
                <a:latin typeface="Bookman Old Style" panose="02050604050505020204" pitchFamily="18" charset="0"/>
              </a:rPr>
              <a:t>»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391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959647"/>
              </p:ext>
            </p:extLst>
          </p:nvPr>
        </p:nvGraphicFramePr>
        <p:xfrm>
          <a:off x="400050" y="812800"/>
          <a:ext cx="11449050" cy="5394960"/>
        </p:xfrm>
        <a:graphic>
          <a:graphicData uri="http://schemas.openxmlformats.org/drawingml/2006/table">
            <a:tbl>
              <a:tblPr/>
              <a:tblGrid>
                <a:gridCol w="1550391">
                  <a:extLst>
                    <a:ext uri="{9D8B030D-6E8A-4147-A177-3AD203B41FA5}">
                      <a16:colId xmlns:a16="http://schemas.microsoft.com/office/drawing/2014/main" xmlns="" val="424884719"/>
                    </a:ext>
                  </a:extLst>
                </a:gridCol>
                <a:gridCol w="4174134">
                  <a:extLst>
                    <a:ext uri="{9D8B030D-6E8A-4147-A177-3AD203B41FA5}">
                      <a16:colId xmlns:a16="http://schemas.microsoft.com/office/drawing/2014/main" xmlns="" val="4023994622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xmlns="" val="3619594727"/>
                    </a:ext>
                  </a:extLst>
                </a:gridCol>
                <a:gridCol w="4162425">
                  <a:extLst>
                    <a:ext uri="{9D8B030D-6E8A-4147-A177-3AD203B41FA5}">
                      <a16:colId xmlns:a16="http://schemas.microsoft.com/office/drawing/2014/main" xmlns="" val="15512280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b="1" dirty="0" smtClean="0">
                          <a:effectLst/>
                          <a:latin typeface="Bookman Old Style" panose="02050604050505020204" pitchFamily="18" charset="0"/>
                        </a:rPr>
                        <a:t>Не</a:t>
                      </a:r>
                      <a:r>
                        <a:rPr lang="ru-RU" sz="2400" b="1" baseline="0" dirty="0" smtClean="0">
                          <a:effectLst/>
                          <a:latin typeface="Bookman Old Style" panose="02050604050505020204" pitchFamily="18" charset="0"/>
                        </a:rPr>
                        <a:t> жадный</a:t>
                      </a:r>
                      <a:endParaRPr lang="en-US" sz="24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b="1" dirty="0" smtClean="0">
                          <a:effectLst/>
                          <a:latin typeface="Bookman Old Style" panose="02050604050505020204" pitchFamily="18" charset="0"/>
                        </a:rPr>
                        <a:t>Ответ</a:t>
                      </a:r>
                      <a:endParaRPr lang="en-US" sz="24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b="1" dirty="0" smtClean="0">
                          <a:effectLst/>
                          <a:latin typeface="Bookman Old Style" panose="02050604050505020204" pitchFamily="18" charset="0"/>
                        </a:rPr>
                        <a:t>Жадный</a:t>
                      </a:r>
                      <a:endParaRPr lang="en-US" sz="24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b="1" dirty="0" smtClean="0">
                          <a:effectLst/>
                          <a:latin typeface="Bookman Old Style" panose="02050604050505020204" pitchFamily="18" charset="0"/>
                        </a:rPr>
                        <a:t>Ответ</a:t>
                      </a:r>
                      <a:endParaRPr lang="en-US" sz="24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929495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a.*?c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  <a:r>
                        <a:rPr lang="en-US" sz="2400" dirty="0" err="1">
                          <a:effectLst/>
                          <a:latin typeface="Bookman Old Style" panose="02050604050505020204" pitchFamily="18" charset="0"/>
                        </a:rPr>
                        <a:t>abc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</a:t>
                      </a:r>
                      <a:r>
                        <a:rPr lang="en-US" sz="2400" dirty="0" err="1">
                          <a:effectLst/>
                          <a:latin typeface="Bookman Old Style" panose="02050604050505020204" pitchFamily="18" charset="0"/>
                        </a:rPr>
                        <a:t>abcbc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a.*c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  <a:r>
                        <a:rPr lang="en-US" sz="2400" dirty="0" err="1">
                          <a:effectLst/>
                          <a:latin typeface="Bookman Old Style" panose="02050604050505020204" pitchFamily="18" charset="0"/>
                        </a:rPr>
                        <a:t>abcbc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</a:t>
                      </a:r>
                      <a:r>
                        <a:rPr lang="en-US" sz="2400" dirty="0" err="1">
                          <a:effectLst/>
                          <a:latin typeface="Bookman Old Style" panose="02050604050505020204" pitchFamily="18" charset="0"/>
                        </a:rPr>
                        <a:t>abcbc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4135988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"be+?"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"be"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"been", "be"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"bent"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"be+"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"bee"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"been", "be"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"bent"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2003256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"rai??"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  <a:r>
                        <a:rPr lang="en-US" sz="2400" dirty="0" err="1">
                          <a:effectLst/>
                          <a:latin typeface="Bookman Old Style" panose="02050604050505020204" pitchFamily="18" charset="0"/>
                        </a:rPr>
                        <a:t>ra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"rain"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"rai?"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"rai"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"rain"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696146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",\d{3}?"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",043"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"1,043.6", ",876", ",543", 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и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",210"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"9,876,543,210"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",\d{3}"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",043"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"1,043.6", ",876", ",543", 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и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",210"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"9,876,543,210"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7888241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"\d{2,}?"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"166", "29", "1930"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"\d{2,}"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"166", "29", "1930"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406214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"\d{3,5}?"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"166", "17668"</a:t>
                      </a:r>
                      <a:b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/>
                      </a:r>
                      <a:b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"193", "024"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"193024"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"\d{3,5}"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"166", "17668"</a:t>
                      </a:r>
                      <a:b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/>
                      </a:r>
                      <a:b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</a:b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"19302"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"193024"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39968293"/>
                  </a:ext>
                </a:extLst>
              </a:tr>
            </a:tbl>
          </a:graphicData>
        </a:graphic>
      </p:graphicFrame>
      <p:sp>
        <p:nvSpPr>
          <p:cNvPr id="7" name="Прямоугольник 6"/>
          <p:cNvSpPr/>
          <p:nvPr/>
        </p:nvSpPr>
        <p:spPr>
          <a:xfrm>
            <a:off x="0" y="266700"/>
            <a:ext cx="12192000" cy="46166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latin typeface="Bookman Old Style" panose="02050604050505020204" pitchFamily="18" charset="0"/>
              </a:rPr>
              <a:t>Ниже представлено сравнение жадных и не жадных кванторов:</a:t>
            </a:r>
          </a:p>
        </p:txBody>
      </p:sp>
    </p:spTree>
    <p:extLst>
      <p:ext uri="{BB962C8B-B14F-4D97-AF65-F5344CB8AC3E}">
        <p14:creationId xmlns:p14="http://schemas.microsoft.com/office/powerpoint/2010/main" val="4100157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-2" y="0"/>
            <a:ext cx="12192000" cy="83099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latin typeface="Bookman Old Style" panose="02050604050505020204" pitchFamily="18" charset="0"/>
              </a:rPr>
              <a:t>Метасимволы</a:t>
            </a:r>
            <a:r>
              <a:rPr lang="ru-RU" sz="2400" dirty="0">
                <a:latin typeface="Bookman Old Style" panose="02050604050505020204" pitchFamily="18" charset="0"/>
              </a:rPr>
              <a:t>, перечисленные в следующей таблице, являются привязками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420678"/>
              </p:ext>
            </p:extLst>
          </p:nvPr>
        </p:nvGraphicFramePr>
        <p:xfrm>
          <a:off x="400050" y="491530"/>
          <a:ext cx="11410950" cy="5488388"/>
        </p:xfrm>
        <a:graphic>
          <a:graphicData uri="http://schemas.openxmlformats.org/drawingml/2006/table">
            <a:tbl>
              <a:tblPr/>
              <a:tblGrid>
                <a:gridCol w="1771650">
                  <a:extLst>
                    <a:ext uri="{9D8B030D-6E8A-4147-A177-3AD203B41FA5}">
                      <a16:colId xmlns:a16="http://schemas.microsoft.com/office/drawing/2014/main" xmlns="" val="3790542227"/>
                    </a:ext>
                  </a:extLst>
                </a:gridCol>
                <a:gridCol w="3933825">
                  <a:extLst>
                    <a:ext uri="{9D8B030D-6E8A-4147-A177-3AD203B41FA5}">
                      <a16:colId xmlns:a16="http://schemas.microsoft.com/office/drawing/2014/main" xmlns="" val="1379228642"/>
                    </a:ext>
                  </a:extLst>
                </a:gridCol>
                <a:gridCol w="1996913">
                  <a:extLst>
                    <a:ext uri="{9D8B030D-6E8A-4147-A177-3AD203B41FA5}">
                      <a16:colId xmlns:a16="http://schemas.microsoft.com/office/drawing/2014/main" xmlns="" val="2031648666"/>
                    </a:ext>
                  </a:extLst>
                </a:gridCol>
                <a:gridCol w="3708562">
                  <a:extLst>
                    <a:ext uri="{9D8B030D-6E8A-4147-A177-3AD203B41FA5}">
                      <a16:colId xmlns:a16="http://schemas.microsoft.com/office/drawing/2014/main" xmlns="" val="2235991987"/>
                    </a:ext>
                  </a:extLst>
                </a:gridCol>
              </a:tblGrid>
              <a:tr h="153039"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 smtClean="0">
                          <a:effectLst/>
                          <a:latin typeface="Bookman Old Style" panose="02050604050505020204" pitchFamily="18" charset="0"/>
                        </a:rPr>
                        <a:t>Привязка</a:t>
                      </a:r>
                      <a:endParaRPr lang="en-US" sz="24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 smtClean="0">
                          <a:effectLst/>
                          <a:latin typeface="Bookman Old Style" panose="02050604050505020204" pitchFamily="18" charset="0"/>
                        </a:rPr>
                        <a:t>Описание</a:t>
                      </a:r>
                      <a:endParaRPr lang="en-US" sz="24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 smtClean="0">
                          <a:effectLst/>
                          <a:latin typeface="Bookman Old Style" panose="02050604050505020204" pitchFamily="18" charset="0"/>
                        </a:rPr>
                        <a:t>Шаблон</a:t>
                      </a:r>
                      <a:endParaRPr lang="en-US" sz="24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 smtClean="0">
                          <a:effectLst/>
                          <a:latin typeface="Bookman Old Style" panose="02050604050505020204" pitchFamily="18" charset="0"/>
                        </a:rPr>
                        <a:t>Ответ</a:t>
                      </a:r>
                      <a:endParaRPr lang="en-US" sz="24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111837498"/>
                  </a:ext>
                </a:extLst>
              </a:tr>
              <a:tr h="956494"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^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Начало строки</a:t>
                      </a:r>
                      <a:r>
                        <a:rPr lang="ru-RU" sz="2400" baseline="0" dirty="0" smtClean="0">
                          <a:effectLst/>
                          <a:latin typeface="Bookman Old Style" panose="02050604050505020204" pitchFamily="18" charset="0"/>
                        </a:rPr>
                        <a:t> или строк в случае многострочного вывода.</a:t>
                      </a:r>
                      <a:endParaRPr lang="en-US" sz="24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^\d{3}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"901"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"901-333-"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679006245"/>
                  </a:ext>
                </a:extLst>
              </a:tr>
              <a:tr h="1300832"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$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Конец строки</a:t>
                      </a:r>
                      <a:r>
                        <a:rPr lang="ru-RU" sz="2400" baseline="0" dirty="0" smtClean="0">
                          <a:effectLst/>
                          <a:latin typeface="Bookman Old Style" panose="02050604050505020204" pitchFamily="18" charset="0"/>
                        </a:rPr>
                        <a:t> или строк в случае многострочного вывода.</a:t>
                      </a:r>
                      <a:endParaRPr lang="en-US" sz="24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-\d{3}$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"-333"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"-901-333"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080939672"/>
                  </a:ext>
                </a:extLst>
              </a:tr>
              <a:tr h="3825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\A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Начало строки.</a:t>
                      </a:r>
                      <a:endParaRPr lang="en-US" sz="24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\A\d{3}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"901"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"901-333-"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414295895"/>
                  </a:ext>
                </a:extLst>
              </a:tr>
              <a:tr h="612155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\Z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Конец строки</a:t>
                      </a:r>
                      <a:r>
                        <a:rPr lang="en-US" sz="2400" dirty="0" smtClean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или до последнего символа новой строки.</a:t>
                      </a:r>
                      <a:endParaRPr lang="en-US" sz="24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-\d{3}\Z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"-333"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"-901-333"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94964750"/>
                  </a:ext>
                </a:extLst>
              </a:tr>
              <a:tr h="3825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\z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Конец строки</a:t>
                      </a:r>
                      <a:r>
                        <a:rPr lang="en-US" sz="2400" dirty="0" smtClean="0">
                          <a:effectLst/>
                          <a:latin typeface="Bookman Old Style" panose="02050604050505020204" pitchFamily="18" charset="0"/>
                        </a:rPr>
                        <a:t>.</a:t>
                      </a:r>
                      <a:endParaRPr lang="en-US" sz="24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-\d{3}\z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"-333"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"-901-333"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4184363036"/>
                  </a:ext>
                </a:extLst>
              </a:tr>
              <a:tr h="715664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\G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Непрерывное соответствие.</a:t>
                      </a:r>
                      <a:endParaRPr lang="en-US" sz="24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\G\(\d\)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"(1)", "(3)", "(5)" </a:t>
                      </a:r>
                      <a:endParaRPr lang="ru-RU" sz="2400" dirty="0" smtClean="0">
                        <a:effectLst/>
                        <a:latin typeface="Bookman Old Style" panose="02050604050505020204" pitchFamily="18" charset="0"/>
                      </a:endParaRPr>
                    </a:p>
                    <a:p>
                      <a:pPr algn="l" fontAlgn="t"/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"(1)(3)(5)[7](9)"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460823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2152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6006326"/>
              </p:ext>
            </p:extLst>
          </p:nvPr>
        </p:nvGraphicFramePr>
        <p:xfrm>
          <a:off x="390525" y="491530"/>
          <a:ext cx="11401424" cy="3008178"/>
        </p:xfrm>
        <a:graphic>
          <a:graphicData uri="http://schemas.openxmlformats.org/drawingml/2006/table">
            <a:tbl>
              <a:tblPr/>
              <a:tblGrid>
                <a:gridCol w="1647179">
                  <a:extLst>
                    <a:ext uri="{9D8B030D-6E8A-4147-A177-3AD203B41FA5}">
                      <a16:colId xmlns:a16="http://schemas.microsoft.com/office/drawing/2014/main" xmlns="" val="3790542227"/>
                    </a:ext>
                  </a:extLst>
                </a:gridCol>
                <a:gridCol w="4053533">
                  <a:extLst>
                    <a:ext uri="{9D8B030D-6E8A-4147-A177-3AD203B41FA5}">
                      <a16:colId xmlns:a16="http://schemas.microsoft.com/office/drawing/2014/main" xmlns="" val="1379228642"/>
                    </a:ext>
                  </a:extLst>
                </a:gridCol>
                <a:gridCol w="2850356">
                  <a:extLst>
                    <a:ext uri="{9D8B030D-6E8A-4147-A177-3AD203B41FA5}">
                      <a16:colId xmlns:a16="http://schemas.microsoft.com/office/drawing/2014/main" xmlns="" val="2031648666"/>
                    </a:ext>
                  </a:extLst>
                </a:gridCol>
                <a:gridCol w="2850356">
                  <a:extLst>
                    <a:ext uri="{9D8B030D-6E8A-4147-A177-3AD203B41FA5}">
                      <a16:colId xmlns:a16="http://schemas.microsoft.com/office/drawing/2014/main" xmlns="" val="2235991987"/>
                    </a:ext>
                  </a:extLst>
                </a:gridCol>
              </a:tblGrid>
              <a:tr h="153039"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 smtClean="0">
                          <a:effectLst/>
                          <a:latin typeface="Bookman Old Style" panose="02050604050505020204" pitchFamily="18" charset="0"/>
                        </a:rPr>
                        <a:t>Привязка</a:t>
                      </a:r>
                      <a:endParaRPr lang="en-US" sz="24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 smtClean="0">
                          <a:effectLst/>
                          <a:latin typeface="Bookman Old Style" panose="02050604050505020204" pitchFamily="18" charset="0"/>
                        </a:rPr>
                        <a:t>Описание</a:t>
                      </a:r>
                      <a:endParaRPr lang="en-US" sz="24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 smtClean="0">
                          <a:effectLst/>
                          <a:latin typeface="Bookman Old Style" panose="02050604050505020204" pitchFamily="18" charset="0"/>
                        </a:rPr>
                        <a:t>Шаблон</a:t>
                      </a:r>
                      <a:endParaRPr lang="en-US" sz="24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 smtClean="0">
                          <a:effectLst/>
                          <a:latin typeface="Bookman Old Style" panose="02050604050505020204" pitchFamily="18" charset="0"/>
                        </a:rPr>
                        <a:t>Ответ</a:t>
                      </a:r>
                      <a:endParaRPr lang="en-US" sz="2400" b="1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111837498"/>
                  </a:ext>
                </a:extLst>
              </a:tr>
              <a:tr h="841715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\b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На</a:t>
                      </a:r>
                      <a:r>
                        <a:rPr lang="ru-RU" sz="2400" baseline="0" dirty="0" smtClean="0">
                          <a:effectLst/>
                          <a:latin typeface="Bookman Old Style" panose="02050604050505020204" pitchFamily="18" charset="0"/>
                        </a:rPr>
                        <a:t> границе слова</a:t>
                      </a:r>
                      <a:endParaRPr lang="en-US" sz="24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\b\w+\s\w+\b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"them theme", "them </a:t>
                      </a:r>
                      <a:r>
                        <a:rPr lang="en-US" sz="2400" dirty="0" err="1">
                          <a:effectLst/>
                          <a:latin typeface="Bookman Old Style" panose="02050604050505020204" pitchFamily="18" charset="0"/>
                        </a:rPr>
                        <a:t>them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"them theme them </a:t>
                      </a:r>
                      <a:r>
                        <a:rPr lang="en-US" sz="2400" dirty="0" err="1">
                          <a:effectLst/>
                          <a:latin typeface="Bookman Old Style" panose="02050604050505020204" pitchFamily="18" charset="0"/>
                        </a:rPr>
                        <a:t>them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546249796"/>
                  </a:ext>
                </a:extLst>
              </a:tr>
              <a:tr h="3825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\B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Не на границе слова</a:t>
                      </a:r>
                      <a:endParaRPr lang="en-US" sz="24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\Bend\w*\b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"ends", "ender" </a:t>
                      </a:r>
                      <a:r>
                        <a:rPr lang="ru-RU" sz="2400" dirty="0" smtClean="0">
                          <a:effectLst/>
                          <a:latin typeface="Bookman Old Style" panose="02050604050505020204" pitchFamily="18" charset="0"/>
                        </a:rPr>
                        <a:t>в</a:t>
                      </a:r>
                      <a:r>
                        <a:rPr lang="en-US" sz="2400" dirty="0">
                          <a:effectLst/>
                          <a:latin typeface="Bookman Old Style" panose="02050604050505020204" pitchFamily="18" charset="0"/>
                        </a:rPr>
                        <a:t> "end sends endure lender"</a:t>
                      </a:r>
                    </a:p>
                  </a:txBody>
                  <a:tcPr marL="27367" marR="27367" marT="13683" marB="136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28318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6300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152400"/>
            <a:ext cx="12192000" cy="646330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300" dirty="0">
                <a:latin typeface="Bookman Old Style" panose="02050604050505020204" pitchFamily="18" charset="0"/>
              </a:rPr>
              <a:t>Параметр </a:t>
            </a:r>
            <a:r>
              <a:rPr lang="en-US" sz="2300" b="1" dirty="0" err="1" smtClean="0">
                <a:latin typeface="Bookman Old Style" panose="02050604050505020204" pitchFamily="18" charset="0"/>
              </a:rPr>
              <a:t>RegexOptions</a:t>
            </a:r>
            <a:r>
              <a:rPr lang="ru-RU" sz="2300" dirty="0" smtClean="0">
                <a:latin typeface="Bookman Old Style" panose="02050604050505020204" pitchFamily="18" charset="0"/>
              </a:rPr>
              <a:t>. </a:t>
            </a:r>
          </a:p>
          <a:p>
            <a:pPr algn="just"/>
            <a:r>
              <a:rPr lang="en-US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Regex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regex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Regex(</a:t>
            </a:r>
            <a:r>
              <a:rPr lang="en-US" sz="2300" dirty="0">
                <a:solidFill>
                  <a:srgbClr val="800000"/>
                </a:solidFill>
                <a:latin typeface="Cascadia Mono" panose="020B0609020000020004" pitchFamily="49" charset="0"/>
              </a:rPr>
              <a:t>@"</a:t>
            </a:r>
            <a:r>
              <a:rPr lang="en-US" sz="2300" dirty="0" err="1">
                <a:solidFill>
                  <a:srgbClr val="800000"/>
                </a:solidFill>
                <a:latin typeface="Cascadia Mono" panose="020B0609020000020004" pitchFamily="49" charset="0"/>
              </a:rPr>
              <a:t>туп</a:t>
            </a:r>
            <a:r>
              <a:rPr lang="en-US" sz="2300" dirty="0">
                <a:solidFill>
                  <a:srgbClr val="800000"/>
                </a:solidFill>
                <a:latin typeface="Cascadia Mono" panose="020B0609020000020004" pitchFamily="49" charset="0"/>
              </a:rPr>
              <a:t>(\w*)"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RegexOptions.IgnoreCase</a:t>
            </a:r>
            <a:r>
              <a:rPr lang="en-US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3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/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Regex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regex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Regex(</a:t>
            </a:r>
            <a:r>
              <a:rPr lang="en-US" sz="2300" dirty="0">
                <a:solidFill>
                  <a:srgbClr val="800000"/>
                </a:solidFill>
                <a:latin typeface="Cascadia Mono" panose="020B0609020000020004" pitchFamily="49" charset="0"/>
              </a:rPr>
              <a:t>@"</a:t>
            </a:r>
            <a:r>
              <a:rPr lang="ru-RU" sz="2300" dirty="0">
                <a:solidFill>
                  <a:srgbClr val="800000"/>
                </a:solidFill>
                <a:latin typeface="Cascadia Mono" panose="020B0609020000020004" pitchFamily="49" charset="0"/>
              </a:rPr>
              <a:t>туп(\</a:t>
            </a:r>
            <a:r>
              <a:rPr lang="en-US" sz="2300" dirty="0">
                <a:solidFill>
                  <a:srgbClr val="800000"/>
                </a:solidFill>
                <a:latin typeface="Cascadia Mono" panose="020B0609020000020004" pitchFamily="49" charset="0"/>
              </a:rPr>
              <a:t>w*)"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RegexOptions.Compiled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|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RegexOptions.IgnoreCase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3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300" b="1" dirty="0" err="1" smtClean="0">
                <a:latin typeface="Bookman Old Style" panose="02050604050505020204" pitchFamily="18" charset="0"/>
              </a:rPr>
              <a:t>Compiled</a:t>
            </a:r>
            <a:r>
              <a:rPr lang="ru-RU" sz="2300" dirty="0">
                <a:latin typeface="Bookman Old Style" panose="02050604050505020204" pitchFamily="18" charset="0"/>
              </a:rPr>
              <a:t>: при установке этого значения регулярное выражение компилируется в сборку, что обеспечивает более быстрое </a:t>
            </a:r>
            <a:r>
              <a:rPr lang="ru-RU" sz="2300" dirty="0" smtClean="0">
                <a:latin typeface="Bookman Old Style" panose="02050604050505020204" pitchFamily="18" charset="0"/>
              </a:rPr>
              <a:t>выполнение</a:t>
            </a:r>
          </a:p>
          <a:p>
            <a:pPr algn="just"/>
            <a:r>
              <a:rPr lang="ru-RU" sz="2300" b="1" dirty="0" err="1" smtClean="0">
                <a:latin typeface="Bookman Old Style" panose="02050604050505020204" pitchFamily="18" charset="0"/>
              </a:rPr>
              <a:t>CultureInvariant</a:t>
            </a:r>
            <a:r>
              <a:rPr lang="ru-RU" sz="2300" dirty="0">
                <a:latin typeface="Bookman Old Style" panose="02050604050505020204" pitchFamily="18" charset="0"/>
              </a:rPr>
              <a:t>: при установке этого значения будут игнорироваться региональные </a:t>
            </a:r>
            <a:r>
              <a:rPr lang="ru-RU" sz="2300" dirty="0" smtClean="0">
                <a:latin typeface="Bookman Old Style" panose="02050604050505020204" pitchFamily="18" charset="0"/>
              </a:rPr>
              <a:t>различия</a:t>
            </a:r>
            <a:endParaRPr lang="ru-RU" sz="2300" dirty="0">
              <a:latin typeface="Bookman Old Style" panose="02050604050505020204" pitchFamily="18" charset="0"/>
            </a:endParaRPr>
          </a:p>
          <a:p>
            <a:pPr algn="just"/>
            <a:r>
              <a:rPr lang="ru-RU" sz="2300" b="1" dirty="0" err="1" smtClean="0">
                <a:latin typeface="Bookman Old Style" panose="02050604050505020204" pitchFamily="18" charset="0"/>
              </a:rPr>
              <a:t>IgnoreCase</a:t>
            </a:r>
            <a:r>
              <a:rPr lang="ru-RU" sz="2300" dirty="0">
                <a:latin typeface="Bookman Old Style" panose="02050604050505020204" pitchFamily="18" charset="0"/>
              </a:rPr>
              <a:t>: при установке этого значения будет игнорироваться </a:t>
            </a:r>
            <a:r>
              <a:rPr lang="ru-RU" sz="2300" dirty="0" smtClean="0">
                <a:latin typeface="Bookman Old Style" panose="02050604050505020204" pitchFamily="18" charset="0"/>
              </a:rPr>
              <a:t>регистр</a:t>
            </a:r>
          </a:p>
          <a:p>
            <a:pPr algn="just"/>
            <a:r>
              <a:rPr lang="ru-RU" sz="2300" b="1" dirty="0" err="1" smtClean="0">
                <a:latin typeface="Bookman Old Style" panose="02050604050505020204" pitchFamily="18" charset="0"/>
              </a:rPr>
              <a:t>IgnorePatternWhitespace</a:t>
            </a:r>
            <a:r>
              <a:rPr lang="ru-RU" sz="2300" dirty="0">
                <a:latin typeface="Bookman Old Style" panose="02050604050505020204" pitchFamily="18" charset="0"/>
              </a:rPr>
              <a:t>: удаляет из строки пробелы и разрешает комментарии, начинающиеся со знака </a:t>
            </a:r>
            <a:r>
              <a:rPr lang="ru-RU" sz="2300" dirty="0" smtClean="0">
                <a:latin typeface="Bookman Old Style" panose="02050604050505020204" pitchFamily="18" charset="0"/>
              </a:rPr>
              <a:t>#</a:t>
            </a:r>
          </a:p>
          <a:p>
            <a:pPr algn="just"/>
            <a:r>
              <a:rPr lang="ru-RU" sz="2300" b="1" dirty="0" err="1" smtClean="0">
                <a:latin typeface="Bookman Old Style" panose="02050604050505020204" pitchFamily="18" charset="0"/>
              </a:rPr>
              <a:t>Multiline</a:t>
            </a:r>
            <a:r>
              <a:rPr lang="ru-RU" sz="2300" dirty="0">
                <a:latin typeface="Bookman Old Style" panose="02050604050505020204" pitchFamily="18" charset="0"/>
              </a:rPr>
              <a:t>: указывает, что текст надо рассматривать в многострочном режиме. При таком режиме символы "^" и "$" совпадают, соответственно, с началом и концом любой строки, а не с началом и концом всего </a:t>
            </a:r>
            <a:r>
              <a:rPr lang="ru-RU" sz="2300" dirty="0" smtClean="0">
                <a:latin typeface="Bookman Old Style" panose="02050604050505020204" pitchFamily="18" charset="0"/>
              </a:rPr>
              <a:t>текста</a:t>
            </a:r>
          </a:p>
          <a:p>
            <a:pPr algn="just"/>
            <a:r>
              <a:rPr lang="ru-RU" sz="2300" b="1" dirty="0" err="1" smtClean="0">
                <a:latin typeface="Bookman Old Style" panose="02050604050505020204" pitchFamily="18" charset="0"/>
              </a:rPr>
              <a:t>RightToLeft</a:t>
            </a:r>
            <a:r>
              <a:rPr lang="ru-RU" sz="2300" dirty="0">
                <a:latin typeface="Bookman Old Style" panose="02050604050505020204" pitchFamily="18" charset="0"/>
              </a:rPr>
              <a:t>: приписывает читать строку справа </a:t>
            </a:r>
            <a:r>
              <a:rPr lang="ru-RU" sz="2300" dirty="0" smtClean="0">
                <a:latin typeface="Bookman Old Style" panose="02050604050505020204" pitchFamily="18" charset="0"/>
              </a:rPr>
              <a:t>налево</a:t>
            </a:r>
          </a:p>
          <a:p>
            <a:pPr algn="just"/>
            <a:r>
              <a:rPr lang="ru-RU" sz="2300" b="1" dirty="0" err="1" smtClean="0">
                <a:latin typeface="Bookman Old Style" panose="02050604050505020204" pitchFamily="18" charset="0"/>
              </a:rPr>
              <a:t>Singleline</a:t>
            </a:r>
            <a:r>
              <a:rPr lang="ru-RU" sz="2300" dirty="0">
                <a:latin typeface="Bookman Old Style" panose="02050604050505020204" pitchFamily="18" charset="0"/>
              </a:rPr>
              <a:t>: при данном режиме символ "." соответствует любому символу, в том числе последовательности "\n", которая осуществляет переход на следующую строку</a:t>
            </a:r>
            <a:endParaRPr lang="ru-RU" sz="23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510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-2" y="0"/>
            <a:ext cx="12192000" cy="646330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300" dirty="0">
                <a:latin typeface="Bookman Old Style" panose="02050604050505020204" pitchFamily="18" charset="0"/>
              </a:rPr>
              <a:t>Второй простенький пример - нахождение телефонного номера в формате 111-111-1111</a:t>
            </a:r>
            <a:r>
              <a:rPr lang="ru-RU" sz="2300" dirty="0" smtClean="0">
                <a:latin typeface="Bookman Old Style" panose="02050604050505020204" pitchFamily="18" charset="0"/>
              </a:rPr>
              <a:t>:</a:t>
            </a:r>
            <a:endParaRPr lang="en-US" sz="23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pPr algn="just"/>
            <a:r>
              <a:rPr lang="en-US" sz="23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s = 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"456-435-2318"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pPr algn="just"/>
            <a:r>
              <a:rPr lang="nn-NO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Regex regex = </a:t>
            </a:r>
            <a:r>
              <a:rPr lang="nn-NO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nn-NO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Regex(</a:t>
            </a:r>
            <a:r>
              <a:rPr lang="nn-NO" sz="2300" dirty="0">
                <a:solidFill>
                  <a:srgbClr val="800000"/>
                </a:solidFill>
                <a:latin typeface="Cascadia Mono" panose="020B0609020000020004" pitchFamily="49" charset="0"/>
              </a:rPr>
              <a:t>@"\d{3}-\d{3}-\d{4</a:t>
            </a:r>
            <a:r>
              <a:rPr lang="nn-NO" sz="23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}"</a:t>
            </a:r>
            <a:r>
              <a:rPr lang="nn-NO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nn-NO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/>
            <a:endParaRPr lang="ru-RU" sz="23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300" dirty="0" smtClean="0">
                <a:latin typeface="Bookman Old Style" panose="02050604050505020204" pitchFamily="18" charset="0"/>
              </a:rPr>
              <a:t>Перепишем </a:t>
            </a:r>
            <a:r>
              <a:rPr lang="ru-RU" sz="2300" dirty="0">
                <a:latin typeface="Bookman Old Style" panose="02050604050505020204" pitchFamily="18" charset="0"/>
              </a:rPr>
              <a:t>пример с номером телефона и явно укажем, какие символы там должны быть</a:t>
            </a:r>
            <a:r>
              <a:rPr lang="ru-RU" sz="2300" dirty="0" smtClean="0">
                <a:latin typeface="Bookman Old Style" panose="02050604050505020204" pitchFamily="18" charset="0"/>
              </a:rPr>
              <a:t>:</a:t>
            </a:r>
          </a:p>
          <a:p>
            <a:pPr algn="just"/>
            <a:endParaRPr lang="ru-RU" sz="2300" dirty="0">
              <a:latin typeface="Bookman Old Style" panose="02050604050505020204" pitchFamily="18" charset="0"/>
            </a:endParaRPr>
          </a:p>
          <a:p>
            <a:pPr algn="just"/>
            <a:r>
              <a:rPr lang="en-US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s = 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"456-435-2318"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pPr algn="just"/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Regex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regex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Regex(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"[0-9]{3}-[0-9]{3}-[0-9]{4</a:t>
            </a:r>
            <a:r>
              <a:rPr lang="en-US" sz="23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}"</a:t>
            </a:r>
            <a:r>
              <a:rPr lang="en-US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3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/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/>
            <a:r>
              <a:rPr lang="ru-RU" sz="2300" dirty="0">
                <a:latin typeface="Bookman Old Style" panose="02050604050505020204" pitchFamily="18" charset="0"/>
              </a:rPr>
              <a:t>С помощью операции | можно задать альтернативные символы, например</a:t>
            </a:r>
            <a:r>
              <a:rPr lang="ru-RU" sz="2300" dirty="0" smtClean="0">
                <a:latin typeface="Bookman Old Style" panose="02050604050505020204" pitchFamily="18" charset="0"/>
              </a:rPr>
              <a:t>:</a:t>
            </a:r>
            <a:endParaRPr lang="ru-RU" sz="23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/>
            <a:r>
              <a:rPr lang="nn-NO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Regex </a:t>
            </a:r>
            <a:r>
              <a:rPr lang="nn-NO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regex = </a:t>
            </a:r>
            <a:r>
              <a:rPr lang="nn-NO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nn-NO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Regex(</a:t>
            </a:r>
            <a:r>
              <a:rPr lang="nn-NO" sz="2300" dirty="0">
                <a:solidFill>
                  <a:srgbClr val="800000"/>
                </a:solidFill>
                <a:latin typeface="Cascadia Mono" panose="020B0609020000020004" pitchFamily="49" charset="0"/>
              </a:rPr>
              <a:t>@"(2|3){3}-[0-9]{3}-\d{4</a:t>
            </a:r>
            <a:r>
              <a:rPr lang="nn-NO" sz="23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}"</a:t>
            </a:r>
            <a:r>
              <a:rPr lang="nn-NO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3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/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/>
            <a:r>
              <a:rPr lang="ru-RU" sz="2300" dirty="0">
                <a:latin typeface="Bookman Old Style" panose="02050604050505020204" pitchFamily="18" charset="0"/>
              </a:rPr>
              <a:t>То есть первые три цифры могут содержать только двойки или тройки. Такой шаблон будет соответствовать, например, строкам "222-222-2222" и "323-435-2318". А вот строка "235-435-2318" уже не подпадает под шаблон, так как одной из трех первых цифр является цифра 5.</a:t>
            </a:r>
            <a:endParaRPr lang="ru-RU" sz="23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17490"/>
          <a:stretch/>
        </p:blipFill>
        <p:spPr>
          <a:xfrm>
            <a:off x="7701652" y="444501"/>
            <a:ext cx="3709298" cy="64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190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-2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Проверка на соответствие строки </a:t>
            </a:r>
            <a:r>
              <a:rPr lang="ru-RU" sz="2400" dirty="0" smtClean="0">
                <a:latin typeface="Bookman Old Style" panose="02050604050505020204" pitchFamily="18" charset="0"/>
              </a:rPr>
              <a:t>формату, метод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IsMatch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/>
            <a:endParaRPr lang="ru-RU" sz="2400" dirty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Нередко возникает задача проверить корректность данных, введенных пользователем. Это может быть проверка электронного адреса, номера телефона, Класс </a:t>
            </a:r>
            <a:r>
              <a:rPr lang="ru-RU" sz="2400" dirty="0" err="1">
                <a:latin typeface="Bookman Old Style" panose="02050604050505020204" pitchFamily="18" charset="0"/>
              </a:rPr>
              <a:t>Regex</a:t>
            </a:r>
            <a:r>
              <a:rPr lang="ru-RU" sz="2400" dirty="0">
                <a:latin typeface="Bookman Old Style" panose="02050604050505020204" pitchFamily="18" charset="0"/>
              </a:rPr>
              <a:t> предоставляет статический метод </a:t>
            </a:r>
            <a:r>
              <a:rPr lang="ru-RU" sz="2400" dirty="0" err="1">
                <a:latin typeface="Bookman Old Style" panose="02050604050505020204" pitchFamily="18" charset="0"/>
              </a:rPr>
              <a:t>IsMatch</a:t>
            </a:r>
            <a:r>
              <a:rPr lang="ru-RU" sz="2400" dirty="0">
                <a:latin typeface="Bookman Old Style" panose="02050604050505020204" pitchFamily="18" charset="0"/>
              </a:rPr>
              <a:t>, который позволяет проверить входную строку с шаблоном на соответствие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strings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[] {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"example@mail.ru"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"examplemail.ru"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example@mailru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};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Regex regex = 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Regex(</a:t>
            </a:r>
            <a:r>
              <a:rPr lang="nn-NO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@"\w+@\w+\.\w+"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strings)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regex.IsMatch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(s))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5591" y="4727553"/>
            <a:ext cx="4218134" cy="610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46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-2" y="0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ctr"/>
            <a:r>
              <a:rPr lang="ru-RU" sz="2400" dirty="0" smtClean="0">
                <a:latin typeface="Bookman Old Style" panose="02050604050505020204" pitchFamily="18" charset="0"/>
              </a:rPr>
              <a:t>Замена символов, метод </a:t>
            </a:r>
            <a:r>
              <a:rPr lang="en-US" sz="2400" b="1" dirty="0" smtClean="0">
                <a:latin typeface="Bookman Old Style" panose="02050604050505020204" pitchFamily="18" charset="0"/>
              </a:rPr>
              <a:t>Replace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Класс </a:t>
            </a:r>
            <a:r>
              <a:rPr lang="ru-RU" sz="2400" dirty="0" err="1">
                <a:latin typeface="Bookman Old Style" panose="02050604050505020204" pitchFamily="18" charset="0"/>
              </a:rPr>
              <a:t>Regex</a:t>
            </a:r>
            <a:r>
              <a:rPr lang="ru-RU" sz="2400" dirty="0">
                <a:latin typeface="Bookman Old Style" panose="02050604050505020204" pitchFamily="18" charset="0"/>
              </a:rPr>
              <a:t> имеет метод </a:t>
            </a:r>
            <a:r>
              <a:rPr lang="ru-RU" sz="2400" dirty="0" err="1">
                <a:latin typeface="Bookman Old Style" panose="02050604050505020204" pitchFamily="18" charset="0"/>
              </a:rPr>
              <a:t>Replace</a:t>
            </a:r>
            <a:r>
              <a:rPr lang="ru-RU" sz="2400" dirty="0">
                <a:latin typeface="Bookman Old Style" panose="02050604050505020204" pitchFamily="18" charset="0"/>
              </a:rPr>
              <a:t>, который позволяет заменить строку, соответствующую регулярному выражению, другой строкой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text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Мама  мыла  раму. 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pattern = </a:t>
            </a:r>
            <a:r>
              <a:rPr lang="en-US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@"\s+"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target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Regex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regex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Regex(pattern);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result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regex.Replace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(text, target);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(result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Данная версия метода </a:t>
            </a:r>
            <a:r>
              <a:rPr lang="ru-RU" sz="2400" dirty="0" err="1">
                <a:latin typeface="Bookman Old Style" panose="02050604050505020204" pitchFamily="18" charset="0"/>
              </a:rPr>
              <a:t>Replace</a:t>
            </a:r>
            <a:r>
              <a:rPr lang="ru-RU" sz="2400" dirty="0">
                <a:latin typeface="Bookman Old Style" panose="02050604050505020204" pitchFamily="18" charset="0"/>
              </a:rPr>
              <a:t> принимает два параметра: строку с текстом, где надо выполнить замену, и сама строка замены. Так как в качестве шаблона выбрано выражение "\s+ (то есть наличие одного и более пробелов), метод </a:t>
            </a:r>
            <a:r>
              <a:rPr lang="ru-RU" sz="2400" dirty="0" err="1">
                <a:latin typeface="Bookman Old Style" panose="02050604050505020204" pitchFamily="18" charset="0"/>
              </a:rPr>
              <a:t>Replace</a:t>
            </a:r>
            <a:r>
              <a:rPr lang="ru-RU" sz="2400" dirty="0">
                <a:latin typeface="Bookman Old Style" panose="02050604050505020204" pitchFamily="18" charset="0"/>
              </a:rPr>
              <a:t> проходит по всему тексту и заменяет несколько подряд идущих пробелов </a:t>
            </a:r>
            <a:r>
              <a:rPr lang="ru-RU" sz="2400" dirty="0" smtClean="0">
                <a:latin typeface="Bookman Old Style" panose="02050604050505020204" pitchFamily="18" charset="0"/>
              </a:rPr>
              <a:t>одинарными.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968" y="3377454"/>
            <a:ext cx="4551547" cy="67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952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-2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latin typeface="Bookman Old Style" panose="02050604050505020204" pitchFamily="18" charset="0"/>
              </a:rPr>
              <a:t>Другой </a:t>
            </a:r>
            <a:r>
              <a:rPr lang="ru-RU" sz="2400" dirty="0">
                <a:latin typeface="Bookman Old Style" panose="02050604050505020204" pitchFamily="18" charset="0"/>
              </a:rPr>
              <a:t>пример - на вход подается номер телефона в произвольном формате, и мы хотим оставить в нем только цифры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phoneNumber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"+1(876)-234-12-98"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pattern = </a:t>
            </a:r>
            <a:r>
              <a:rPr lang="en-US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@"\D"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target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Regex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regex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Regex(pattern);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result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regex.Replace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phoneNumber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target);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(result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latin typeface="Bookman Old Style" panose="02050604050505020204" pitchFamily="18" charset="0"/>
              </a:rPr>
              <a:t>При замене можно использовать делегаты:</a:t>
            </a:r>
          </a:p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phoneNumber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пример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1, 2 3."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Regex regex = 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Regex(</a:t>
            </a:r>
            <a:r>
              <a:rPr lang="nn-NO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@"\d"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result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regex.Replace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phoneNumber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(s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 =&gt;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$"(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{s}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)"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(result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latin typeface="Bookman Old Style" panose="02050604050505020204" pitchFamily="18" charset="0"/>
              </a:rPr>
              <a:t>В данном примере «</a:t>
            </a:r>
            <a:r>
              <a:rPr lang="en-US" sz="2400" b="1" dirty="0">
                <a:latin typeface="Bookman Old Style" panose="02050604050505020204" pitchFamily="18" charset="0"/>
              </a:rPr>
              <a:t>s</a:t>
            </a:r>
            <a:r>
              <a:rPr lang="ru-RU" sz="2400" dirty="0">
                <a:latin typeface="Bookman Old Style" panose="02050604050505020204" pitchFamily="18" charset="0"/>
              </a:rPr>
              <a:t>» это выражение, соответствующее шаблону.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11790"/>
          <a:stretch/>
        </p:blipFill>
        <p:spPr>
          <a:xfrm>
            <a:off x="7708897" y="1619250"/>
            <a:ext cx="3454403" cy="631725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t="23506"/>
          <a:stretch/>
        </p:blipFill>
        <p:spPr>
          <a:xfrm>
            <a:off x="5954352" y="5626100"/>
            <a:ext cx="5208948" cy="551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76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-2" y="0"/>
            <a:ext cx="12192000" cy="698652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Группы захвата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 создаются с помощью круглых скобок (), которые позволяют извлечь определенные части совпавшей </a:t>
            </a:r>
            <a:r>
              <a:rPr lang="ru-RU" sz="2400" dirty="0" smtClean="0">
                <a:latin typeface="Bookman Old Style" panose="02050604050505020204" pitchFamily="18" charset="0"/>
              </a:rPr>
              <a:t>строки.</a:t>
            </a: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log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"""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        [ERROR] 2023-10-15 14:30:25 Database connection failed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        [INFO] 2023-10-15 14:31:00 User login successful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        [WARN] 2023-10-15 14:32:15 High memory usage detected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        """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smtClean="0">
                <a:solidFill>
                  <a:srgbClr val="001080"/>
                </a:solidFill>
                <a:latin typeface="Consolas" panose="020B0609020204030204" pitchFamily="49" charset="0"/>
              </a:rPr>
              <a:t>pattern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@"\[(\w+)\] (\d{4}-\d{2}-\d{2}) (\d{2}:\d{2}:\d{2}) </a:t>
            </a:r>
            <a:r>
              <a:rPr lang="en-US" sz="20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(.+)"</a:t>
            </a:r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err="1" smtClean="0">
                <a:solidFill>
                  <a:srgbClr val="267F99"/>
                </a:solidFill>
                <a:latin typeface="Consolas" panose="020B0609020204030204" pitchFamily="49" charset="0"/>
              </a:rPr>
              <a:t>MatchCollection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matches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Regex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Matches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log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pattern</a:t>
            </a:r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US" sz="2000" dirty="0" err="1" smtClean="0">
                <a:solidFill>
                  <a:srgbClr val="AF00DB"/>
                </a:solidFill>
                <a:latin typeface="Consolas" panose="020B0609020204030204" pitchFamily="49" charset="0"/>
              </a:rPr>
              <a:t>foreach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Match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match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in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matches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AF00DB"/>
                </a:solidFill>
                <a:latin typeface="Consolas" panose="020B0609020204030204" pitchFamily="49" charset="0"/>
              </a:rPr>
              <a:t>	if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match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Success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	{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		string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level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match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Groups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].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;  </a:t>
            </a:r>
            <a:r>
              <a:rPr lang="en-US" sz="20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//ERROR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en-US" sz="20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INFO, WARN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		string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date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match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Groups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].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2023-10-15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		string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time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match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Groups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].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14:30:25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		string</a:t>
            </a:r>
            <a:r>
              <a:rPr lang="en-US" sz="20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message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match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Groups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].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0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latin typeface="Consolas" panose="020B0609020204030204" pitchFamily="49" charset="0"/>
              </a:rPr>
              <a:t>Сообщение</a:t>
            </a:r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      </a:t>
            </a:r>
          </a:p>
          <a:p>
            <a:r>
              <a:rPr lang="en-US" sz="2000" dirty="0" smtClean="0">
                <a:solidFill>
                  <a:srgbClr val="001080"/>
                </a:solidFill>
                <a:latin typeface="Consolas" panose="020B0609020204030204" pitchFamily="49" charset="0"/>
              </a:rPr>
              <a:t>		</a:t>
            </a:r>
            <a:r>
              <a:rPr lang="en-US" sz="20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000" dirty="0" err="1" smtClean="0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 smtClean="0">
                <a:solidFill>
                  <a:srgbClr val="795E26"/>
                </a:solidFill>
                <a:latin typeface="Consolas" panose="020B0609020204030204" pitchFamily="49" charset="0"/>
              </a:rPr>
              <a:t>WriteLine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ru-RU" sz="2000" dirty="0">
                <a:solidFill>
                  <a:srgbClr val="A31515"/>
                </a:solidFill>
                <a:latin typeface="Consolas" panose="020B0609020204030204" pitchFamily="49" charset="0"/>
              </a:rPr>
              <a:t>Уровень: </a:t>
            </a:r>
            <a:r>
              <a:rPr lang="ru-RU" sz="20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level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, </a:t>
            </a:r>
            <a:r>
              <a:rPr lang="ru-RU" sz="2000" dirty="0">
                <a:solidFill>
                  <a:srgbClr val="A31515"/>
                </a:solidFill>
                <a:latin typeface="Consolas" panose="020B0609020204030204" pitchFamily="49" charset="0"/>
              </a:rPr>
              <a:t>Дата: </a:t>
            </a:r>
            <a:r>
              <a:rPr lang="ru-RU" sz="20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date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, </a:t>
            </a:r>
            <a:r>
              <a:rPr lang="ru-RU" sz="2000" dirty="0">
                <a:solidFill>
                  <a:srgbClr val="A31515"/>
                </a:solidFill>
                <a:latin typeface="Consolas" panose="020B0609020204030204" pitchFamily="49" charset="0"/>
              </a:rPr>
              <a:t>Время: </a:t>
            </a:r>
            <a:r>
              <a:rPr lang="ru-RU" sz="20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time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001080"/>
                </a:solidFill>
                <a:latin typeface="Consolas" panose="020B0609020204030204" pitchFamily="49" charset="0"/>
              </a:rPr>
              <a:t>		</a:t>
            </a:r>
            <a:r>
              <a:rPr lang="en-US" sz="20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000" dirty="0" err="1" smtClean="0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 smtClean="0">
                <a:solidFill>
                  <a:srgbClr val="795E26"/>
                </a:solidFill>
                <a:latin typeface="Consolas" panose="020B0609020204030204" pitchFamily="49" charset="0"/>
              </a:rPr>
              <a:t>WriteLine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ru-RU" sz="2000" dirty="0">
                <a:solidFill>
                  <a:srgbClr val="A31515"/>
                </a:solidFill>
                <a:latin typeface="Consolas" panose="020B0609020204030204" pitchFamily="49" charset="0"/>
              </a:rPr>
              <a:t>Сообщение: </a:t>
            </a:r>
            <a:r>
              <a:rPr lang="ru-RU" sz="20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message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	}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635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-2" y="0"/>
            <a:ext cx="12192000" cy="700191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Динамическое создание регулярного выражения с учетом культурных </a:t>
            </a:r>
            <a:r>
              <a:rPr lang="ru-RU" sz="2400" dirty="0" smtClean="0">
                <a:latin typeface="Bookman Old Style" panose="02050604050505020204" pitchFamily="18" charset="0"/>
              </a:rPr>
              <a:t>особенностей</a:t>
            </a: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Define text to be parsed.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"Office expenses on 2/13/2008: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+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   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"Paper (500 sheets)                      $3.95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+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   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"Pencils (box of 10)                     $1.00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+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   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"Pens (box of 10)                        $4.49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+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   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"Erasers                                 $2.19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+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   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"Ink jet printer                        $69.95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\n\n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+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   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"Total Expenses                        $ 81.58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300" dirty="0">
                <a:solidFill>
                  <a:srgbClr val="008000"/>
                </a:solidFill>
                <a:latin typeface="Consolas" panose="020B0609020204030204" pitchFamily="49" charset="0"/>
              </a:rPr>
              <a:t>// Get current culture's </a:t>
            </a:r>
            <a:r>
              <a:rPr lang="en-US" sz="2300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NumberFormatInfo</a:t>
            </a:r>
            <a:r>
              <a:rPr lang="en-US" sz="2300" dirty="0">
                <a:solidFill>
                  <a:srgbClr val="008000"/>
                </a:solidFill>
                <a:latin typeface="Consolas" panose="020B0609020204030204" pitchFamily="49" charset="0"/>
              </a:rPr>
              <a:t> object.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NumberFormatInfo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nfi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CultureInfo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CurrentCulture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NumberFormat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008000"/>
                </a:solidFill>
                <a:latin typeface="Consolas" panose="020B0609020204030204" pitchFamily="49" charset="0"/>
              </a:rPr>
              <a:t>// Assign needed property values to variables.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currencySymbol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nfi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CurrencySymbol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symbolPrecedesIfPositive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nfi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CurrencyPositivePattern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% 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groupSeparator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nfi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CurrencyGroupSeparator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decimalSeparator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nfi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CurrencyDecimalSeparator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/>
            <a:endParaRPr lang="en-US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8813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-2" y="0"/>
            <a:ext cx="12192000" cy="609397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endParaRPr lang="en-US" sz="2000" dirty="0" smtClean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0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Form regular expression pattern.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pattern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Regex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Escape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symbolPrecedesIfPositive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?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currencySymbol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""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+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     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@"\s*[-+]?"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"([0-9]{0,3}("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groupSeparator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"[0-9]{3})*("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+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     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Regex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Escape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decimalSeparator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"[0-9]+)?)"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+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     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symbolPrecedesIfPositive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?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currencySymbol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""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WriteLine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"The regular expression pattern is:"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WriteLine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   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pattern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Get text that matches regular expression pattern.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MatchCollection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matches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Regex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Matches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pattern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                           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RegexOptions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IgnorePatternWhitespace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WriteLine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$"Found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matches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Count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 matches</a:t>
            </a:r>
            <a:r>
              <a:rPr lang="en-US" sz="20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."</a:t>
            </a:r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9175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-2" y="0"/>
            <a:ext cx="12192000" cy="680186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en-US" sz="2000" dirty="0" smtClean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Get numeric string, convert it to a value, and add it to List object.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List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decimal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&gt;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expenses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List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Decimal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&gt;();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 err="1">
                <a:solidFill>
                  <a:srgbClr val="AF00DB"/>
                </a:solidFill>
                <a:latin typeface="Consolas" panose="020B0609020204030204" pitchFamily="49" charset="0"/>
              </a:rPr>
              <a:t>foreach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Match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match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in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matches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expenses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Add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Decimal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Parse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match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Groups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));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Determine whether total is present and if present, whether it is correct.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decimal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total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AF00DB"/>
                </a:solidFill>
                <a:latin typeface="Consolas" panose="020B0609020204030204" pitchFamily="49" charset="0"/>
              </a:rPr>
              <a:t>foreach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decimal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in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expenses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total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+=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total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/ </a:t>
            </a:r>
            <a:r>
              <a:rPr lang="en-US" sz="20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expenses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expenses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Count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- </a:t>
            </a:r>
            <a:r>
              <a:rPr lang="en-US" sz="20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])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WriteLine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$"The expenses total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expenses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expenses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Count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]: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C2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."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WriteLine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$"The expenses total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total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: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C2</a:t>
            </a:r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0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."</a:t>
            </a:r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2000" dirty="0">
              <a:solidFill>
                <a:srgbClr val="222222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The example displays the following output: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      The regular expression pattern is: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         \$\s*[-+]?([0-9]{0,3}(,[0-9]{3})*(\.[0-9]+)?)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      Found 6 matches.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      The expenses total $81.58.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72131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14697</TotalTime>
  <Words>1636</Words>
  <Application>Microsoft Office PowerPoint</Application>
  <PresentationFormat>Широкоэкранный</PresentationFormat>
  <Paragraphs>385</Paragraphs>
  <Slides>22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30" baseType="lpstr">
      <vt:lpstr>Arial</vt:lpstr>
      <vt:lpstr>Bookman Old Style</vt:lpstr>
      <vt:lpstr>Calibri</vt:lpstr>
      <vt:lpstr>Calibri Light</vt:lpstr>
      <vt:lpstr>Cascadia Mono</vt:lpstr>
      <vt:lpstr>Consolas</vt:lpstr>
      <vt:lpstr>Times New Roman</vt:lpstr>
      <vt:lpstr>Тема Office</vt:lpstr>
      <vt:lpstr>3 семестр Лекция 6. Регулярные выражения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m10</cp:lastModifiedBy>
  <cp:revision>805</cp:revision>
  <dcterms:modified xsi:type="dcterms:W3CDTF">2025-09-29T07:53:40Z</dcterms:modified>
</cp:coreProperties>
</file>