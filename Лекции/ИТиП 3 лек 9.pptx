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2"/>
  </p:notesMasterIdLst>
  <p:sldIdLst>
    <p:sldId id="273" r:id="rId2"/>
    <p:sldId id="1112" r:id="rId3"/>
    <p:sldId id="1087" r:id="rId4"/>
    <p:sldId id="1122" r:id="rId5"/>
    <p:sldId id="1123" r:id="rId6"/>
    <p:sldId id="1124" r:id="rId7"/>
    <p:sldId id="1125" r:id="rId8"/>
    <p:sldId id="1130" r:id="rId9"/>
    <p:sldId id="1131" r:id="rId10"/>
    <p:sldId id="1137" r:id="rId11"/>
    <p:sldId id="1142" r:id="rId12"/>
    <p:sldId id="1138" r:id="rId13"/>
    <p:sldId id="1139" r:id="rId14"/>
    <p:sldId id="1140" r:id="rId15"/>
    <p:sldId id="1141" r:id="rId16"/>
    <p:sldId id="1143" r:id="rId17"/>
    <p:sldId id="1144" r:id="rId18"/>
    <p:sldId id="1145" r:id="rId19"/>
    <p:sldId id="1146" r:id="rId20"/>
    <p:sldId id="1147" r:id="rId21"/>
    <p:sldId id="1148" r:id="rId22"/>
    <p:sldId id="1149" r:id="rId23"/>
    <p:sldId id="1132" r:id="rId24"/>
    <p:sldId id="1133" r:id="rId25"/>
    <p:sldId id="1134" r:id="rId26"/>
    <p:sldId id="1135" r:id="rId27"/>
    <p:sldId id="1136" r:id="rId28"/>
    <p:sldId id="1101" r:id="rId29"/>
    <p:sldId id="1150" r:id="rId30"/>
    <p:sldId id="1152" r:id="rId31"/>
    <p:sldId id="1151" r:id="rId32"/>
    <p:sldId id="1153" r:id="rId33"/>
    <p:sldId id="1154" r:id="rId34"/>
    <p:sldId id="1155" r:id="rId35"/>
    <p:sldId id="1156" r:id="rId36"/>
    <p:sldId id="1157" r:id="rId37"/>
    <p:sldId id="1158" r:id="rId38"/>
    <p:sldId id="1159" r:id="rId39"/>
    <p:sldId id="1160" r:id="rId40"/>
    <p:sldId id="1161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" initials="m10" lastIdx="1" clrIdx="0">
    <p:extLst>
      <p:ext uri="{19B8F6BF-5375-455C-9EA6-DF929625EA0E}">
        <p15:presenceInfo xmlns:p15="http://schemas.microsoft.com/office/powerpoint/2012/main" userId="m10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79402" autoAdjust="0"/>
  </p:normalViewPr>
  <p:slideViewPr>
    <p:cSldViewPr snapToGrid="0">
      <p:cViewPr>
        <p:scale>
          <a:sx n="75" d="100"/>
          <a:sy n="75" d="100"/>
        </p:scale>
        <p:origin x="1818" y="3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6441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9256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12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829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4227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186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784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6064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473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629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918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826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3819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3798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4005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581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2598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421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3219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6016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2127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2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5381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9716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940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0897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3856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0663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1144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6584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21593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8629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448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8768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483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53209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861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5333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84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ketplace.visualstudio.com/items?itemName=AvaloniaTeam.AvaloniaV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xmlns="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2587437"/>
            <a:ext cx="8978016" cy="1687197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3 семестр</a:t>
            </a:r>
            <a:b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9.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7B00361-5492-4290-B470-295172C16526}"/>
              </a:ext>
            </a:extLst>
          </p:cNvPr>
          <p:cNvSpPr txBox="1"/>
          <p:nvPr/>
        </p:nvSpPr>
        <p:spPr>
          <a:xfrm>
            <a:off x="877031" y="4274634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Avalonia</a:t>
            </a:r>
            <a:endParaRPr lang="ru-RU" sz="28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Начало работы</a:t>
            </a:r>
            <a:endParaRPr lang="en-US" sz="28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Reactive 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Программа на </a:t>
            </a:r>
            <a:r>
              <a:rPr lang="en-US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C# Avalonia + Reactive UI + </a:t>
            </a: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MVVM</a:t>
            </a:r>
            <a:endParaRPr lang="en-US" sz="28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6" descr="Avalonia UI (@avaloniaui@dotnet.social) - dotnet.social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1240" y="3279015"/>
            <a:ext cx="4374801" cy="1458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— это кроссплатформенный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фреймворк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для построения графических пользовательских интерфейсов (GUI)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на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основе XAML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Разработана на основе WPF/UWP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и распространяемая под лицензией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MIT.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Ранее называлась </a:t>
            </a:r>
            <a:r>
              <a:rPr lang="ru-RU" sz="2400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Perspex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Полностью поддерживает .NET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Core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2.0, XAML, дата-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биндинги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lookless-контролы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и многое другое.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позволяет писать на C# приложения под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macOS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Начиная с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11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preview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1 появилась возможность запуска на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iOS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Android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Web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(без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Blazor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 в экспериментальном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состоянии.</a:t>
            </a: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Год </a:t>
            </a:r>
            <a:r>
              <a:rPr lang="ru-RU" sz="2400" b="1" dirty="0">
                <a:latin typeface="Bookman Old Style" panose="02050604050505020204" pitchFamily="18" charset="0"/>
              </a:rPr>
              <a:t>рождения: </a:t>
            </a:r>
            <a:r>
              <a:rPr lang="ru-RU" sz="2400" dirty="0">
                <a:latin typeface="Bookman Old Style" panose="02050604050505020204" pitchFamily="18" charset="0"/>
              </a:rPr>
              <a:t>~2013 (первый 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), стабильное и широкое признание получил с выходом .NET </a:t>
            </a:r>
            <a:r>
              <a:rPr lang="ru-RU" sz="2400" dirty="0" err="1">
                <a:latin typeface="Bookman Old Style" panose="02050604050505020204" pitchFamily="18" charset="0"/>
              </a:rPr>
              <a:t>Core</a:t>
            </a:r>
            <a:r>
              <a:rPr lang="ru-RU" sz="2400" dirty="0">
                <a:latin typeface="Bookman Old Style" panose="02050604050505020204" pitchFamily="18" charset="0"/>
              </a:rPr>
              <a:t> и .NET 5+.</a:t>
            </a: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6205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Кроссплатформенность 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– свойство 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программного обеспечения, позволяющее ему работать с несколькими операционными системами или аппаратными платформами без изменения исходного кода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Привязка данных (</a:t>
            </a:r>
            <a:r>
              <a:rPr lang="ru-RU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Data</a:t>
            </a: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Binding</a:t>
            </a: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) 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– механизм 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автоматической синхронизации данных между пользовательским интерфейсом (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) и источником данных (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Model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). При изменении данных в коде интерфейс автоматически обновляется, и наоборот.</a:t>
            </a:r>
            <a:endParaRPr lang="ru-RU" sz="2400" i="0" dirty="0">
              <a:solidFill>
                <a:srgbClr val="0F1115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635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</a:t>
            </a:r>
            <a:r>
              <a:rPr lang="ru-RU" sz="2400" dirty="0" smtClean="0">
                <a:latin typeface="Bookman Old Style" panose="02050604050505020204" pitchFamily="18" charset="0"/>
              </a:rPr>
              <a:t>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Avalonia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установить шаблоны, для этого нужно запустить консоль и выполнить команду: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dotnet</a:t>
            </a:r>
            <a:r>
              <a:rPr lang="en-US" sz="2400" b="1" dirty="0">
                <a:latin typeface="Bookman Old Style" panose="02050604050505020204" pitchFamily="18" charset="0"/>
              </a:rPr>
              <a:t> new install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Avalonia.Templates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поддержки </a:t>
            </a:r>
            <a:r>
              <a:rPr lang="ru-RU" sz="2400" dirty="0" err="1" smtClean="0">
                <a:latin typeface="Bookman Old Style" panose="02050604050505020204" pitchFamily="18" charset="0"/>
              </a:rPr>
              <a:t>Avalonia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Visual Studio</a:t>
            </a:r>
            <a:r>
              <a:rPr lang="ru-RU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необходимо установить расширение </a:t>
            </a:r>
            <a:r>
              <a:rPr lang="en-US" sz="2400" dirty="0" err="1" smtClean="0">
                <a:latin typeface="Bookman Old Style" panose="02050604050505020204" pitchFamily="18" charset="0"/>
                <a:hlinkClick r:id="rId3"/>
              </a:rPr>
              <a:t>Avalonia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  <a:hlinkClick r:id="rId3"/>
              </a:rPr>
              <a:t>для 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Visual Studio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Начало работы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r="41887" b="73103"/>
          <a:stretch/>
        </p:blipFill>
        <p:spPr>
          <a:xfrm>
            <a:off x="2576456" y="2373052"/>
            <a:ext cx="7039088" cy="1703842"/>
          </a:xfrm>
          <a:prstGeom prst="rect">
            <a:avLst/>
          </a:prstGeom>
        </p:spPr>
      </p:pic>
      <p:pic>
        <p:nvPicPr>
          <p:cNvPr id="2050" name="Picture 2" descr="https://docs.avaloniaui.net/ru/assets/images/avalonia-vs-extension-marketplace-29ba385ebf3970599ba0985c661cec55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764" y="4926752"/>
            <a:ext cx="5247213" cy="160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6706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173624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создать проект в рамках шаблона </a:t>
            </a:r>
            <a:r>
              <a:rPr lang="en-US" sz="2400" dirty="0" smtClean="0">
                <a:latin typeface="Bookman Old Style" panose="02050604050505020204" pitchFamily="18" charset="0"/>
              </a:rPr>
              <a:t>MVVM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выбрать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Остальные пункты </a:t>
            </a:r>
            <a:r>
              <a:rPr lang="ru-RU" sz="2400" dirty="0" err="1" smtClean="0">
                <a:latin typeface="Bookman Old Style" panose="02050604050505020204" pitchFamily="18" charset="0"/>
              </a:rPr>
              <a:t>прокликиваются</a:t>
            </a:r>
            <a:r>
              <a:rPr lang="ru-RU" sz="2400" dirty="0" smtClean="0">
                <a:latin typeface="Bookman Old Style" panose="02050604050505020204" pitchFamily="18" charset="0"/>
              </a:rPr>
              <a:t> далее.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49" y="903642"/>
            <a:ext cx="12076901" cy="194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28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116474"/>
            <a:ext cx="6832869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Структура проекта: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Assets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статические файлы ресурсов (иконки, стили и др.)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Models</a:t>
            </a:r>
            <a:r>
              <a:rPr lang="ru-RU" sz="2400" b="1" dirty="0" smtClean="0">
                <a:latin typeface="Bookman Old Style" panose="02050604050505020204" pitchFamily="18" charset="0"/>
              </a:rPr>
              <a:t>,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ViewModels</a:t>
            </a:r>
            <a:r>
              <a:rPr lang="en-US" sz="2400" b="1" dirty="0" smtClean="0">
                <a:latin typeface="Bookman Old Style" panose="02050604050505020204" pitchFamily="18" charset="0"/>
              </a:rPr>
              <a:t>, Views </a:t>
            </a:r>
            <a:r>
              <a:rPr lang="en-US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модели, модели представлений и представления согласно паттерну </a:t>
            </a:r>
            <a:r>
              <a:rPr lang="en-US" sz="2400" dirty="0" smtClean="0">
                <a:latin typeface="Bookman Old Style" panose="02050604050505020204" pitchFamily="18" charset="0"/>
              </a:rPr>
              <a:t>MVVM.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App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точка для запуска основного окна (</a:t>
            </a:r>
            <a:r>
              <a:rPr lang="en-US" sz="2400" dirty="0" err="1" smtClean="0">
                <a:latin typeface="Bookman Old Style" panose="02050604050505020204" pitchFamily="18" charset="0"/>
              </a:rPr>
              <a:t>MainWindow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Program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точка входа в программу.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ViewLocator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вспомогательный класс, автоматически связывает </a:t>
            </a:r>
            <a:r>
              <a:rPr lang="en-US" sz="2400" dirty="0" smtClean="0">
                <a:latin typeface="Bookman Old Style" panose="02050604050505020204" pitchFamily="18" charset="0"/>
              </a:rPr>
              <a:t>Views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err="1" smtClean="0">
                <a:latin typeface="Bookman Old Style" panose="02050604050505020204" pitchFamily="18" charset="0"/>
              </a:rPr>
              <a:t>ViewModels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по именам.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69" y="250655"/>
            <a:ext cx="5143978" cy="5022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116474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Базовый проект включает следующую модель представления </a:t>
            </a:r>
            <a:r>
              <a:rPr lang="en-US" sz="2400" dirty="0" err="1" smtClean="0">
                <a:highlight>
                  <a:srgbClr val="FFFFFF"/>
                </a:highlight>
                <a:latin typeface="Bookman Old Style" panose="02050604050505020204" pitchFamily="18" charset="0"/>
              </a:rPr>
              <a:t>MainWindowViewModel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highlight>
                  <a:srgbClr val="FFFFFF"/>
                </a:highlight>
                <a:latin typeface="Bookman Old Style" panose="02050604050505020204" pitchFamily="18" charset="0"/>
              </a:rPr>
              <a:t>cs</a:t>
            </a:r>
            <a:r>
              <a:rPr lang="en-US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:</a:t>
            </a: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AvaloniaApplication1.ViewModels;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ViewModelBase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Greeting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"Welcome to 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2274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617196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Представление</a:t>
            </a:r>
            <a:r>
              <a:rPr lang="en-US" sz="2400" dirty="0">
                <a:highlight>
                  <a:srgbClr val="FFFFFF"/>
                </a:highlight>
                <a:latin typeface="Bookman Old Style" panose="02050604050505020204" pitchFamily="18" charset="0"/>
              </a:rPr>
              <a:t> </a:t>
            </a:r>
            <a:r>
              <a:rPr lang="en-US" sz="2400" dirty="0" err="1">
                <a:highlight>
                  <a:srgbClr val="FFFFFF"/>
                </a:highlight>
                <a:latin typeface="Bookman Old Style" panose="02050604050505020204" pitchFamily="18" charset="0"/>
              </a:rPr>
              <a:t>MainWindow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highlight>
                  <a:srgbClr val="FFFFFF"/>
                </a:highlight>
                <a:latin typeface="Bookman Old Style" panose="02050604050505020204" pitchFamily="18" charset="0"/>
              </a:rPr>
              <a:t>xaml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:</a:t>
            </a:r>
            <a:endParaRPr lang="en-US" sz="2400" dirty="0"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endParaRPr lang="en-US" sz="20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Window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https://github.com/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avaloniaui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xmlns:x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http://schemas.microsoft.com/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winfx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/2006/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xaml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xmlns:vm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using:AvaloniaApplication1.ViewModels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xmlns:d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http://schemas.microsoft.com/expression/blend/2008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xmlns:mc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http://schemas.openxmlformats.org/markup-compatibility/2006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mc:Ignorable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d:DesignWidth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800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d:DesignHeight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450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x:Class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AvaloniaApplication1.Views.MainWindow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x:DataType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vm:MainWindowViewModel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Icon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/Assets/avalonia-logo.ico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Title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AvaloniaApplication1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vm:MainWindowViewModel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{Binding Greeting}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VerticalAlignment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Center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&lt;/Window</a:t>
            </a:r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88986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918" y="562016"/>
            <a:ext cx="8444163" cy="5733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86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Базовые элементы управления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654356"/>
            <a:ext cx="12192000" cy="2123658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1. Кнопки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Обычная кнопка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Click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Button_Click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ToggleButton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Переключаемая кнопка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RepeatButton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Кнопка-повторитель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“</a:t>
            </a:r>
            <a:endParaRPr lang="en-US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				 </a:t>
            </a:r>
            <a:r>
              <a:rPr lang="en-US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Delay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500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Interval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t="12027" b="14363"/>
          <a:stretch/>
        </p:blipFill>
        <p:spPr>
          <a:xfrm>
            <a:off x="3295651" y="2971801"/>
            <a:ext cx="6434312" cy="329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36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3600986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2</a:t>
            </a:r>
            <a:r>
              <a:rPr lang="ru-RU" sz="2400" b="1" dirty="0">
                <a:latin typeface="Bookman Old Style" panose="02050604050505020204" pitchFamily="18" charset="0"/>
              </a:rPr>
              <a:t>. Текстовые </a:t>
            </a:r>
            <a:r>
              <a:rPr lang="ru-RU" sz="2400" b="1" dirty="0" smtClean="0">
                <a:latin typeface="Bookman Old Style" panose="02050604050505020204" pitchFamily="18" charset="0"/>
              </a:rPr>
              <a:t>элементы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Простой текст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Статический текст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16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Поле ввода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Name}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Watermark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Введите имя</a:t>
            </a:r>
            <a:r>
              <a:rPr lang="ru-RU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Пароль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PasswordChar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*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Password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Многострочный текст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AcceptsReturn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TextWrapping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Wrap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49835"/>
          <a:stretch/>
        </p:blipFill>
        <p:spPr>
          <a:xfrm>
            <a:off x="781050" y="3984172"/>
            <a:ext cx="3838696" cy="2454728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t="50210"/>
          <a:stretch/>
        </p:blipFill>
        <p:spPr>
          <a:xfrm>
            <a:off x="4895850" y="4248150"/>
            <a:ext cx="3838696" cy="2436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177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433965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3. Элементы </a:t>
            </a:r>
            <a:r>
              <a:rPr lang="ru-RU" sz="2400" b="1" dirty="0" smtClean="0">
                <a:latin typeface="Bookman Old Style" panose="02050604050505020204" pitchFamily="18" charset="0"/>
              </a:rPr>
              <a:t>выбора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Чекбокс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CheckBox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Согласен с </a:t>
            </a:r>
            <a:r>
              <a:rPr lang="ru-RU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условиями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		  </a:t>
            </a:r>
            <a:r>
              <a:rPr lang="en-US" sz="2400" dirty="0" err="1" smtClean="0">
                <a:solidFill>
                  <a:srgbClr val="FF0000"/>
                </a:solidFill>
                <a:latin typeface="Consolas" panose="020B0609020204030204" pitchFamily="49" charset="0"/>
              </a:rPr>
              <a:t>IsChecked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IsAgreed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Радио-кнопки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RadioButton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GroupName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Group1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				  </a:t>
            </a:r>
            <a:r>
              <a:rPr lang="en-US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Вариант 1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IsChecked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Option1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RadioButton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GroupName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Group1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				  </a:t>
            </a:r>
            <a:r>
              <a:rPr lang="en-US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Вариант 2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IsChecked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Option2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2320" y="4001794"/>
            <a:ext cx="4367359" cy="2608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1104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Выпадающий список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ComboBox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Items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			  </a:t>
            </a:r>
            <a:r>
              <a:rPr lang="en-US" sz="2400" dirty="0" err="1" smtClean="0">
                <a:solidFill>
                  <a:srgbClr val="FF0000"/>
                </a:solidFill>
                <a:latin typeface="Consolas" panose="020B0609020204030204" pitchFamily="49" charset="0"/>
              </a:rPr>
              <a:t>SelectedItem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SelectedItem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ComboBox.ItemTemplate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Name}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ComboBox.ItemTemplate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ComboBox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Список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ListBox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Users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latin typeface="Consolas" panose="020B0609020204030204" pitchFamily="49" charset="0"/>
              </a:rPr>
              <a:t>			 </a:t>
            </a:r>
            <a:r>
              <a:rPr lang="en-US" sz="2400" dirty="0" err="1" smtClean="0">
                <a:solidFill>
                  <a:srgbClr val="FF0000"/>
                </a:solidFill>
                <a:latin typeface="Consolas" panose="020B0609020204030204" pitchFamily="49" charset="0"/>
              </a:rPr>
              <a:t>SelectedItem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SelectedUser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53329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710963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4. Элементы для работы с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числами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Ползунок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Slider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Minimum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Maximum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Value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Volume}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Счетчик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NumericUpDown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Value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Age}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Minimum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Maximum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120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5</a:t>
            </a:r>
            <a:r>
              <a:rPr lang="ru-RU" sz="2400" b="1" dirty="0">
                <a:solidFill>
                  <a:srgbClr val="000000"/>
                </a:solidFill>
                <a:latin typeface="Bookman Old Style" panose="02050604050505020204" pitchFamily="18" charset="0"/>
              </a:rPr>
              <a:t>.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Изображения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&lt;Image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image.png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&lt;Image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ImagePath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746" y="2657788"/>
            <a:ext cx="4934507" cy="237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6706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Контейнеры для компоновки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654356"/>
            <a:ext cx="12192000" cy="3046988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1.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StackPanel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- </a:t>
            </a:r>
            <a:r>
              <a:rPr lang="ru-RU" sz="2400" b="1" dirty="0">
                <a:latin typeface="Bookman Old Style" panose="02050604050505020204" pitchFamily="18" charset="0"/>
              </a:rPr>
              <a:t>линейное </a:t>
            </a:r>
            <a:r>
              <a:rPr lang="ru-RU" sz="2400" b="1" dirty="0" smtClean="0">
                <a:latin typeface="Bookman Old Style" panose="02050604050505020204" pitchFamily="18" charset="0"/>
              </a:rPr>
              <a:t>расположение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Orientation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Vertical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Spacing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Первый элемент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Кнопка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CheckBox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Чекбокс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5327" y="2246296"/>
            <a:ext cx="3332170" cy="2910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6714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12680"/>
            <a:ext cx="12192000" cy="341632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2. Grid - </a:t>
            </a:r>
            <a:r>
              <a:rPr lang="ru-RU" sz="2400" b="1" dirty="0">
                <a:latin typeface="Bookman Old Style" panose="02050604050505020204" pitchFamily="18" charset="0"/>
              </a:rPr>
              <a:t>табличное </a:t>
            </a:r>
            <a:r>
              <a:rPr lang="ru-RU" sz="2400" b="1" dirty="0" smtClean="0">
                <a:latin typeface="Bookman Old Style" panose="02050604050505020204" pitchFamily="18" charset="0"/>
              </a:rPr>
              <a:t>расположение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&lt;Grid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ColumnDefinitions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100,*,Auto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RowDefinitions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Auto,*,Auto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Grid.Row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Grid.Column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Заголовок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Grid.Row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Grid.Column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Grid.ColumnSpan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Контент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Grid.Row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Grid.Column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OK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&lt;/Grid&gt;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089" y="2461186"/>
            <a:ext cx="5641451" cy="4267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008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3785652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3. </a:t>
            </a:r>
            <a:r>
              <a:rPr lang="ru-RU" sz="2400" b="1" dirty="0" err="1">
                <a:latin typeface="Bookman Old Style" panose="02050604050505020204" pitchFamily="18" charset="0"/>
              </a:rPr>
              <a:t>DockPanel</a:t>
            </a:r>
            <a:r>
              <a:rPr lang="ru-RU" sz="2400" b="1" dirty="0">
                <a:latin typeface="Bookman Old Style" panose="02050604050505020204" pitchFamily="18" charset="0"/>
              </a:rPr>
              <a:t> - прикрепление к </a:t>
            </a:r>
            <a:r>
              <a:rPr lang="ru-RU" sz="2400" b="1" dirty="0" smtClean="0">
                <a:latin typeface="Bookman Old Style" panose="02050604050505020204" pitchFamily="18" charset="0"/>
              </a:rPr>
              <a:t>краям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DockPanel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&lt;Menu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DockPanel.Dock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Top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Меню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Menu&gt;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ProgressBar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Value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75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DockPanel.Dock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Bottom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25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ProgressBar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DockPanel.Dock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Left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ContentControl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DockPanel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2475235"/>
            <a:ext cx="5715896" cy="4302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3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2862322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4. Canvas - </a:t>
            </a:r>
            <a:r>
              <a:rPr lang="ru-RU" sz="2400" b="1" dirty="0">
                <a:latin typeface="Bookman Old Style" panose="02050604050505020204" pitchFamily="18" charset="0"/>
              </a:rPr>
              <a:t>абсолютное </a:t>
            </a:r>
            <a:r>
              <a:rPr lang="ru-RU" sz="2400" b="1" dirty="0" smtClean="0">
                <a:latin typeface="Bookman Old Style" panose="02050604050505020204" pitchFamily="18" charset="0"/>
              </a:rPr>
              <a:t>позиционирование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&lt;Canvas&gt;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&lt;Rectangle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Canvas.Left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50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Canvas.Top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30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50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Fill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Red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&lt;Ellipse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Canvas.Left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Canvas.Top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80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80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Fill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Blue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&lt;/Canvas&gt;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358" y="2201530"/>
            <a:ext cx="5915851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744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Специальные элементы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654356"/>
            <a:ext cx="12192000" cy="590931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1.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StackPanel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- </a:t>
            </a:r>
            <a:r>
              <a:rPr lang="ru-RU" sz="2400" b="1" dirty="0">
                <a:latin typeface="Bookman Old Style" panose="02050604050505020204" pitchFamily="18" charset="0"/>
              </a:rPr>
              <a:t>линейное </a:t>
            </a:r>
            <a:r>
              <a:rPr lang="ru-RU" sz="2400" b="1" dirty="0" smtClean="0">
                <a:latin typeface="Bookman Old Style" panose="02050604050505020204" pitchFamily="18" charset="0"/>
              </a:rPr>
              <a:t>расположение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{Binding Users}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FF0000"/>
                </a:solidFill>
                <a:latin typeface="Consolas" panose="020B0609020204030204" pitchFamily="49" charset="0"/>
              </a:rPr>
              <a:t>AutoGenerateColumns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DataGrid.Columns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DataGridTextColumn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FF"/>
                </a:solidFill>
                <a:latin typeface="Consolas" panose="020B0609020204030204" pitchFamily="49" charset="0"/>
              </a:rPr>
              <a:t>Имя</a:t>
            </a:r>
            <a:r>
              <a:rPr lang="ru-RU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FF0000"/>
                </a:solidFill>
                <a:latin typeface="Consolas" panose="020B0609020204030204" pitchFamily="49" charset="0"/>
              </a:rPr>
              <a:t>Binding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{Binding Name}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DataGridCheckBoxColumn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FF"/>
                </a:solidFill>
                <a:latin typeface="Consolas" panose="020B0609020204030204" pitchFamily="49" charset="0"/>
              </a:rPr>
              <a:t>Активен</a:t>
            </a:r>
            <a:r>
              <a:rPr lang="ru-RU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FF0000"/>
                </a:solidFill>
                <a:latin typeface="Consolas" panose="020B0609020204030204" pitchFamily="49" charset="0"/>
              </a:rPr>
              <a:t>Binding</a:t>
            </a:r>
            <a:r>
              <a:rPr lang="en-US" sz="21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IsActive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DataGrid.Columns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100" dirty="0" err="1">
                <a:solidFill>
                  <a:srgbClr val="800000"/>
                </a:solidFill>
                <a:latin typeface="Consolas" panose="020B0609020204030204" pitchFamily="49" charset="0"/>
              </a:rPr>
              <a:t>DataGrid</a:t>
            </a:r>
            <a:r>
              <a:rPr lang="en-US" sz="21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1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b="1" dirty="0" smtClean="0">
              <a:solidFill>
                <a:srgbClr val="0F1115"/>
              </a:solidFill>
              <a:latin typeface="quote-cjk-patch"/>
            </a:endParaRPr>
          </a:p>
          <a:p>
            <a:r>
              <a:rPr lang="en-US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2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. </a:t>
            </a:r>
            <a:r>
              <a:rPr lang="en-US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TreeView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 - </a:t>
            </a: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дерево элементов</a:t>
            </a: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Categories}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TreeView.ItemTemplate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TreeDataTemplate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ItemsSource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SubCategories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Name}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TreeDataTemplate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TreeView.ItemTemplate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TreeView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684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4154984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en-US" sz="2400" b="1" dirty="0" smtClean="0">
              <a:solidFill>
                <a:srgbClr val="0F1115"/>
              </a:solidFill>
              <a:latin typeface="quote-cjk-patch"/>
            </a:endParaRPr>
          </a:p>
          <a:p>
            <a:r>
              <a:rPr lang="en-US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3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. </a:t>
            </a:r>
            <a:r>
              <a:rPr lang="en-US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TabControl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 - </a:t>
            </a: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вкладки</a:t>
            </a:r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endParaRPr lang="en-US" sz="2400" b="1" dirty="0" smtClean="0">
              <a:solidFill>
                <a:srgbClr val="0F1115"/>
              </a:solidFill>
              <a:latin typeface="quote-cjk-patch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TabControl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Вкладка 1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Содержимое первой вкладки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TabItem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Вкладка 2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Button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Кнопка на второй вкладке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TabItem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TabControl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376640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r>
              <a:rPr lang="en-US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4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. Menu </a:t>
            </a: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и </a:t>
            </a:r>
            <a:r>
              <a:rPr lang="en-US" sz="2400" b="1" dirty="0" err="1" smtClean="0">
                <a:solidFill>
                  <a:srgbClr val="0F1115"/>
                </a:solidFill>
                <a:latin typeface="Bookman Old Style" panose="02050604050505020204" pitchFamily="18" charset="0"/>
              </a:rPr>
              <a:t>ContextMenu</a:t>
            </a:r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endParaRPr lang="en-US" sz="2400" b="1" dirty="0">
              <a:solidFill>
                <a:srgbClr val="0F1115"/>
              </a:solidFill>
              <a:latin typeface="quote-cjk-patch"/>
            </a:endParaRP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Главное меню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Menu&gt;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Файл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Открыть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OpenCommand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Сохранить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SaveCommand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&lt;Separator/&gt;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Header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Выход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ExitCommand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CD3131"/>
                </a:solidFill>
                <a:latin typeface="Consolas" panose="020B0609020204030204" pitchFamily="49" charset="0"/>
              </a:rPr>
              <a:t>/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CD3131"/>
                </a:solidFill>
                <a:latin typeface="Consolas" panose="020B0609020204030204" pitchFamily="49" charset="0"/>
              </a:rPr>
              <a:t>MenuItem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&lt;/Menu&gt;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Контекстное меню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ContextMenu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StaticResource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TextContextMenu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550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r>
              <a:rPr lang="en-US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5. 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  </a:t>
            </a:r>
            <a:r>
              <a:rPr lang="en-US" sz="2400" b="1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ScrollViewer</a:t>
            </a:r>
            <a:r>
              <a:rPr lang="en-US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 - </a:t>
            </a: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прокрутка</a:t>
            </a:r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endParaRPr lang="ru-RU" sz="2400" b="1" dirty="0">
              <a:solidFill>
                <a:srgbClr val="0F1115"/>
              </a:solidFill>
              <a:latin typeface="quote-cjk-patch"/>
            </a:endParaRPr>
          </a:p>
          <a:p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ScrollViewer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HorizontalScrollBarVisibility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VerticalScrollBarVisibility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Длинный контент --&gt;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ScrollViewer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466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Reactive </a:t>
            </a:r>
            <a:r>
              <a:rPr lang="ru-RU" sz="2400" b="1" dirty="0">
                <a:latin typeface="Bookman Old Style" panose="02050604050505020204" pitchFamily="18" charset="0"/>
              </a:rPr>
              <a:t>UI (</a:t>
            </a:r>
            <a:r>
              <a:rPr lang="ru-RU" sz="2400" b="1" dirty="0" err="1">
                <a:latin typeface="Bookman Old Style" panose="02050604050505020204" pitchFamily="18" charset="0"/>
              </a:rPr>
              <a:t>RxUI</a:t>
            </a:r>
            <a:r>
              <a:rPr lang="ru-RU" sz="2400" b="1" dirty="0">
                <a:latin typeface="Bookman Old Style" panose="02050604050505020204" pitchFamily="18" charset="0"/>
              </a:rPr>
              <a:t>) </a:t>
            </a:r>
            <a:r>
              <a:rPr lang="ru-RU" sz="2400" dirty="0">
                <a:latin typeface="Bookman Old Style" panose="02050604050505020204" pitchFamily="18" charset="0"/>
              </a:rPr>
              <a:t>— это </a:t>
            </a:r>
            <a:r>
              <a:rPr lang="ru-RU" sz="2400" dirty="0" err="1">
                <a:latin typeface="Bookman Old Style" panose="02050604050505020204" pitchFamily="18" charset="0"/>
              </a:rPr>
              <a:t>фреймворк</a:t>
            </a:r>
            <a:r>
              <a:rPr lang="ru-RU" sz="2400" dirty="0">
                <a:latin typeface="Bookman Old Style" panose="02050604050505020204" pitchFamily="18" charset="0"/>
              </a:rPr>
              <a:t>, построенный на основе реактивного программирования (Reactive </a:t>
            </a:r>
            <a:r>
              <a:rPr lang="ru-RU" sz="2400" dirty="0" err="1">
                <a:latin typeface="Bookman Old Style" panose="02050604050505020204" pitchFamily="18" charset="0"/>
              </a:rPr>
              <a:t>Extensions</a:t>
            </a:r>
            <a:r>
              <a:rPr lang="ru-RU" sz="2400" dirty="0">
                <a:latin typeface="Bookman Old Style" panose="02050604050505020204" pitchFamily="18" charset="0"/>
              </a:rPr>
              <a:t>, или </a:t>
            </a:r>
            <a:r>
              <a:rPr lang="ru-RU" sz="2400" dirty="0" err="1">
                <a:latin typeface="Bookman Old Style" panose="02050604050505020204" pitchFamily="18" charset="0"/>
              </a:rPr>
              <a:t>Rx</a:t>
            </a:r>
            <a:r>
              <a:rPr lang="ru-RU" sz="2400" dirty="0">
                <a:latin typeface="Bookman Old Style" panose="02050604050505020204" pitchFamily="18" charset="0"/>
              </a:rPr>
              <a:t>), который позволяет создавать приложения, реагирующие на изменения данных, используя наблюдаемые последовательности (</a:t>
            </a:r>
            <a:r>
              <a:rPr lang="ru-RU" sz="2400" dirty="0" err="1">
                <a:latin typeface="Bookman Old Style" panose="02050604050505020204" pitchFamily="18" charset="0"/>
              </a:rPr>
              <a:t>Observables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Зачем он </a:t>
            </a:r>
            <a:r>
              <a:rPr lang="ru-RU" sz="2400" b="1" dirty="0" smtClean="0">
                <a:latin typeface="Bookman Old Style" panose="02050604050505020204" pitchFamily="18" charset="0"/>
              </a:rPr>
              <a:t>нужен?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Упрощение MVVM: </a:t>
            </a:r>
            <a:r>
              <a:rPr lang="ru-RU" sz="2400" dirty="0">
                <a:latin typeface="Bookman Old Style" panose="02050604050505020204" pitchFamily="18" charset="0"/>
              </a:rPr>
              <a:t>Избавляет от рутинного кода (вызовов </a:t>
            </a:r>
            <a:r>
              <a:rPr lang="ru-RU" sz="2400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dirty="0">
                <a:latin typeface="Bookman Old Style" panose="02050604050505020204" pitchFamily="18" charset="0"/>
              </a:rPr>
              <a:t>, команд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Мощные привязки</a:t>
            </a:r>
            <a:r>
              <a:rPr lang="ru-RU" sz="2400" dirty="0">
                <a:latin typeface="Bookman Old Style" panose="02050604050505020204" pitchFamily="18" charset="0"/>
              </a:rPr>
              <a:t>: Позволяет привязывать не только свойства, но и целые потоки событий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Управление состоянием: </a:t>
            </a:r>
            <a:r>
              <a:rPr lang="ru-RU" sz="2400" dirty="0">
                <a:latin typeface="Bookman Old Style" panose="02050604050505020204" pitchFamily="18" charset="0"/>
              </a:rPr>
              <a:t>Упрощает обработку асинхронных операций, </a:t>
            </a:r>
            <a:r>
              <a:rPr lang="ru-RU" sz="2400" dirty="0" err="1">
                <a:latin typeface="Bookman Old Style" panose="02050604050505020204" pitchFamily="18" charset="0"/>
              </a:rPr>
              <a:t>валидации</a:t>
            </a:r>
            <a:r>
              <a:rPr lang="ru-RU" sz="2400" dirty="0">
                <a:latin typeface="Bookman Old Style" panose="02050604050505020204" pitchFamily="18" charset="0"/>
              </a:rPr>
              <a:t> и сложных взаимодействий между компонентами.</a:t>
            </a: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Reactive UI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17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Основные Термины и Концепции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1. </a:t>
            </a:r>
            <a:r>
              <a:rPr lang="en-US" sz="2400" b="1" dirty="0" err="1">
                <a:latin typeface="Bookman Old Style" panose="02050604050505020204" pitchFamily="18" charset="0"/>
              </a:rPr>
              <a:t>ReactiveObject</a:t>
            </a: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Базовый класс для всех </a:t>
            </a:r>
            <a:r>
              <a:rPr lang="en-US" sz="2400" dirty="0" err="1">
                <a:latin typeface="Bookman Old Style" panose="02050604050505020204" pitchFamily="18" charset="0"/>
              </a:rPr>
              <a:t>ViewModel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который реализует </a:t>
            </a:r>
            <a:r>
              <a:rPr lang="en-US" sz="2400" dirty="0" err="1">
                <a:latin typeface="Bookman Old Style" panose="02050604050505020204" pitchFamily="18" charset="0"/>
              </a:rPr>
              <a:t>INotifyPropertyChanged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реактивным способом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ReactiveObject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_name;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_name;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_name,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RaiseAndSetIfChanged</a:t>
            </a:r>
            <a:r>
              <a:rPr lang="ru-RU" sz="2400" dirty="0">
                <a:latin typeface="Bookman Old Style" panose="02050604050505020204" pitchFamily="18" charset="0"/>
              </a:rPr>
              <a:t> — это метод, который проверяет, изменилось ли значение, и уведомляет об этом UI.</a:t>
            </a:r>
          </a:p>
        </p:txBody>
      </p:sp>
    </p:spTree>
    <p:extLst>
      <p:ext uri="{BB962C8B-B14F-4D97-AF65-F5344CB8AC3E}">
        <p14:creationId xmlns:p14="http://schemas.microsoft.com/office/powerpoint/2010/main" val="4284697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760208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2. Привязки (</a:t>
            </a:r>
            <a:r>
              <a:rPr lang="en-US" sz="2400" b="1" dirty="0">
                <a:latin typeface="Bookman Old Style" panose="02050604050505020204" pitchFamily="18" charset="0"/>
              </a:rPr>
              <a:t>Bindings) </a:t>
            </a:r>
            <a:r>
              <a:rPr lang="ru-RU" sz="2400" b="1" dirty="0">
                <a:latin typeface="Bookman Old Style" panose="02050604050505020204" pitchFamily="18" charset="0"/>
              </a:rPr>
              <a:t>через </a:t>
            </a:r>
            <a:r>
              <a:rPr lang="en-US" sz="2400" b="1" dirty="0" err="1">
                <a:latin typeface="Bookman Old Style" panose="02050604050505020204" pitchFamily="18" charset="0"/>
              </a:rPr>
              <a:t>WhenActivated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>
                <a:latin typeface="Bookman Old Style" panose="02050604050505020204" pitchFamily="18" charset="0"/>
              </a:rPr>
              <a:t>и </a:t>
            </a:r>
            <a:r>
              <a:rPr lang="en-US" sz="2400" b="1" dirty="0" err="1">
                <a:latin typeface="Bookman Old Style" panose="02050604050505020204" pitchFamily="18" charset="0"/>
              </a:rPr>
              <a:t>OneWayBind</a:t>
            </a:r>
            <a:r>
              <a:rPr lang="en-US" sz="2400" b="1" dirty="0">
                <a:latin typeface="Bookman Old Style" panose="02050604050505020204" pitchFamily="18" charset="0"/>
              </a:rPr>
              <a:t>, Bind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</a:t>
            </a:r>
            <a:r>
              <a:rPr lang="en-US" sz="2400" dirty="0" err="1">
                <a:latin typeface="Bookman Old Style" panose="02050604050505020204" pitchFamily="18" charset="0"/>
              </a:rPr>
              <a:t>Avalonia</a:t>
            </a:r>
            <a:r>
              <a:rPr lang="en-US" sz="2400" dirty="0">
                <a:latin typeface="Bookman Old Style" panose="02050604050505020204" pitchFamily="18" charset="0"/>
              </a:rPr>
              <a:t> Reactive UI </a:t>
            </a:r>
            <a:r>
              <a:rPr lang="ru-RU" sz="2400" dirty="0">
                <a:latin typeface="Bookman Old Style" panose="02050604050505020204" pitchFamily="18" charset="0"/>
              </a:rPr>
              <a:t>привязки часто настраиваются в конструкторе </a:t>
            </a:r>
            <a:r>
              <a:rPr lang="en-US" sz="2400" dirty="0">
                <a:latin typeface="Bookman Old Style" panose="02050604050505020204" pitchFamily="18" charset="0"/>
              </a:rPr>
              <a:t>View </a:t>
            </a:r>
            <a:r>
              <a:rPr lang="ru-RU" sz="2400" dirty="0">
                <a:latin typeface="Bookman Old Style" panose="02050604050505020204" pitchFamily="18" charset="0"/>
              </a:rPr>
              <a:t>с помощью метода </a:t>
            </a:r>
            <a:r>
              <a:rPr lang="en-US" sz="2400" dirty="0" err="1">
                <a:latin typeface="Bookman Old Style" panose="02050604050505020204" pitchFamily="18" charset="0"/>
              </a:rPr>
              <a:t>WhenActivated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ReactiveUserControl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InitializeComponent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Когда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становится активной, устанавливаются привязки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.WhenActivated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(disposables =&gt;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OneWayBind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Односторонняя привязка (из VM в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0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.OneWayBind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ViewModel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vm.Name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v.NameTextBlock.Text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DisposeWith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(disposables);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Двусторонняя привязка (например, для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.Bind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vm.Name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v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v.NameTextBox.Text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DisposeWith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(disposables);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});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449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44764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3. Команды (</a:t>
            </a:r>
            <a:r>
              <a:rPr lang="ru-RU" sz="2400" b="1" dirty="0" err="1">
                <a:latin typeface="Bookman Old Style" panose="02050604050505020204" pitchFamily="18" charset="0"/>
              </a:rPr>
              <a:t>ReactiveCommand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Команда, которая может быть включена или отключена на основе наблюдаемой последовательности (</a:t>
            </a:r>
            <a:r>
              <a:rPr lang="ru-RU" sz="2400" dirty="0" err="1">
                <a:latin typeface="Bookman Old Style" panose="02050604050505020204" pitchFamily="18" charset="0"/>
              </a:rPr>
              <a:t>Observable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ViewModelBase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Простая команда без параметра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SubmitCommand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Команда с параметром </a:t>
            </a:r>
            <a:r>
              <a:rPr lang="en-US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LoadDataCommand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</a:p>
          <a:p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3386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en-US" sz="20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 определяет, когда команда 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активна</a:t>
            </a:r>
            <a:r>
              <a:rPr lang="en-US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canSubmit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vm.Name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	name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!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.IsNullOrWhiteSpace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(name));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SubmitCommand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 </a:t>
            </a:r>
            <a:r>
              <a:rPr lang="en-US" sz="20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ExecuteSubmit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canSubmit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Команда с параметром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LoadDataCommand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ExecuteLoadData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000" dirty="0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ExecuteSubmit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en-US" sz="20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le.WriteAllText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</a:t>
            </a:r>
            <a:r>
              <a:rPr lang="en-US" sz="20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"data.txt"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Name);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ExecuteLoadData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parameter)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Логика загрузки данных по параметру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Name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 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$"Loaded: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{parameter}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2005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71691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Структура проекта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ReactiveUI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ReactiveAvaloniaApp</a:t>
            </a:r>
            <a:r>
              <a:rPr lang="en-US" sz="2400" dirty="0">
                <a:latin typeface="Bookman Old Style" panose="02050604050505020204" pitchFamily="18" charset="0"/>
              </a:rPr>
              <a:t>/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├── </a:t>
            </a:r>
            <a:r>
              <a:rPr lang="en-US" sz="2400" dirty="0" err="1">
                <a:latin typeface="Bookman Old Style" panose="02050604050505020204" pitchFamily="18" charset="0"/>
              </a:rPr>
              <a:t>ViewModels</a:t>
            </a:r>
            <a:r>
              <a:rPr lang="en-US" sz="2400" dirty="0">
                <a:latin typeface="Bookman Old Style" panose="02050604050505020204" pitchFamily="18" charset="0"/>
              </a:rPr>
              <a:t>/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│   └── </a:t>
            </a:r>
            <a:r>
              <a:rPr lang="en-US" sz="2400" dirty="0" err="1">
                <a:latin typeface="Bookman Old Style" panose="02050604050505020204" pitchFamily="18" charset="0"/>
              </a:rPr>
              <a:t>MainWindowViewModel.cs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├── Views/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│   └── </a:t>
            </a:r>
            <a:r>
              <a:rPr lang="en-US" sz="2400" dirty="0" err="1">
                <a:latin typeface="Bookman Old Style" panose="02050604050505020204" pitchFamily="18" charset="0"/>
              </a:rPr>
              <a:t>MainWindow.axaml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│   └── </a:t>
            </a:r>
            <a:r>
              <a:rPr lang="en-US" sz="2400" dirty="0" err="1">
                <a:latin typeface="Bookman Old Style" panose="02050604050505020204" pitchFamily="18" charset="0"/>
              </a:rPr>
              <a:t>MainWindow.axaml.cs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├── </a:t>
            </a:r>
            <a:r>
              <a:rPr lang="en-US" sz="2400" dirty="0" err="1">
                <a:latin typeface="Bookman Old Style" panose="02050604050505020204" pitchFamily="18" charset="0"/>
              </a:rPr>
              <a:t>App.axaml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├── </a:t>
            </a:r>
            <a:r>
              <a:rPr lang="en-US" sz="2400" dirty="0" err="1">
                <a:latin typeface="Bookman Old Style" panose="02050604050505020204" pitchFamily="18" charset="0"/>
              </a:rPr>
              <a:t>App.axaml.cs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└── </a:t>
            </a:r>
            <a:r>
              <a:rPr lang="en-US" sz="2400" dirty="0" err="1">
                <a:latin typeface="Bookman Old Style" panose="02050604050505020204" pitchFamily="18" charset="0"/>
              </a:rPr>
              <a:t>Program.cs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Программа на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C# </a:t>
            </a:r>
            <a:r>
              <a:rPr lang="en-US" sz="2800" b="1" dirty="0" err="1" smtClean="0">
                <a:solidFill>
                  <a:srgbClr val="202122"/>
                </a:solidFill>
                <a:latin typeface="Bookman Old Style" panose="02050604050505020204" pitchFamily="18" charset="0"/>
              </a:rPr>
              <a:t>Avalonia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 + Reactive UI + MVVM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48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289310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Установка </a:t>
            </a:r>
            <a:r>
              <a:rPr lang="ru-RU" sz="2400" dirty="0">
                <a:latin typeface="Bookman Old Style" panose="02050604050505020204" pitchFamily="18" charset="0"/>
              </a:rPr>
              <a:t>необходимых </a:t>
            </a:r>
            <a:r>
              <a:rPr lang="ru-RU" sz="2400" dirty="0" smtClean="0">
                <a:latin typeface="Bookman Old Style" panose="02050604050505020204" pitchFamily="18" charset="0"/>
              </a:rPr>
              <a:t>пакетов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ItemGroup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PackageReference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Include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Avalonia.Desktop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Version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11.0.5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 /&gt;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PackageReference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Include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Avalonia.Themes.Fluent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Version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11.0.5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 /&gt;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PackageReference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Include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0000FF"/>
                </a:solidFill>
                <a:latin typeface="Consolas" panose="020B0609020204030204" pitchFamily="49" charset="0"/>
              </a:rPr>
              <a:t>ReactiveUI.Avalonia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Version</a:t>
            </a:r>
            <a:r>
              <a:rPr lang="en-US" sz="22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19.4.1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>
                <a:solidFill>
                  <a:srgbClr val="800000"/>
                </a:solidFill>
                <a:latin typeface="Consolas" panose="020B0609020204030204" pitchFamily="49" charset="0"/>
              </a:rPr>
              <a:t> /&gt;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200" dirty="0" err="1">
                <a:solidFill>
                  <a:srgbClr val="800000"/>
                </a:solidFill>
                <a:latin typeface="Consolas" panose="020B0609020204030204" pitchFamily="49" charset="0"/>
              </a:rPr>
              <a:t>ItemGroup</a:t>
            </a:r>
            <a:r>
              <a:rPr lang="en-US" sz="22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7031" y="5155333"/>
            <a:ext cx="6931050" cy="91198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7031" y="4109416"/>
            <a:ext cx="4738323" cy="1045917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7032" y="3095513"/>
            <a:ext cx="6035147" cy="101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762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err="1" smtClean="0">
                <a:latin typeface="Bookman Old Style" panose="02050604050505020204" pitchFamily="18" charset="0"/>
              </a:rPr>
              <a:t>Program.cs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добавить строку 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UseReactiveUI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static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AppBuilder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BuildAvaloniaApp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=&gt;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AppBuilder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.Configure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UsePlatformDetect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WithInterFont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LogToTrace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    .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UseReactiveUI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//&lt;-----</a:t>
            </a:r>
            <a:endParaRPr lang="en-US" sz="2200" dirty="0">
              <a:solidFill>
                <a:srgbClr val="00B05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3972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704808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2. </a:t>
            </a:r>
            <a:r>
              <a:rPr lang="en-US" sz="2400" dirty="0" err="1">
                <a:latin typeface="Bookman Old Style" panose="02050604050505020204" pitchFamily="18" charset="0"/>
              </a:rPr>
              <a:t>ViewModel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с </a:t>
            </a:r>
            <a:r>
              <a:rPr lang="en-US" sz="2400" dirty="0" err="1">
                <a:latin typeface="Bookman Old Style" panose="02050604050505020204" pitchFamily="18" charset="0"/>
              </a:rPr>
              <a:t>ReactiveUI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 err="1" smtClean="0">
                <a:latin typeface="Bookman Old Style" panose="02050604050505020204" pitchFamily="18" charset="0"/>
              </a:rPr>
              <a:t>ViewModels</a:t>
            </a:r>
            <a:r>
              <a:rPr lang="en-US" sz="2400" dirty="0" smtClean="0">
                <a:latin typeface="Bookman Old Style" panose="02050604050505020204" pitchFamily="18" charset="0"/>
              </a:rPr>
              <a:t>/</a:t>
            </a:r>
            <a:r>
              <a:rPr lang="en-US" sz="2400" dirty="0" err="1" smtClean="0">
                <a:latin typeface="Bookman Old Style" panose="02050604050505020204" pitchFamily="18" charset="0"/>
              </a:rPr>
              <a:t>MainWindowViewModel.cs</a:t>
            </a:r>
            <a:endParaRPr lang="en-US" sz="20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ReactiveObject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_message = 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Добро пожаловать в 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Avalonia + </a:t>
            </a:r>
            <a:r>
              <a:rPr lang="en-US" sz="20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ReactiveUI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!"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en-US" sz="20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</a:t>
            </a:r>
            <a:r>
              <a:rPr lang="ru-RU" sz="20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Создаем вычисляемое свойство, которое реагирует на изменения </a:t>
            </a:r>
            <a:r>
              <a:rPr lang="ru-RU" sz="20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.Select(count =&gt; 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Количество нажатий: </a:t>
            </a: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count}</a:t>
            </a:r>
            <a:r>
              <a:rPr lang="en-US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.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ToProperty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x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x.DisplayCount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out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Инициализация команд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IncrementCommand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0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Команда сброса активна только когда счетчик &gt; 0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ResetCommand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</a:p>
          <a:p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.WhenAnyValue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(x =&gt;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x.Count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).Select(count =&gt; count &gt; 0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</a:p>
          <a:p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}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468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Reactive </a:t>
            </a:r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свойства</a:t>
            </a:r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Message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_message;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_message,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_count;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.RaiseAndSetIfChanged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ref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_count,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endParaRPr lang="ru-RU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 </a:t>
            </a:r>
            <a:r>
              <a:rPr lang="ru-RU" sz="22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Вычисляемое свойство через </a:t>
            </a:r>
            <a:r>
              <a:rPr lang="en-US" sz="22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Observable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readonly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ObservableAsPropertyHelper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_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_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displayCount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?.</a:t>
            </a:r>
            <a:r>
              <a:rPr lang="en-US" sz="22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 ?? </a:t>
            </a:r>
            <a:r>
              <a:rPr lang="en-US" sz="2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2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Количество нажатий: 0"</a:t>
            </a:r>
            <a:r>
              <a:rPr lang="ru-RU" sz="22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424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Команды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IncrementCount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Count++;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(Count %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10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== 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0)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$"Отлично! Вы достигли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ru-RU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нажатий!"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ResetCount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Count = 0;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"Счетчик сброшен! Давайте начнем снова."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52854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3. View с </a:t>
            </a:r>
            <a:r>
              <a:rPr lang="en-US" sz="2400" dirty="0" err="1">
                <a:latin typeface="Bookman Old Style" panose="02050604050505020204" pitchFamily="18" charset="0"/>
              </a:rPr>
              <a:t>ReactiveUI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Views/</a:t>
            </a:r>
            <a:r>
              <a:rPr lang="en-US" sz="2400" dirty="0" err="1">
                <a:latin typeface="Bookman Old Style" panose="02050604050505020204" pitchFamily="18" charset="0"/>
              </a:rPr>
              <a:t>MainWindow.axaml</a:t>
            </a:r>
            <a:endParaRPr lang="en-US" sz="20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&lt;Window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"https://github.com/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avaloniaui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xmlns:x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"http://schemas.microsoft.com/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winfx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/2006/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xaml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xmlns:vm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"using:AvaloniaApplication1.ViewModels"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xmlns:d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"http://schemas.microsoft.com/expression/blend/2008"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xmlns:mc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"http://schemas.openxmlformats.org/markup-compatibility/2006"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E50000"/>
                </a:solidFill>
                <a:latin typeface="Consolas" panose="020B0609020204030204" pitchFamily="49" charset="0"/>
              </a:rPr>
              <a:t>mc:Ignorable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"d"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"600"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"400"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E50000"/>
                </a:solidFill>
                <a:latin typeface="Consolas" panose="020B0609020204030204" pitchFamily="49" charset="0"/>
              </a:rPr>
              <a:t>x:Class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"AvaloniaApplication1.Views.MainWindow"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E50000"/>
                </a:solidFill>
                <a:latin typeface="Consolas" panose="020B0609020204030204" pitchFamily="49" charset="0"/>
              </a:rPr>
              <a:t>x:DataType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"vm:MainWindowViewModel"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E50000"/>
                </a:solidFill>
                <a:latin typeface="Consolas" panose="020B0609020204030204" pitchFamily="49" charset="0"/>
              </a:rPr>
              <a:t>Icon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"/Assets/avalonia-logo.ico"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E50000"/>
                </a:solidFill>
                <a:latin typeface="Consolas" panose="020B0609020204030204" pitchFamily="49" charset="0"/>
              </a:rPr>
              <a:t>Title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000" dirty="0">
                <a:solidFill>
                  <a:srgbClr val="0000FF"/>
                </a:solidFill>
                <a:latin typeface="Consolas" panose="020B0609020204030204" pitchFamily="49" charset="0"/>
              </a:rPr>
              <a:t>Первое приложение на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Avalonia</a:t>
            </a:r>
            <a:r>
              <a:rPr lang="en-US" sz="20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endParaRPr lang="en-US" sz="2000" dirty="0" smtClean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	</a:t>
            </a:r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vm:MainWindowViewModel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0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000" dirty="0" err="1">
                <a:solidFill>
                  <a:srgbClr val="800000"/>
                </a:solidFill>
                <a:latin typeface="Consolas" panose="020B0609020204030204" pitchFamily="49" charset="0"/>
              </a:rPr>
              <a:t>Design.DataContext</a:t>
            </a:r>
            <a:r>
              <a:rPr lang="en-US" sz="20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en-US" sz="20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&lt;!– </a:t>
            </a:r>
            <a:r>
              <a:rPr lang="ru-RU" sz="20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Далее --&gt;</a:t>
            </a:r>
            <a:endParaRPr lang="en-US" sz="20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	</a:t>
            </a:r>
            <a: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800000"/>
                </a:solidFill>
                <a:latin typeface="Consolas" panose="020B0609020204030204" pitchFamily="49" charset="0"/>
              </a:rPr>
              <a:t>&lt;/Window&gt;</a:t>
            </a:r>
            <a:endParaRPr lang="en-US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9600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Center"</a:t>
            </a:r>
            <a:endParaRPr lang="ru-RU" sz="2400" dirty="0" smtClean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E50000"/>
                </a:solidFill>
                <a:latin typeface="Consolas" panose="020B0609020204030204" pitchFamily="49" charset="0"/>
              </a:rPr>
              <a:t>						</a:t>
            </a:r>
            <a:r>
              <a:rPr lang="en-US" sz="2400" dirty="0" err="1" smtClean="0">
                <a:solidFill>
                  <a:srgbClr val="E50000"/>
                </a:solidFill>
                <a:latin typeface="Consolas" panose="020B0609020204030204" pitchFamily="49" charset="0"/>
              </a:rPr>
              <a:t>VerticalAlignment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Spacing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"20"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Приветственный текст --&gt;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Message}"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"16"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TextAlignment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Счетчик с привязкой к вычисляемому свойству --&gt;</a:t>
            </a:r>
            <a:endParaRPr lang="ru-RU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TextBlock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DisplayCount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"18"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FontWeight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"Bold"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Foreground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"Blue"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   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HorizontalAlignment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"Center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9283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&lt;!--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Кнопки с привязкой команд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ReactiveUI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--&gt;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Увеличить счетчик!"</a:t>
            </a:r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IncrementCommand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"150"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"35"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"14"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&lt;Button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Content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</a:t>
            </a:r>
            <a:r>
              <a:rPr lang="ru-RU" sz="2400" dirty="0">
                <a:solidFill>
                  <a:srgbClr val="0000FF"/>
                </a:solidFill>
                <a:latin typeface="Consolas" panose="020B0609020204030204" pitchFamily="49" charset="0"/>
              </a:rPr>
              <a:t>Сбросить"</a:t>
            </a:r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ru-RU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Command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ResetCommand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"100"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E50000"/>
                </a:solidFill>
                <a:latin typeface="Consolas" panose="020B0609020204030204" pitchFamily="49" charset="0"/>
              </a:rPr>
              <a:t>Height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"30"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sz="2400" dirty="0" err="1">
                <a:solidFill>
                  <a:srgbClr val="E50000"/>
                </a:solidFill>
                <a:latin typeface="Consolas" panose="020B0609020204030204" pitchFamily="49" charset="0"/>
              </a:rPr>
              <a:t>FontSize</a:t>
            </a:r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"12"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ru-RU" sz="2400" dirty="0" smtClean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800000"/>
              </a:solidFill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Замечание: </a:t>
            </a: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Чтобы отображалась кириллица необходимо, чтобы расширение файла было </a:t>
            </a:r>
            <a:r>
              <a:rPr lang="en-US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UTF-8.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endParaRPr lang="en-US" sz="24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4639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8304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Внешний вид окна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0352" y="583045"/>
            <a:ext cx="8751296" cy="5882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548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8304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Пример работы программы</a:t>
            </a:r>
            <a:endParaRPr lang="en-US" sz="2400" dirty="0">
              <a:solidFill>
                <a:srgbClr val="0000FF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612" y="583045"/>
            <a:ext cx="8334775" cy="598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974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71691"/>
            <a:ext cx="12192000" cy="452431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команду для </a:t>
            </a:r>
            <a:r>
              <a:rPr lang="ru-RU" sz="2400" smtClean="0">
                <a:latin typeface="Bookman Old Style" panose="02050604050505020204" pitchFamily="18" charset="0"/>
              </a:rPr>
              <a:t>открытия окна.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в конструктор строку: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.Create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OpenWindow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свойство: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ReactiveCommand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Unit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{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 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Открытие второстепенного окна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845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в конструктор строку: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OpenWindow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SecondWindowViewModel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 =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SecondWindow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{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DataContext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vm</a:t>
            </a:r>
            <a:endParaRPr lang="en-US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};</a:t>
            </a:r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var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parent = Avalonia.</a:t>
            </a:r>
            <a:r>
              <a:rPr lang="en-US" sz="20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Application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.Current?.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ApplicationLifetime</a:t>
            </a:r>
            <a:endParaRPr lang="ru-RU" sz="20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</a:t>
            </a:r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IClassicDesktopStyleApplicationLifetime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if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(parent ==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null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||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parent.MainWindow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== </a:t>
            </a:r>
            <a:r>
              <a:rPr lang="en-US" sz="20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null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</a:t>
            </a:r>
          </a:p>
          <a:p>
            <a:r>
              <a:rPr lang="ru-RU" sz="20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</a:t>
            </a:r>
            <a:r>
              <a:rPr lang="ru-RU" sz="20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throw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0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0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InvalidOperationException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</a:p>
          <a:p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</a:t>
            </a:r>
            <a:r>
              <a:rPr lang="ru-RU" sz="20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0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Невозможно определить родительское окно"</a:t>
            </a:r>
            <a:r>
              <a:rPr lang="ru-RU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view.ShowDialog</a:t>
            </a:r>
            <a:r>
              <a:rPr lang="en-US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0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parent.MainWindow</a:t>
            </a:r>
            <a:r>
              <a:rPr lang="en-US" sz="20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0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0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7648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15528</TotalTime>
  <Words>1181</Words>
  <Application>Microsoft Office PowerPoint</Application>
  <PresentationFormat>Широкоэкранный</PresentationFormat>
  <Paragraphs>457</Paragraphs>
  <Slides>40</Slides>
  <Notes>40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9" baseType="lpstr">
      <vt:lpstr>Arial</vt:lpstr>
      <vt:lpstr>Bookman Old Style</vt:lpstr>
      <vt:lpstr>Calibri</vt:lpstr>
      <vt:lpstr>Calibri Light</vt:lpstr>
      <vt:lpstr>Cascadia Mono</vt:lpstr>
      <vt:lpstr>Consolas</vt:lpstr>
      <vt:lpstr>quote-cjk-patch</vt:lpstr>
      <vt:lpstr>Times New Roman</vt:lpstr>
      <vt:lpstr>Тема Office</vt:lpstr>
      <vt:lpstr>3 семестр Лекция 9.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m10</cp:lastModifiedBy>
  <cp:revision>1013</cp:revision>
  <dcterms:modified xsi:type="dcterms:W3CDTF">2025-11-05T08:06:14Z</dcterms:modified>
</cp:coreProperties>
</file>