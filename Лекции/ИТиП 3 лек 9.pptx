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</p:sldMasterIdLst>
  <p:notesMasterIdLst>
    <p:notesMasterId r:id="rId40"/>
  </p:notesMasterIdLst>
  <p:sldIdLst>
    <p:sldId id="273" r:id="rId2"/>
    <p:sldId id="1112" r:id="rId3"/>
    <p:sldId id="1087" r:id="rId4"/>
    <p:sldId id="1122" r:id="rId5"/>
    <p:sldId id="1123" r:id="rId6"/>
    <p:sldId id="1124" r:id="rId7"/>
    <p:sldId id="1125" r:id="rId8"/>
    <p:sldId id="1130" r:id="rId9"/>
    <p:sldId id="1131" r:id="rId10"/>
    <p:sldId id="1137" r:id="rId11"/>
    <p:sldId id="1142" r:id="rId12"/>
    <p:sldId id="1138" r:id="rId13"/>
    <p:sldId id="1139" r:id="rId14"/>
    <p:sldId id="1140" r:id="rId15"/>
    <p:sldId id="1141" r:id="rId16"/>
    <p:sldId id="1143" r:id="rId17"/>
    <p:sldId id="1144" r:id="rId18"/>
    <p:sldId id="1145" r:id="rId19"/>
    <p:sldId id="1146" r:id="rId20"/>
    <p:sldId id="1147" r:id="rId21"/>
    <p:sldId id="1148" r:id="rId22"/>
    <p:sldId id="1149" r:id="rId23"/>
    <p:sldId id="1132" r:id="rId24"/>
    <p:sldId id="1133" r:id="rId25"/>
    <p:sldId id="1134" r:id="rId26"/>
    <p:sldId id="1135" r:id="rId27"/>
    <p:sldId id="1136" r:id="rId28"/>
    <p:sldId id="1101" r:id="rId29"/>
    <p:sldId id="1150" r:id="rId30"/>
    <p:sldId id="1152" r:id="rId31"/>
    <p:sldId id="1151" r:id="rId32"/>
    <p:sldId id="1153" r:id="rId33"/>
    <p:sldId id="1154" r:id="rId34"/>
    <p:sldId id="1155" r:id="rId35"/>
    <p:sldId id="1156" r:id="rId36"/>
    <p:sldId id="1157" r:id="rId37"/>
    <p:sldId id="1158" r:id="rId38"/>
    <p:sldId id="1159" r:id="rId3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10" initials="m10" lastIdx="1" clrIdx="0">
    <p:extLst>
      <p:ext uri="{19B8F6BF-5375-455C-9EA6-DF929625EA0E}">
        <p15:presenceInfo xmlns:p15="http://schemas.microsoft.com/office/powerpoint/2012/main" userId="m10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92929"/>
    <a:srgbClr val="BFEFC9"/>
    <a:srgbClr val="5A5A5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Средний стиль 2 — акцент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35" autoAdjust="0"/>
    <p:restoredTop sz="79402" autoAdjust="0"/>
  </p:normalViewPr>
  <p:slideViewPr>
    <p:cSldViewPr snapToGrid="0">
      <p:cViewPr>
        <p:scale>
          <a:sx n="50" d="100"/>
          <a:sy n="50" d="100"/>
        </p:scale>
        <p:origin x="3426" y="175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786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commentAuthors" Target="comment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2F9473-F066-431E-A6E8-1D478C995A6B}" type="datetimeFigureOut">
              <a:rPr lang="en-US" smtClean="0"/>
              <a:pPr/>
              <a:t>11/1/2025</a:t>
            </a:fld>
            <a:endParaRPr lang="en-US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F4E2F1-1521-4C3A-A563-2F7D19AB6E0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79755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4812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96441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09256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56121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82997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24227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118642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678486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860648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547396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6298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29183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38266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438190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137983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040055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058103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925980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174218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032191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760167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821272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311124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895381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597164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409401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208972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63856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306635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411446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865840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321593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186298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704488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978768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394833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253209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49861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Номер слайда 3">
            <a:extLst>
              <a:ext uri="{FF2B5EF4-FFF2-40B4-BE49-F238E27FC236}">
                <a16:creationId xmlns:a16="http://schemas.microsoft.com/office/drawing/2014/main" id="{3DF48714-7FE4-4364-BF9D-28B9C9E29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2</a:t>
            </a:r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0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77364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5897"/>
            <a:ext cx="12192000" cy="949324"/>
          </a:xfrm>
        </p:spPr>
        <p:txBody>
          <a:bodyPr/>
          <a:lstStyle>
            <a:lvl1pPr algn="ctr">
              <a:defRPr sz="27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7" name="Номер слайда 3">
            <a:extLst>
              <a:ext uri="{FF2B5EF4-FFF2-40B4-BE49-F238E27FC236}">
                <a16:creationId xmlns:a16="http://schemas.microsoft.com/office/drawing/2014/main" id="{3DF48714-7FE4-4364-BF9D-28B9C9E29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2</a:t>
            </a:r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0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22147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Номер слайда 3">
            <a:extLst>
              <a:ext uri="{FF2B5EF4-FFF2-40B4-BE49-F238E27FC236}">
                <a16:creationId xmlns:a16="http://schemas.microsoft.com/office/drawing/2014/main" id="{3DF48714-7FE4-4364-BF9D-28B9C9E297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2</a:t>
            </a:r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0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08929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86" r:id="rId2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marketplace.visualstudio.com/items?itemName=AvaloniaTeam.AvaloniaVS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/>
          <p:cNvSpPr txBox="1"/>
          <p:nvPr/>
        </p:nvSpPr>
        <p:spPr>
          <a:xfrm>
            <a:off x="0" y="801560"/>
            <a:ext cx="12192000" cy="1569658"/>
          </a:xfrm>
          <a:prstGeom prst="rect">
            <a:avLst/>
          </a:prstGeom>
          <a:noFill/>
        </p:spPr>
        <p:txBody>
          <a:bodyPr wrap="square" lIns="91438" tIns="45719" rIns="91438" bIns="45719" rtlCol="0">
            <a:spAutoFit/>
          </a:bodyPr>
          <a:lstStyle/>
          <a:p>
            <a:pPr indent="254000" algn="ctr">
              <a:spcBef>
                <a:spcPct val="20000"/>
              </a:spcBef>
            </a:pPr>
            <a:r>
              <a:rPr lang="ru-RU" sz="4800" b="1" dirty="0">
                <a:solidFill>
                  <a:schemeClr val="accent1">
                    <a:lumMod val="50000"/>
                  </a:schemeClr>
                </a:solidFill>
                <a:latin typeface="Bookman Old Style" pitchFamily="18" charset="0"/>
              </a:rPr>
              <a:t>Информационные технологии</a:t>
            </a:r>
            <a:br>
              <a:rPr lang="ru-RU" sz="4800" b="1" dirty="0">
                <a:solidFill>
                  <a:schemeClr val="accent1">
                    <a:lumMod val="50000"/>
                  </a:schemeClr>
                </a:solidFill>
                <a:latin typeface="Bookman Old Style" pitchFamily="18" charset="0"/>
              </a:rPr>
            </a:br>
            <a:r>
              <a:rPr lang="ru-RU" sz="4800" b="1" dirty="0">
                <a:solidFill>
                  <a:schemeClr val="accent1">
                    <a:lumMod val="50000"/>
                  </a:schemeClr>
                </a:solidFill>
                <a:latin typeface="Bookman Old Style" pitchFamily="18" charset="0"/>
              </a:rPr>
              <a:t>и программирование</a:t>
            </a:r>
            <a:endParaRPr lang="ru-RU" altLang="ru-RU" sz="4800" b="1" dirty="0">
              <a:solidFill>
                <a:schemeClr val="accent1">
                  <a:lumMod val="50000"/>
                </a:schemeClr>
              </a:solidFill>
              <a:latin typeface="Bookman Old Style" pitchFamily="18" charset="0"/>
            </a:endParaRPr>
          </a:p>
        </p:txBody>
      </p:sp>
      <p:sp>
        <p:nvSpPr>
          <p:cNvPr id="17" name="Заголовок 16">
            <a:extLst>
              <a:ext uri="{FF2B5EF4-FFF2-40B4-BE49-F238E27FC236}">
                <a16:creationId xmlns:a16="http://schemas.microsoft.com/office/drawing/2014/main" id="{D630362D-1F09-46B4-9DE4-AEA483AC82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77031" y="2587437"/>
            <a:ext cx="8978016" cy="1687197"/>
          </a:xfrm>
        </p:spPr>
        <p:txBody>
          <a:bodyPr>
            <a:noAutofit/>
          </a:bodyPr>
          <a:lstStyle/>
          <a:p>
            <a:pPr algn="l"/>
            <a:r>
              <a:rPr lang="ru-RU" sz="2800" b="1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3 семестр</a:t>
            </a:r>
            <a:br>
              <a:rPr lang="ru-RU" sz="2800" b="1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</a:br>
            <a:r>
              <a:rPr lang="ru-RU" sz="2800" b="1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Лекция 9.</a:t>
            </a:r>
            <a:r>
              <a:rPr lang="ru-RU" sz="2800" b="1" dirty="0">
                <a:latin typeface="Bookman Old Style" panose="02050604050505020204" pitchFamily="18" charset="0"/>
                <a:cs typeface="Times New Roman" panose="02020603050405020304" pitchFamily="18" charset="0"/>
              </a:rPr>
              <a:t/>
            </a:r>
            <a:br>
              <a:rPr lang="ru-RU" sz="2800" b="1" dirty="0">
                <a:latin typeface="Bookman Old Style" panose="02050604050505020204" pitchFamily="18" charset="0"/>
                <a:cs typeface="Times New Roman" panose="02020603050405020304" pitchFamily="18" charset="0"/>
              </a:rPr>
            </a:br>
            <a:r>
              <a:rPr lang="en-US" sz="2800" b="1" dirty="0">
                <a:latin typeface="Bookman Old Style" panose="02050604050505020204" pitchFamily="18" charset="0"/>
                <a:cs typeface="Times New Roman" panose="02020603050405020304" pitchFamily="18" charset="0"/>
              </a:rPr>
              <a:t/>
            </a:r>
            <a:br>
              <a:rPr lang="en-US" sz="2800" b="1" dirty="0">
                <a:latin typeface="Bookman Old Style" panose="02050604050505020204" pitchFamily="18" charset="0"/>
                <a:cs typeface="Times New Roman" panose="02020603050405020304" pitchFamily="18" charset="0"/>
              </a:rPr>
            </a:br>
            <a:r>
              <a:rPr lang="ru-RU" sz="2800" b="1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Содержание лекции:</a:t>
            </a:r>
            <a:endParaRPr lang="ru-RU" sz="2800" dirty="0">
              <a:latin typeface="Bookman Old Style" panose="02050604050505020204" pitchFamily="18" charset="0"/>
            </a:endParaRPr>
          </a:p>
        </p:txBody>
      </p:sp>
      <p:sp>
        <p:nvSpPr>
          <p:cNvPr id="10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6336807"/>
            <a:ext cx="12192000" cy="521193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9050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indent="723900" algn="just"/>
            <a:r>
              <a:rPr lang="ru-RU" b="1" dirty="0">
                <a:solidFill>
                  <a:srgbClr val="292929"/>
                </a:solidFill>
                <a:latin typeface="Bookman Old Style" pitchFamily="18" charset="0"/>
              </a:rPr>
              <a:t>Преподаватель курса: Клюкин Даниил Анатольевич, ст. преподаватель каф. </a:t>
            </a:r>
            <a:r>
              <a:rPr lang="ru-RU" b="1">
                <a:solidFill>
                  <a:srgbClr val="292929"/>
                </a:solidFill>
                <a:latin typeface="Bookman Old Style" pitchFamily="18" charset="0"/>
              </a:rPr>
              <a:t>ПМиИТ</a:t>
            </a:r>
            <a:endParaRPr lang="ru-RU" b="1" dirty="0">
              <a:solidFill>
                <a:srgbClr val="292929"/>
              </a:solidFill>
              <a:latin typeface="Bookman Old Style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7B00361-5492-4290-B470-295172C16526}"/>
              </a:ext>
            </a:extLst>
          </p:cNvPr>
          <p:cNvSpPr txBox="1"/>
          <p:nvPr/>
        </p:nvSpPr>
        <p:spPr>
          <a:xfrm>
            <a:off x="877031" y="4274634"/>
            <a:ext cx="11041341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 err="1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Avalonia</a:t>
            </a:r>
            <a:endParaRPr lang="ru-RU" sz="2800" dirty="0" smtClean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Начало работы</a:t>
            </a:r>
            <a:endParaRPr lang="en-US" sz="2800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Reactive UI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Программа на </a:t>
            </a:r>
            <a:r>
              <a:rPr lang="en-US" sz="28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C# Avalonia + Reactive UI + </a:t>
            </a:r>
            <a:r>
              <a:rPr lang="en-US" sz="28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MVVM</a:t>
            </a:r>
            <a:endParaRPr lang="en-US" sz="2800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6" descr="Avalonia UI (@avaloniaui@dotnet.social) - dotnet.social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1240" y="3279015"/>
            <a:ext cx="4374801" cy="14582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654356"/>
            <a:ext cx="12192000" cy="6186309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err="1" smtClean="0">
                <a:solidFill>
                  <a:srgbClr val="202122"/>
                </a:solidFill>
                <a:latin typeface="Bookman Old Style" panose="02050604050505020204" pitchFamily="18" charset="0"/>
              </a:rPr>
              <a:t>Avalonia</a:t>
            </a:r>
            <a:r>
              <a:rPr lang="ru-RU" sz="2400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 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— это кроссплатформенный </a:t>
            </a:r>
            <a:r>
              <a:rPr lang="ru-RU" sz="2400" dirty="0" err="1">
                <a:solidFill>
                  <a:srgbClr val="202122"/>
                </a:solidFill>
                <a:latin typeface="Bookman Old Style" panose="02050604050505020204" pitchFamily="18" charset="0"/>
              </a:rPr>
              <a:t>фреймворк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 для построения графических пользовательских интерфейсов (GUI)</a:t>
            </a:r>
            <a:r>
              <a:rPr lang="ru-RU" sz="2400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 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на </a:t>
            </a:r>
            <a:r>
              <a:rPr lang="ru-RU" sz="2400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основе XAML</a:t>
            </a:r>
            <a:r>
              <a:rPr lang="en-US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.</a:t>
            </a:r>
            <a:r>
              <a:rPr lang="ru-RU" sz="2400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 Разработана на основе WPF/UWP 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и распространяемая под лицензией </a:t>
            </a:r>
            <a:r>
              <a:rPr lang="ru-RU" sz="2400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MIT. 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Ранее называлась </a:t>
            </a:r>
            <a:r>
              <a:rPr lang="ru-RU" sz="2400" dirty="0" err="1" smtClean="0">
                <a:solidFill>
                  <a:srgbClr val="202122"/>
                </a:solidFill>
                <a:latin typeface="Bookman Old Style" panose="02050604050505020204" pitchFamily="18" charset="0"/>
              </a:rPr>
              <a:t>Perspex</a:t>
            </a:r>
            <a:r>
              <a:rPr lang="ru-RU" sz="2400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.</a:t>
            </a:r>
            <a:endParaRPr lang="ru-RU" sz="2400" dirty="0">
              <a:solidFill>
                <a:srgbClr val="202122"/>
              </a:solidFill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Полностью поддерживает .NET </a:t>
            </a:r>
            <a:r>
              <a:rPr lang="ru-RU" sz="2400" dirty="0" err="1">
                <a:solidFill>
                  <a:srgbClr val="202122"/>
                </a:solidFill>
                <a:latin typeface="Bookman Old Style" panose="02050604050505020204" pitchFamily="18" charset="0"/>
              </a:rPr>
              <a:t>Core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 2.0, XAML, дата-</a:t>
            </a:r>
            <a:r>
              <a:rPr lang="ru-RU" sz="2400" dirty="0" err="1">
                <a:solidFill>
                  <a:srgbClr val="202122"/>
                </a:solidFill>
                <a:latin typeface="Bookman Old Style" panose="02050604050505020204" pitchFamily="18" charset="0"/>
              </a:rPr>
              <a:t>биндинги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, </a:t>
            </a:r>
            <a:r>
              <a:rPr lang="ru-RU" sz="2400" dirty="0" err="1">
                <a:solidFill>
                  <a:srgbClr val="202122"/>
                </a:solidFill>
                <a:latin typeface="Bookman Old Style" panose="02050604050505020204" pitchFamily="18" charset="0"/>
              </a:rPr>
              <a:t>lookless-контролы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 и многое другое. </a:t>
            </a:r>
            <a:r>
              <a:rPr lang="ru-RU" sz="2400" dirty="0" err="1">
                <a:solidFill>
                  <a:srgbClr val="202122"/>
                </a:solidFill>
                <a:latin typeface="Bookman Old Style" panose="02050604050505020204" pitchFamily="18" charset="0"/>
              </a:rPr>
              <a:t>Avalonia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 позволяет писать на C# приложения под </a:t>
            </a:r>
            <a:r>
              <a:rPr lang="ru-RU" sz="2400" dirty="0" err="1">
                <a:solidFill>
                  <a:srgbClr val="202122"/>
                </a:solidFill>
                <a:latin typeface="Bookman Old Style" panose="02050604050505020204" pitchFamily="18" charset="0"/>
              </a:rPr>
              <a:t>Windows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, </a:t>
            </a:r>
            <a:r>
              <a:rPr lang="ru-RU" sz="2400" dirty="0" err="1">
                <a:solidFill>
                  <a:srgbClr val="202122"/>
                </a:solidFill>
                <a:latin typeface="Bookman Old Style" panose="02050604050505020204" pitchFamily="18" charset="0"/>
              </a:rPr>
              <a:t>Linux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 и </a:t>
            </a:r>
            <a:r>
              <a:rPr lang="ru-RU" sz="2400" dirty="0" err="1">
                <a:solidFill>
                  <a:srgbClr val="202122"/>
                </a:solidFill>
                <a:latin typeface="Bookman Old Style" panose="02050604050505020204" pitchFamily="18" charset="0"/>
              </a:rPr>
              <a:t>macOS</a:t>
            </a:r>
            <a:r>
              <a:rPr lang="ru-RU" sz="2400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.</a:t>
            </a:r>
            <a:endParaRPr lang="ru-RU" sz="2400" dirty="0">
              <a:solidFill>
                <a:srgbClr val="202122"/>
              </a:solidFill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Начиная с </a:t>
            </a:r>
            <a:r>
              <a:rPr lang="ru-RU" sz="2400" dirty="0" err="1">
                <a:solidFill>
                  <a:srgbClr val="202122"/>
                </a:solidFill>
                <a:latin typeface="Bookman Old Style" panose="02050604050505020204" pitchFamily="18" charset="0"/>
              </a:rPr>
              <a:t>Avalonia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 11 </a:t>
            </a:r>
            <a:r>
              <a:rPr lang="ru-RU" sz="2400" dirty="0" err="1">
                <a:solidFill>
                  <a:srgbClr val="202122"/>
                </a:solidFill>
                <a:latin typeface="Bookman Old Style" panose="02050604050505020204" pitchFamily="18" charset="0"/>
              </a:rPr>
              <a:t>preview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 1 появилась возможность запуска на </a:t>
            </a:r>
            <a:r>
              <a:rPr lang="ru-RU" sz="2400" dirty="0" err="1">
                <a:solidFill>
                  <a:srgbClr val="202122"/>
                </a:solidFill>
                <a:latin typeface="Bookman Old Style" panose="02050604050505020204" pitchFamily="18" charset="0"/>
              </a:rPr>
              <a:t>iOS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, </a:t>
            </a:r>
            <a:r>
              <a:rPr lang="ru-RU" sz="2400" dirty="0" err="1">
                <a:solidFill>
                  <a:srgbClr val="202122"/>
                </a:solidFill>
                <a:latin typeface="Bookman Old Style" panose="02050604050505020204" pitchFamily="18" charset="0"/>
              </a:rPr>
              <a:t>Android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 и </a:t>
            </a:r>
            <a:r>
              <a:rPr lang="ru-RU" sz="2400" dirty="0" err="1">
                <a:solidFill>
                  <a:srgbClr val="202122"/>
                </a:solidFill>
                <a:latin typeface="Bookman Old Style" panose="02050604050505020204" pitchFamily="18" charset="0"/>
              </a:rPr>
              <a:t>Web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 (без </a:t>
            </a:r>
            <a:r>
              <a:rPr lang="ru-RU" sz="2400" dirty="0" err="1">
                <a:solidFill>
                  <a:srgbClr val="202122"/>
                </a:solidFill>
                <a:latin typeface="Bookman Old Style" panose="02050604050505020204" pitchFamily="18" charset="0"/>
              </a:rPr>
              <a:t>Blazor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) в экспериментальном </a:t>
            </a:r>
            <a:r>
              <a:rPr lang="ru-RU" sz="2400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состоянии.</a:t>
            </a:r>
            <a:endParaRPr lang="ru-RU" sz="2400" dirty="0">
              <a:solidFill>
                <a:srgbClr val="202122"/>
              </a:solidFill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Год </a:t>
            </a:r>
            <a:r>
              <a:rPr lang="ru-RU" sz="2400" b="1" dirty="0">
                <a:latin typeface="Bookman Old Style" panose="02050604050505020204" pitchFamily="18" charset="0"/>
              </a:rPr>
              <a:t>рождения: </a:t>
            </a:r>
            <a:r>
              <a:rPr lang="ru-RU" sz="2400" dirty="0">
                <a:latin typeface="Bookman Old Style" panose="02050604050505020204" pitchFamily="18" charset="0"/>
              </a:rPr>
              <a:t>~2013 (первый </a:t>
            </a:r>
            <a:r>
              <a:rPr lang="ru-RU" sz="2400" dirty="0" err="1">
                <a:latin typeface="Bookman Old Style" panose="02050604050505020204" pitchFamily="18" charset="0"/>
              </a:rPr>
              <a:t>коммит</a:t>
            </a:r>
            <a:r>
              <a:rPr lang="ru-RU" sz="2400" dirty="0">
                <a:latin typeface="Bookman Old Style" panose="02050604050505020204" pitchFamily="18" charset="0"/>
              </a:rPr>
              <a:t>), стабильное и широкое признание получил с выходом .NET </a:t>
            </a:r>
            <a:r>
              <a:rPr lang="ru-RU" sz="2400" dirty="0" err="1">
                <a:latin typeface="Bookman Old Style" panose="02050604050505020204" pitchFamily="18" charset="0"/>
              </a:rPr>
              <a:t>Core</a:t>
            </a:r>
            <a:r>
              <a:rPr lang="ru-RU" sz="2400" dirty="0">
                <a:latin typeface="Bookman Old Style" panose="02050604050505020204" pitchFamily="18" charset="0"/>
              </a:rPr>
              <a:t> и .NET 5+.</a:t>
            </a:r>
          </a:p>
        </p:txBody>
      </p:sp>
      <p:sp>
        <p:nvSpPr>
          <p:cNvPr id="6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2800" b="1" dirty="0" err="1" smtClean="0">
                <a:solidFill>
                  <a:srgbClr val="202122"/>
                </a:solidFill>
                <a:latin typeface="Bookman Old Style" panose="02050604050505020204" pitchFamily="18" charset="0"/>
              </a:rPr>
              <a:t>Avalonia</a:t>
            </a:r>
            <a:endParaRPr lang="ru-RU" sz="2800" b="1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262054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3970318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smtClean="0">
                <a:solidFill>
                  <a:srgbClr val="0F1115"/>
                </a:solidFill>
                <a:latin typeface="Bookman Old Style" panose="02050604050505020204" pitchFamily="18" charset="0"/>
              </a:rPr>
              <a:t>Кроссплатформенность </a:t>
            </a:r>
            <a:r>
              <a:rPr lang="ru-RU" sz="2400" dirty="0" smtClean="0">
                <a:solidFill>
                  <a:srgbClr val="0F1115"/>
                </a:solidFill>
                <a:latin typeface="Bookman Old Style" panose="02050604050505020204" pitchFamily="18" charset="0"/>
              </a:rPr>
              <a:t>– свойство </a:t>
            </a:r>
            <a:r>
              <a:rPr lang="ru-RU" sz="2400" dirty="0">
                <a:solidFill>
                  <a:srgbClr val="0F1115"/>
                </a:solidFill>
                <a:latin typeface="Bookman Old Style" panose="02050604050505020204" pitchFamily="18" charset="0"/>
              </a:rPr>
              <a:t>программного обеспечения, позволяющее ему работать с несколькими операционными системами или аппаратными платформами без изменения исходного кода</a:t>
            </a:r>
            <a:r>
              <a:rPr lang="ru-RU" sz="2400" dirty="0" smtClean="0">
                <a:solidFill>
                  <a:srgbClr val="0F1115"/>
                </a:solidFill>
                <a:latin typeface="Bookman Old Style" panose="02050604050505020204" pitchFamily="18" charset="0"/>
              </a:rPr>
              <a:t>.</a:t>
            </a:r>
          </a:p>
          <a:p>
            <a:pPr algn="just">
              <a:lnSpc>
                <a:spcPct val="150000"/>
              </a:lnSpc>
            </a:pPr>
            <a:r>
              <a:rPr lang="ru-RU" sz="2400" b="1" dirty="0">
                <a:solidFill>
                  <a:srgbClr val="0F1115"/>
                </a:solidFill>
                <a:latin typeface="Bookman Old Style" panose="02050604050505020204" pitchFamily="18" charset="0"/>
              </a:rPr>
              <a:t>Привязка данных (</a:t>
            </a:r>
            <a:r>
              <a:rPr lang="ru-RU" sz="2400" b="1" dirty="0" err="1">
                <a:solidFill>
                  <a:srgbClr val="0F1115"/>
                </a:solidFill>
                <a:latin typeface="Bookman Old Style" panose="02050604050505020204" pitchFamily="18" charset="0"/>
              </a:rPr>
              <a:t>Data</a:t>
            </a:r>
            <a:r>
              <a:rPr lang="ru-RU" sz="2400" b="1" dirty="0">
                <a:solidFill>
                  <a:srgbClr val="0F1115"/>
                </a:solidFill>
                <a:latin typeface="Bookman Old Style" panose="02050604050505020204" pitchFamily="18" charset="0"/>
              </a:rPr>
              <a:t> </a:t>
            </a:r>
            <a:r>
              <a:rPr lang="ru-RU" sz="2400" b="1" dirty="0" err="1">
                <a:solidFill>
                  <a:srgbClr val="0F1115"/>
                </a:solidFill>
                <a:latin typeface="Bookman Old Style" panose="02050604050505020204" pitchFamily="18" charset="0"/>
              </a:rPr>
              <a:t>Binding</a:t>
            </a:r>
            <a:r>
              <a:rPr lang="ru-RU" sz="2400" b="1" dirty="0" smtClean="0">
                <a:solidFill>
                  <a:srgbClr val="0F1115"/>
                </a:solidFill>
                <a:latin typeface="Bookman Old Style" panose="02050604050505020204" pitchFamily="18" charset="0"/>
              </a:rPr>
              <a:t>) </a:t>
            </a:r>
            <a:r>
              <a:rPr lang="ru-RU" sz="2400" dirty="0" smtClean="0">
                <a:solidFill>
                  <a:srgbClr val="0F1115"/>
                </a:solidFill>
                <a:latin typeface="Bookman Old Style" panose="02050604050505020204" pitchFamily="18" charset="0"/>
              </a:rPr>
              <a:t>– механизм </a:t>
            </a:r>
            <a:r>
              <a:rPr lang="ru-RU" sz="2400" dirty="0">
                <a:solidFill>
                  <a:srgbClr val="0F1115"/>
                </a:solidFill>
                <a:latin typeface="Bookman Old Style" panose="02050604050505020204" pitchFamily="18" charset="0"/>
              </a:rPr>
              <a:t>автоматической синхронизации данных между пользовательским интерфейсом (</a:t>
            </a:r>
            <a:r>
              <a:rPr lang="ru-RU" sz="2400" dirty="0" err="1">
                <a:solidFill>
                  <a:srgbClr val="0F1115"/>
                </a:solidFill>
                <a:latin typeface="Bookman Old Style" panose="02050604050505020204" pitchFamily="18" charset="0"/>
              </a:rPr>
              <a:t>View</a:t>
            </a:r>
            <a:r>
              <a:rPr lang="ru-RU" sz="2400" dirty="0">
                <a:solidFill>
                  <a:srgbClr val="0F1115"/>
                </a:solidFill>
                <a:latin typeface="Bookman Old Style" panose="02050604050505020204" pitchFamily="18" charset="0"/>
              </a:rPr>
              <a:t>) и источником данных (</a:t>
            </a:r>
            <a:r>
              <a:rPr lang="ru-RU" sz="2400" dirty="0" err="1">
                <a:solidFill>
                  <a:srgbClr val="0F1115"/>
                </a:solidFill>
                <a:latin typeface="Bookman Old Style" panose="02050604050505020204" pitchFamily="18" charset="0"/>
              </a:rPr>
              <a:t>ViewModel</a:t>
            </a:r>
            <a:r>
              <a:rPr lang="ru-RU" sz="2400" dirty="0">
                <a:solidFill>
                  <a:srgbClr val="0F1115"/>
                </a:solidFill>
                <a:latin typeface="Bookman Old Style" panose="02050604050505020204" pitchFamily="18" charset="0"/>
              </a:rPr>
              <a:t>, </a:t>
            </a:r>
            <a:r>
              <a:rPr lang="ru-RU" sz="2400" dirty="0" err="1">
                <a:solidFill>
                  <a:srgbClr val="0F1115"/>
                </a:solidFill>
                <a:latin typeface="Bookman Old Style" panose="02050604050505020204" pitchFamily="18" charset="0"/>
              </a:rPr>
              <a:t>Model</a:t>
            </a:r>
            <a:r>
              <a:rPr lang="ru-RU" sz="2400" dirty="0">
                <a:solidFill>
                  <a:srgbClr val="0F1115"/>
                </a:solidFill>
                <a:latin typeface="Bookman Old Style" panose="02050604050505020204" pitchFamily="18" charset="0"/>
              </a:rPr>
              <a:t>). При изменении данных в коде интерфейс автоматически обновляется, и наоборот.</a:t>
            </a:r>
            <a:endParaRPr lang="ru-RU" sz="2400" i="0" dirty="0">
              <a:solidFill>
                <a:srgbClr val="0F1115"/>
              </a:solidFill>
              <a:effectLst/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56350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654356"/>
            <a:ext cx="12192000" cy="4524315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Для </a:t>
            </a:r>
            <a:r>
              <a:rPr lang="ru-RU" sz="2400" dirty="0" smtClean="0">
                <a:latin typeface="Bookman Old Style" panose="02050604050505020204" pitchFamily="18" charset="0"/>
              </a:rPr>
              <a:t>работы с </a:t>
            </a:r>
            <a:r>
              <a:rPr lang="en-US" sz="2400" dirty="0" err="1" smtClean="0">
                <a:latin typeface="Bookman Old Style" panose="02050604050505020204" pitchFamily="18" charset="0"/>
              </a:rPr>
              <a:t>Avalonia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необходимо установить шаблоны, для этого нужно запустить консоль и выполнить команду:</a:t>
            </a: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en-US" sz="2400" b="1" dirty="0" err="1">
                <a:latin typeface="Bookman Old Style" panose="02050604050505020204" pitchFamily="18" charset="0"/>
              </a:rPr>
              <a:t>dotnet</a:t>
            </a:r>
            <a:r>
              <a:rPr lang="en-US" sz="2400" b="1" dirty="0">
                <a:latin typeface="Bookman Old Style" panose="02050604050505020204" pitchFamily="18" charset="0"/>
              </a:rPr>
              <a:t> new install </a:t>
            </a:r>
            <a:r>
              <a:rPr lang="en-US" sz="2400" b="1" dirty="0" err="1" smtClean="0">
                <a:latin typeface="Bookman Old Style" panose="02050604050505020204" pitchFamily="18" charset="0"/>
              </a:rPr>
              <a:t>Avalonia.Templates</a:t>
            </a:r>
            <a:endParaRPr lang="en-US" sz="2400" b="1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Для поддержки </a:t>
            </a:r>
            <a:r>
              <a:rPr lang="ru-RU" sz="2400" dirty="0" err="1" smtClean="0">
                <a:latin typeface="Bookman Old Style" panose="02050604050505020204" pitchFamily="18" charset="0"/>
              </a:rPr>
              <a:t>Avalonia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в </a:t>
            </a:r>
            <a:r>
              <a:rPr lang="en-US" sz="2400" dirty="0" smtClean="0">
                <a:latin typeface="Bookman Old Style" panose="02050604050505020204" pitchFamily="18" charset="0"/>
              </a:rPr>
              <a:t>Visual Studio</a:t>
            </a:r>
            <a:r>
              <a:rPr lang="ru-RU" sz="2400" dirty="0" smtClean="0">
                <a:latin typeface="Bookman Old Style" panose="02050604050505020204" pitchFamily="18" charset="0"/>
              </a:rPr>
              <a:t>, </a:t>
            </a:r>
            <a:r>
              <a:rPr lang="ru-RU" sz="2400" dirty="0">
                <a:latin typeface="Bookman Old Style" panose="02050604050505020204" pitchFamily="18" charset="0"/>
              </a:rPr>
              <a:t>необходимо установить расширение </a:t>
            </a:r>
            <a:r>
              <a:rPr lang="en-US" sz="2400" dirty="0" err="1" smtClean="0">
                <a:latin typeface="Bookman Old Style" panose="02050604050505020204" pitchFamily="18" charset="0"/>
                <a:hlinkClick r:id="rId3"/>
              </a:rPr>
              <a:t>Avalonia</a:t>
            </a:r>
            <a:r>
              <a:rPr lang="en-US" sz="2400" dirty="0" smtClean="0">
                <a:latin typeface="Bookman Old Style" panose="02050604050505020204" pitchFamily="18" charset="0"/>
                <a:hlinkClick r:id="rId3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  <a:hlinkClick r:id="rId3"/>
              </a:rPr>
              <a:t>для </a:t>
            </a:r>
            <a:r>
              <a:rPr lang="en-US" sz="2400" dirty="0" smtClean="0">
                <a:latin typeface="Bookman Old Style" panose="02050604050505020204" pitchFamily="18" charset="0"/>
                <a:hlinkClick r:id="rId3"/>
              </a:rPr>
              <a:t>Visual Studio</a:t>
            </a:r>
            <a:r>
              <a:rPr lang="en-US" sz="2400" dirty="0">
                <a:latin typeface="Bookman Old Style" panose="02050604050505020204" pitchFamily="18" charset="0"/>
              </a:rPr>
              <a:t>.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  <p:sp>
        <p:nvSpPr>
          <p:cNvPr id="6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Начало работы</a:t>
            </a:r>
            <a:endParaRPr lang="ru-RU" sz="2800" b="1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4"/>
          <a:srcRect r="41887" b="73103"/>
          <a:stretch/>
        </p:blipFill>
        <p:spPr>
          <a:xfrm>
            <a:off x="2576456" y="2373052"/>
            <a:ext cx="7039088" cy="1703842"/>
          </a:xfrm>
          <a:prstGeom prst="rect">
            <a:avLst/>
          </a:prstGeom>
        </p:spPr>
      </p:pic>
      <p:pic>
        <p:nvPicPr>
          <p:cNvPr id="2050" name="Picture 2" descr="https://docs.avaloniaui.net/ru/assets/images/avalonia-vs-extension-marketplace-29ba385ebf3970599ba0985c661cec55.png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48764" y="4926752"/>
            <a:ext cx="5247213" cy="1605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967060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173624"/>
            <a:ext cx="12192000" cy="3416320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Чтобы создать проект в рамках шаблона </a:t>
            </a:r>
            <a:r>
              <a:rPr lang="en-US" sz="2400" dirty="0" smtClean="0">
                <a:latin typeface="Bookman Old Style" panose="02050604050505020204" pitchFamily="18" charset="0"/>
              </a:rPr>
              <a:t>MVVM </a:t>
            </a:r>
            <a:r>
              <a:rPr lang="ru-RU" sz="2400" dirty="0" smtClean="0">
                <a:latin typeface="Bookman Old Style" panose="02050604050505020204" pitchFamily="18" charset="0"/>
              </a:rPr>
              <a:t>необходимо выбрать</a:t>
            </a: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Остальные пункты </a:t>
            </a:r>
            <a:r>
              <a:rPr lang="ru-RU" sz="2400" dirty="0" err="1" smtClean="0">
                <a:latin typeface="Bookman Old Style" panose="02050604050505020204" pitchFamily="18" charset="0"/>
              </a:rPr>
              <a:t>прокликиваются</a:t>
            </a:r>
            <a:r>
              <a:rPr lang="ru-RU" sz="2400" dirty="0" smtClean="0">
                <a:latin typeface="Bookman Old Style" panose="02050604050505020204" pitchFamily="18" charset="0"/>
              </a:rPr>
              <a:t> далее.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49" y="903642"/>
            <a:ext cx="12076901" cy="1940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83289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116474"/>
            <a:ext cx="6832869" cy="6740307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Структура проекта:</a:t>
            </a:r>
          </a:p>
          <a:p>
            <a:pPr algn="just">
              <a:lnSpc>
                <a:spcPct val="150000"/>
              </a:lnSpc>
            </a:pPr>
            <a:r>
              <a:rPr lang="en-US" sz="2400" b="1" dirty="0" smtClean="0">
                <a:latin typeface="Bookman Old Style" panose="02050604050505020204" pitchFamily="18" charset="0"/>
              </a:rPr>
              <a:t>Assets</a:t>
            </a:r>
            <a:r>
              <a:rPr lang="en-US" sz="2400" dirty="0" smtClean="0">
                <a:latin typeface="Bookman Old Style" panose="02050604050505020204" pitchFamily="18" charset="0"/>
              </a:rPr>
              <a:t> – </a:t>
            </a:r>
            <a:r>
              <a:rPr lang="ru-RU" sz="2400" dirty="0" smtClean="0">
                <a:latin typeface="Bookman Old Style" panose="02050604050505020204" pitchFamily="18" charset="0"/>
              </a:rPr>
              <a:t>статические файлы ресурсов (иконки, стили и др.)</a:t>
            </a:r>
          </a:p>
          <a:p>
            <a:pPr algn="just">
              <a:lnSpc>
                <a:spcPct val="150000"/>
              </a:lnSpc>
            </a:pPr>
            <a:r>
              <a:rPr lang="en-US" sz="2400" b="1" dirty="0" smtClean="0">
                <a:latin typeface="Bookman Old Style" panose="02050604050505020204" pitchFamily="18" charset="0"/>
              </a:rPr>
              <a:t>Models</a:t>
            </a:r>
            <a:r>
              <a:rPr lang="ru-RU" sz="2400" b="1" dirty="0" smtClean="0">
                <a:latin typeface="Bookman Old Style" panose="02050604050505020204" pitchFamily="18" charset="0"/>
              </a:rPr>
              <a:t>, </a:t>
            </a:r>
            <a:r>
              <a:rPr lang="en-US" sz="2400" b="1" dirty="0" err="1" smtClean="0">
                <a:latin typeface="Bookman Old Style" panose="02050604050505020204" pitchFamily="18" charset="0"/>
              </a:rPr>
              <a:t>ViewModels</a:t>
            </a:r>
            <a:r>
              <a:rPr lang="en-US" sz="2400" b="1" dirty="0" smtClean="0">
                <a:latin typeface="Bookman Old Style" panose="02050604050505020204" pitchFamily="18" charset="0"/>
              </a:rPr>
              <a:t>, Views </a:t>
            </a:r>
            <a:r>
              <a:rPr lang="en-US" sz="2400" dirty="0" smtClean="0">
                <a:latin typeface="Bookman Old Style" panose="02050604050505020204" pitchFamily="18" charset="0"/>
              </a:rPr>
              <a:t>– </a:t>
            </a:r>
            <a:r>
              <a:rPr lang="ru-RU" sz="2400" dirty="0" smtClean="0">
                <a:latin typeface="Bookman Old Style" panose="02050604050505020204" pitchFamily="18" charset="0"/>
              </a:rPr>
              <a:t>модели, модели представлений и представления согласно паттерну </a:t>
            </a:r>
            <a:r>
              <a:rPr lang="en-US" sz="2400" dirty="0" smtClean="0">
                <a:latin typeface="Bookman Old Style" panose="02050604050505020204" pitchFamily="18" charset="0"/>
              </a:rPr>
              <a:t>MVVM.</a:t>
            </a: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en-US" sz="2400" b="1" dirty="0" smtClean="0">
                <a:latin typeface="Bookman Old Style" panose="02050604050505020204" pitchFamily="18" charset="0"/>
              </a:rPr>
              <a:t>App</a:t>
            </a:r>
            <a:r>
              <a:rPr lang="en-US" sz="2400" dirty="0" smtClean="0">
                <a:latin typeface="Bookman Old Style" panose="02050604050505020204" pitchFamily="18" charset="0"/>
              </a:rPr>
              <a:t> – </a:t>
            </a:r>
            <a:r>
              <a:rPr lang="ru-RU" sz="2400" dirty="0" smtClean="0">
                <a:latin typeface="Bookman Old Style" panose="02050604050505020204" pitchFamily="18" charset="0"/>
              </a:rPr>
              <a:t>точка для запуска основного окна (</a:t>
            </a:r>
            <a:r>
              <a:rPr lang="en-US" sz="2400" dirty="0" err="1" smtClean="0">
                <a:latin typeface="Bookman Old Style" panose="02050604050505020204" pitchFamily="18" charset="0"/>
              </a:rPr>
              <a:t>MainWindow</a:t>
            </a:r>
            <a:r>
              <a:rPr lang="ru-RU" sz="2400" dirty="0" smtClean="0">
                <a:latin typeface="Bookman Old Style" panose="02050604050505020204" pitchFamily="18" charset="0"/>
              </a:rPr>
              <a:t>).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en-US" sz="2400" b="1" dirty="0" smtClean="0">
                <a:latin typeface="Bookman Old Style" panose="02050604050505020204" pitchFamily="18" charset="0"/>
              </a:rPr>
              <a:t>Program</a:t>
            </a:r>
            <a:r>
              <a:rPr lang="en-US" sz="2400" dirty="0" smtClean="0">
                <a:latin typeface="Bookman Old Style" panose="02050604050505020204" pitchFamily="18" charset="0"/>
              </a:rPr>
              <a:t> – </a:t>
            </a:r>
            <a:r>
              <a:rPr lang="ru-RU" sz="2400" dirty="0" smtClean="0">
                <a:latin typeface="Bookman Old Style" panose="02050604050505020204" pitchFamily="18" charset="0"/>
              </a:rPr>
              <a:t>точка входа в программу.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en-US" sz="2400" b="1" dirty="0" err="1" smtClean="0">
                <a:latin typeface="Bookman Old Style" panose="02050604050505020204" pitchFamily="18" charset="0"/>
              </a:rPr>
              <a:t>ViewLocator</a:t>
            </a:r>
            <a:r>
              <a:rPr lang="en-US" sz="2400" dirty="0" smtClean="0">
                <a:latin typeface="Bookman Old Style" panose="02050604050505020204" pitchFamily="18" charset="0"/>
              </a:rPr>
              <a:t> – </a:t>
            </a:r>
            <a:r>
              <a:rPr lang="ru-RU" sz="2400" dirty="0" smtClean="0">
                <a:latin typeface="Bookman Old Style" panose="02050604050505020204" pitchFamily="18" charset="0"/>
              </a:rPr>
              <a:t>вспомогательный класс, автоматически связывает </a:t>
            </a:r>
            <a:r>
              <a:rPr lang="en-US" sz="2400" dirty="0" smtClean="0">
                <a:latin typeface="Bookman Old Style" panose="02050604050505020204" pitchFamily="18" charset="0"/>
              </a:rPr>
              <a:t>Views </a:t>
            </a:r>
            <a:r>
              <a:rPr lang="ru-RU" sz="2400" dirty="0" smtClean="0">
                <a:latin typeface="Bookman Old Style" panose="02050604050505020204" pitchFamily="18" charset="0"/>
              </a:rPr>
              <a:t>и </a:t>
            </a:r>
            <a:r>
              <a:rPr lang="en-US" sz="2400" dirty="0" err="1" smtClean="0">
                <a:latin typeface="Bookman Old Style" panose="02050604050505020204" pitchFamily="18" charset="0"/>
              </a:rPr>
              <a:t>ViewModels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по именам.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2869" y="250655"/>
            <a:ext cx="5143978" cy="5022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62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116474"/>
            <a:ext cx="12192000" cy="4524315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highlight>
                  <a:srgbClr val="FFFFFF"/>
                </a:highlight>
                <a:latin typeface="Bookman Old Style" panose="02050604050505020204" pitchFamily="18" charset="0"/>
              </a:rPr>
              <a:t>Базовый проект включает следующую модель представления </a:t>
            </a:r>
            <a:r>
              <a:rPr lang="en-US" sz="2400" dirty="0" err="1" smtClean="0">
                <a:highlight>
                  <a:srgbClr val="FFFFFF"/>
                </a:highlight>
                <a:latin typeface="Bookman Old Style" panose="02050604050505020204" pitchFamily="18" charset="0"/>
              </a:rPr>
              <a:t>MainWindowViewModel</a:t>
            </a:r>
            <a:r>
              <a:rPr lang="ru-RU" sz="2400" dirty="0" smtClean="0">
                <a:highlight>
                  <a:srgbClr val="FFFFFF"/>
                </a:highlight>
                <a:latin typeface="Bookman Old Style" panose="02050604050505020204" pitchFamily="18" charset="0"/>
              </a:rPr>
              <a:t>.</a:t>
            </a:r>
            <a:r>
              <a:rPr lang="en-US" sz="2400" dirty="0" err="1" smtClean="0">
                <a:highlight>
                  <a:srgbClr val="FFFFFF"/>
                </a:highlight>
                <a:latin typeface="Bookman Old Style" panose="02050604050505020204" pitchFamily="18" charset="0"/>
              </a:rPr>
              <a:t>cs</a:t>
            </a:r>
            <a:r>
              <a:rPr lang="en-US" sz="2400" dirty="0" smtClean="0">
                <a:highlight>
                  <a:srgbClr val="FFFFFF"/>
                </a:highlight>
                <a:latin typeface="Bookman Old Style" panose="02050604050505020204" pitchFamily="18" charset="0"/>
              </a:rPr>
              <a:t>:</a:t>
            </a:r>
          </a:p>
          <a:p>
            <a:endParaRPr lang="en-US" sz="2400" dirty="0" smtClean="0">
              <a:solidFill>
                <a:srgbClr val="0000FF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namespace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AvaloniaApplication1.ViewModels;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partial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MainWindowViewModel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: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ViewModelBase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Greeting {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get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 } = 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"Welcome to </a:t>
            </a:r>
            <a:r>
              <a:rPr lang="en-US" sz="2400" dirty="0" err="1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Avalonia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!"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en-US" sz="24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ru-RU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22741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6617196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r>
              <a:rPr lang="ru-RU" sz="2400" dirty="0" smtClean="0">
                <a:highlight>
                  <a:srgbClr val="FFFFFF"/>
                </a:highlight>
                <a:latin typeface="Bookman Old Style" panose="02050604050505020204" pitchFamily="18" charset="0"/>
              </a:rPr>
              <a:t>Представление</a:t>
            </a:r>
            <a:r>
              <a:rPr lang="en-US" sz="2400" dirty="0">
                <a:highlight>
                  <a:srgbClr val="FFFFFF"/>
                </a:highlight>
                <a:latin typeface="Bookman Old Style" panose="02050604050505020204" pitchFamily="18" charset="0"/>
              </a:rPr>
              <a:t> </a:t>
            </a:r>
            <a:r>
              <a:rPr lang="en-US" sz="2400" dirty="0" err="1">
                <a:highlight>
                  <a:srgbClr val="FFFFFF"/>
                </a:highlight>
                <a:latin typeface="Bookman Old Style" panose="02050604050505020204" pitchFamily="18" charset="0"/>
              </a:rPr>
              <a:t>MainWindow</a:t>
            </a:r>
            <a:r>
              <a:rPr lang="ru-RU" sz="2400" dirty="0" smtClean="0">
                <a:highlight>
                  <a:srgbClr val="FFFFFF"/>
                </a:highlight>
                <a:latin typeface="Bookman Old Style" panose="02050604050505020204" pitchFamily="18" charset="0"/>
              </a:rPr>
              <a:t>.</a:t>
            </a:r>
            <a:r>
              <a:rPr lang="en-US" sz="2400" dirty="0" err="1" smtClean="0">
                <a:highlight>
                  <a:srgbClr val="FFFFFF"/>
                </a:highlight>
                <a:latin typeface="Bookman Old Style" panose="02050604050505020204" pitchFamily="18" charset="0"/>
              </a:rPr>
              <a:t>xaml</a:t>
            </a:r>
            <a:r>
              <a:rPr lang="ru-RU" sz="2400" dirty="0" smtClean="0">
                <a:highlight>
                  <a:srgbClr val="FFFFFF"/>
                </a:highlight>
                <a:latin typeface="Bookman Old Style" panose="02050604050505020204" pitchFamily="18" charset="0"/>
              </a:rPr>
              <a:t>:</a:t>
            </a:r>
            <a:endParaRPr lang="en-US" sz="2400" dirty="0">
              <a:highlight>
                <a:srgbClr val="FFFFFF"/>
              </a:highlight>
              <a:latin typeface="Bookman Old Style" panose="02050604050505020204" pitchFamily="18" charset="0"/>
            </a:endParaRPr>
          </a:p>
          <a:p>
            <a:endParaRPr lang="en-US" sz="2000" dirty="0" smtClean="0">
              <a:solidFill>
                <a:srgbClr val="800000"/>
              </a:solidFill>
              <a:latin typeface="Consolas" panose="020B0609020204030204" pitchFamily="49" charset="0"/>
            </a:endParaRPr>
          </a:p>
          <a:p>
            <a:r>
              <a:rPr lang="en-US" sz="2000" dirty="0" smtClean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000" dirty="0">
                <a:solidFill>
                  <a:srgbClr val="800000"/>
                </a:solidFill>
                <a:latin typeface="Consolas" panose="020B0609020204030204" pitchFamily="49" charset="0"/>
              </a:rPr>
              <a:t>Window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FF0000"/>
                </a:solidFill>
                <a:latin typeface="Consolas" panose="020B0609020204030204" pitchFamily="49" charset="0"/>
              </a:rPr>
              <a:t>xmlns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https://github.com/</a:t>
            </a:r>
            <a:r>
              <a:rPr lang="en-US" sz="2000" dirty="0" err="1">
                <a:solidFill>
                  <a:srgbClr val="0000FF"/>
                </a:solidFill>
                <a:latin typeface="Consolas" panose="020B0609020204030204" pitchFamily="49" charset="0"/>
              </a:rPr>
              <a:t>avaloniaui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2000" dirty="0" err="1">
                <a:solidFill>
                  <a:srgbClr val="FF0000"/>
                </a:solidFill>
                <a:latin typeface="Consolas" panose="020B0609020204030204" pitchFamily="49" charset="0"/>
              </a:rPr>
              <a:t>xmlns:x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http://schemas.microsoft.com/</a:t>
            </a:r>
            <a:r>
              <a:rPr lang="en-US" sz="2000" dirty="0" err="1">
                <a:solidFill>
                  <a:srgbClr val="0000FF"/>
                </a:solidFill>
                <a:latin typeface="Consolas" panose="020B0609020204030204" pitchFamily="49" charset="0"/>
              </a:rPr>
              <a:t>winfx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/2006/</a:t>
            </a:r>
            <a:r>
              <a:rPr lang="en-US" sz="2000" dirty="0" err="1">
                <a:solidFill>
                  <a:srgbClr val="0000FF"/>
                </a:solidFill>
                <a:latin typeface="Consolas" panose="020B0609020204030204" pitchFamily="49" charset="0"/>
              </a:rPr>
              <a:t>xaml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2000" dirty="0" err="1">
                <a:solidFill>
                  <a:srgbClr val="FF0000"/>
                </a:solidFill>
                <a:latin typeface="Consolas" panose="020B0609020204030204" pitchFamily="49" charset="0"/>
              </a:rPr>
              <a:t>xmlns:vm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using:AvaloniaApplication1.ViewModels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2000" dirty="0" err="1">
                <a:solidFill>
                  <a:srgbClr val="FF0000"/>
                </a:solidFill>
                <a:latin typeface="Consolas" panose="020B0609020204030204" pitchFamily="49" charset="0"/>
              </a:rPr>
              <a:t>xmlns:d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http://schemas.microsoft.com/expression/blend/2008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2000" dirty="0" err="1">
                <a:solidFill>
                  <a:srgbClr val="FF0000"/>
                </a:solidFill>
                <a:latin typeface="Consolas" panose="020B0609020204030204" pitchFamily="49" charset="0"/>
              </a:rPr>
              <a:t>xmlns:mc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http://schemas.openxmlformats.org/markup-compatibility/2006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2000" dirty="0" err="1">
                <a:solidFill>
                  <a:srgbClr val="FF0000"/>
                </a:solidFill>
                <a:latin typeface="Consolas" panose="020B0609020204030204" pitchFamily="49" charset="0"/>
              </a:rPr>
              <a:t>mc:Ignorable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d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d:DesignWidth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800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d:DesignHeight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450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x:Class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AvaloniaApplication1.Views.MainWindow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x:DataType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vm:MainWindowViewModel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Icon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/Assets/avalonia-logo.ico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Title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AvaloniaApplication1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0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/>
            </a:r>
            <a:b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0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000" dirty="0" err="1">
                <a:solidFill>
                  <a:srgbClr val="800000"/>
                </a:solidFill>
                <a:latin typeface="Consolas" panose="020B0609020204030204" pitchFamily="49" charset="0"/>
              </a:rPr>
              <a:t>Design.DataContext</a:t>
            </a:r>
            <a:r>
              <a:rPr lang="en-US" sz="20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20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000" dirty="0" err="1">
                <a:solidFill>
                  <a:srgbClr val="800000"/>
                </a:solidFill>
                <a:latin typeface="Consolas" panose="020B0609020204030204" pitchFamily="49" charset="0"/>
              </a:rPr>
              <a:t>vm:MainWindowViewModel</a:t>
            </a:r>
            <a:r>
              <a:rPr lang="en-US" sz="2000" dirty="0">
                <a:solidFill>
                  <a:srgbClr val="800000"/>
                </a:solidFill>
                <a:latin typeface="Consolas" panose="020B0609020204030204" pitchFamily="49" charset="0"/>
              </a:rPr>
              <a:t>/&gt;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000" dirty="0">
                <a:solidFill>
                  <a:srgbClr val="800000"/>
                </a:solidFill>
                <a:latin typeface="Consolas" panose="020B0609020204030204" pitchFamily="49" charset="0"/>
              </a:rPr>
              <a:t>&lt;/</a:t>
            </a:r>
            <a:r>
              <a:rPr lang="en-US" sz="2000" dirty="0" err="1">
                <a:solidFill>
                  <a:srgbClr val="800000"/>
                </a:solidFill>
                <a:latin typeface="Consolas" panose="020B0609020204030204" pitchFamily="49" charset="0"/>
              </a:rPr>
              <a:t>Design.DataContext</a:t>
            </a:r>
            <a:r>
              <a:rPr lang="en-US" sz="20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/>
            </a:r>
            <a:b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0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000" dirty="0" err="1">
                <a:solidFill>
                  <a:srgbClr val="800000"/>
                </a:solidFill>
                <a:latin typeface="Consolas" panose="020B0609020204030204" pitchFamily="49" charset="0"/>
              </a:rPr>
              <a:t>TextBlock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Text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{Binding Greeting}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FF0000"/>
                </a:solidFill>
                <a:latin typeface="Consolas" panose="020B0609020204030204" pitchFamily="49" charset="0"/>
              </a:rPr>
              <a:t>HorizontalAlignment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Center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FF0000"/>
                </a:solidFill>
                <a:latin typeface="Consolas" panose="020B0609020204030204" pitchFamily="49" charset="0"/>
              </a:rPr>
              <a:t>VerticalAlignment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Center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000" dirty="0">
                <a:solidFill>
                  <a:srgbClr val="800000"/>
                </a:solidFill>
                <a:latin typeface="Consolas" panose="020B0609020204030204" pitchFamily="49" charset="0"/>
              </a:rPr>
              <a:t>/&gt;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/>
            </a:r>
            <a:b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2000" dirty="0">
                <a:solidFill>
                  <a:srgbClr val="800000"/>
                </a:solidFill>
                <a:latin typeface="Consolas" panose="020B0609020204030204" pitchFamily="49" charset="0"/>
              </a:rPr>
              <a:t>&lt;/Window</a:t>
            </a:r>
            <a:r>
              <a:rPr lang="en-US" sz="2000" dirty="0" smtClean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788986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3918" y="562016"/>
            <a:ext cx="8444163" cy="57339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08867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>
                <a:solidFill>
                  <a:srgbClr val="202122"/>
                </a:solidFill>
                <a:latin typeface="Bookman Old Style" panose="02050604050505020204" pitchFamily="18" charset="0"/>
              </a:rPr>
              <a:t>Базовые элементы управления</a:t>
            </a:r>
            <a:endParaRPr lang="ru-RU" sz="2800" b="1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0" y="654356"/>
            <a:ext cx="12192000" cy="2123658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1. Кнопки</a:t>
            </a:r>
          </a:p>
          <a:p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&lt;Button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Content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>
                <a:solidFill>
                  <a:srgbClr val="0000FF"/>
                </a:solidFill>
                <a:latin typeface="Consolas" panose="020B0609020204030204" pitchFamily="49" charset="0"/>
              </a:rPr>
              <a:t>Обычная кнопка</a:t>
            </a:r>
            <a:r>
              <a:rPr lang="ru-RU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Click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Button_Click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CD3131"/>
                </a:solidFill>
                <a:latin typeface="Consolas" panose="020B0609020204030204" pitchFamily="49" charset="0"/>
              </a:rPr>
              <a:t>/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ToggleButton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Content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>
                <a:solidFill>
                  <a:srgbClr val="0000FF"/>
                </a:solidFill>
                <a:latin typeface="Consolas" panose="020B0609020204030204" pitchFamily="49" charset="0"/>
              </a:rPr>
              <a:t>Переключаемая кнопка</a:t>
            </a:r>
            <a:r>
              <a:rPr lang="ru-RU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>
                <a:solidFill>
                  <a:srgbClr val="800000"/>
                </a:solidFill>
                <a:latin typeface="Consolas" panose="020B0609020204030204" pitchFamily="49" charset="0"/>
              </a:rPr>
              <a:t>/&gt;</a:t>
            </a:r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RepeatButton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Content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 smtClean="0">
                <a:solidFill>
                  <a:srgbClr val="0000FF"/>
                </a:solidFill>
                <a:latin typeface="Consolas" panose="020B0609020204030204" pitchFamily="49" charset="0"/>
              </a:rPr>
              <a:t>Кнопка-повторитель</a:t>
            </a:r>
            <a:r>
              <a:rPr lang="ru-RU" sz="2400" dirty="0" smtClean="0">
                <a:solidFill>
                  <a:srgbClr val="A31515"/>
                </a:solidFill>
                <a:latin typeface="Consolas" panose="020B0609020204030204" pitchFamily="49" charset="0"/>
              </a:rPr>
              <a:t>“</a:t>
            </a:r>
            <a:endParaRPr lang="en-US" sz="2400" dirty="0" smtClean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	</a:t>
            </a:r>
            <a:r>
              <a:rPr lang="en-US" sz="24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				 </a:t>
            </a:r>
            <a:r>
              <a:rPr lang="en-US" sz="2400" dirty="0" smtClean="0">
                <a:solidFill>
                  <a:srgbClr val="FF0000"/>
                </a:solidFill>
                <a:latin typeface="Consolas" panose="020B0609020204030204" pitchFamily="49" charset="0"/>
              </a:rPr>
              <a:t>Delay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500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Interval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100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/&gt;</a:t>
            </a:r>
            <a:endParaRPr lang="en-US" sz="2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3"/>
          <a:srcRect t="12027" b="14363"/>
          <a:stretch/>
        </p:blipFill>
        <p:spPr>
          <a:xfrm>
            <a:off x="3295651" y="2971801"/>
            <a:ext cx="6434312" cy="3295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18367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0" y="0"/>
            <a:ext cx="12192000" cy="3600986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2</a:t>
            </a:r>
            <a:r>
              <a:rPr lang="ru-RU" sz="2400" b="1" dirty="0">
                <a:latin typeface="Bookman Old Style" panose="02050604050505020204" pitchFamily="18" charset="0"/>
              </a:rPr>
              <a:t>. Текстовые </a:t>
            </a:r>
            <a:r>
              <a:rPr lang="ru-RU" sz="2400" b="1" dirty="0" smtClean="0">
                <a:latin typeface="Bookman Old Style" panose="02050604050505020204" pitchFamily="18" charset="0"/>
              </a:rPr>
              <a:t>элементы</a:t>
            </a:r>
          </a:p>
          <a:p>
            <a:r>
              <a:rPr lang="ru-RU" sz="2400" dirty="0">
                <a:solidFill>
                  <a:srgbClr val="008000"/>
                </a:solidFill>
                <a:latin typeface="Consolas" panose="020B0609020204030204" pitchFamily="49" charset="0"/>
              </a:rPr>
              <a:t>&lt;!-- Простой текст --&gt;</a:t>
            </a:r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TextBlock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Text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>
                <a:solidFill>
                  <a:srgbClr val="0000FF"/>
                </a:solidFill>
                <a:latin typeface="Consolas" panose="020B0609020204030204" pitchFamily="49" charset="0"/>
              </a:rPr>
              <a:t>Статический текст</a:t>
            </a:r>
            <a:r>
              <a:rPr lang="ru-RU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FontSize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16</a:t>
            </a:r>
            <a:r>
              <a:rPr lang="en-US" sz="2400" dirty="0" smtClean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 smtClean="0">
                <a:solidFill>
                  <a:srgbClr val="800000"/>
                </a:solidFill>
                <a:latin typeface="Consolas" panose="020B0609020204030204" pitchFamily="49" charset="0"/>
              </a:rPr>
              <a:t>/&gt;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/>
            </a:r>
            <a:b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&lt;!-- </a:t>
            </a:r>
            <a:r>
              <a:rPr lang="ru-RU" sz="2400" dirty="0">
                <a:solidFill>
                  <a:srgbClr val="008000"/>
                </a:solidFill>
                <a:latin typeface="Consolas" panose="020B0609020204030204" pitchFamily="49" charset="0"/>
              </a:rPr>
              <a:t>Поле ввода --&gt;</a:t>
            </a:r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TextBox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Text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{Binding Name}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Watermark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>
                <a:solidFill>
                  <a:srgbClr val="0000FF"/>
                </a:solidFill>
                <a:latin typeface="Consolas" panose="020B0609020204030204" pitchFamily="49" charset="0"/>
              </a:rPr>
              <a:t>Введите имя</a:t>
            </a:r>
            <a:r>
              <a:rPr lang="ru-RU" sz="2400" dirty="0" smtClean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 smtClean="0">
                <a:solidFill>
                  <a:srgbClr val="800000"/>
                </a:solidFill>
                <a:latin typeface="Consolas" panose="020B0609020204030204" pitchFamily="49" charset="0"/>
              </a:rPr>
              <a:t>/&gt;</a:t>
            </a:r>
            <a:r>
              <a:rPr lang="ru-RU" sz="2400" dirty="0">
                <a:solidFill>
                  <a:srgbClr val="000000"/>
                </a:solidFill>
                <a:latin typeface="Consolas" panose="020B0609020204030204" pitchFamily="49" charset="0"/>
              </a:rPr>
              <a:t/>
            </a:r>
            <a:br>
              <a:rPr lang="ru-RU" sz="2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ru-RU" sz="2400" dirty="0">
                <a:solidFill>
                  <a:srgbClr val="008000"/>
                </a:solidFill>
                <a:latin typeface="Consolas" panose="020B0609020204030204" pitchFamily="49" charset="0"/>
              </a:rPr>
              <a:t>&lt;!-- Пароль --&gt;</a:t>
            </a:r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TextBox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PasswordChar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*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Text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{Binding Password</a:t>
            </a:r>
            <a:r>
              <a:rPr lang="en-US" sz="2400" dirty="0" smtClean="0">
                <a:solidFill>
                  <a:srgbClr val="0000FF"/>
                </a:solidFill>
                <a:latin typeface="Consolas" panose="020B0609020204030204" pitchFamily="49" charset="0"/>
              </a:rPr>
              <a:t>}</a:t>
            </a:r>
            <a:r>
              <a:rPr lang="en-US" sz="2400" dirty="0" smtClean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 smtClean="0">
                <a:solidFill>
                  <a:srgbClr val="800000"/>
                </a:solidFill>
                <a:latin typeface="Consolas" panose="020B0609020204030204" pitchFamily="49" charset="0"/>
              </a:rPr>
              <a:t>/&gt;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/>
            </a:r>
            <a:b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&lt;!-- </a:t>
            </a:r>
            <a:r>
              <a:rPr lang="ru-RU" sz="2400" dirty="0">
                <a:solidFill>
                  <a:srgbClr val="008000"/>
                </a:solidFill>
                <a:latin typeface="Consolas" panose="020B0609020204030204" pitchFamily="49" charset="0"/>
              </a:rPr>
              <a:t>Многострочный текст --&gt;</a:t>
            </a:r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TextBox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AcceptsReturn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True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TextWrapping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Wrap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Height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100</a:t>
            </a:r>
            <a:r>
              <a:rPr lang="en-US" sz="2400" dirty="0" smtClean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 smtClean="0">
                <a:solidFill>
                  <a:srgbClr val="800000"/>
                </a:solidFill>
                <a:latin typeface="Consolas" panose="020B0609020204030204" pitchFamily="49" charset="0"/>
              </a:rPr>
              <a:t>/&gt;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/>
          <a:srcRect b="49835"/>
          <a:stretch/>
        </p:blipFill>
        <p:spPr>
          <a:xfrm>
            <a:off x="781050" y="3984172"/>
            <a:ext cx="3838696" cy="2454728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3"/>
          <a:srcRect t="50210"/>
          <a:stretch/>
        </p:blipFill>
        <p:spPr>
          <a:xfrm>
            <a:off x="4895850" y="4248150"/>
            <a:ext cx="3838696" cy="2436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31774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0" y="0"/>
            <a:ext cx="12192000" cy="4339650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3. Элементы </a:t>
            </a:r>
            <a:r>
              <a:rPr lang="ru-RU" sz="2400" b="1" dirty="0" smtClean="0">
                <a:latin typeface="Bookman Old Style" panose="02050604050505020204" pitchFamily="18" charset="0"/>
              </a:rPr>
              <a:t>выбора</a:t>
            </a:r>
          </a:p>
          <a:p>
            <a:r>
              <a:rPr lang="ru-RU" sz="2400" dirty="0">
                <a:solidFill>
                  <a:srgbClr val="008000"/>
                </a:solidFill>
                <a:latin typeface="Consolas" panose="020B0609020204030204" pitchFamily="49" charset="0"/>
              </a:rPr>
              <a:t>&lt;!-- </a:t>
            </a:r>
            <a:r>
              <a:rPr lang="ru-RU" sz="2400" dirty="0" err="1">
                <a:solidFill>
                  <a:srgbClr val="008000"/>
                </a:solidFill>
                <a:latin typeface="Consolas" panose="020B0609020204030204" pitchFamily="49" charset="0"/>
              </a:rPr>
              <a:t>Чекбокс</a:t>
            </a:r>
            <a:r>
              <a:rPr lang="ru-RU" sz="2400" dirty="0">
                <a:solidFill>
                  <a:srgbClr val="008000"/>
                </a:solidFill>
                <a:latin typeface="Consolas" panose="020B0609020204030204" pitchFamily="49" charset="0"/>
              </a:rPr>
              <a:t> --&gt;</a:t>
            </a:r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CheckBox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Content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>
                <a:solidFill>
                  <a:srgbClr val="0000FF"/>
                </a:solidFill>
                <a:latin typeface="Consolas" panose="020B0609020204030204" pitchFamily="49" charset="0"/>
              </a:rPr>
              <a:t>Согласен с </a:t>
            </a:r>
            <a:r>
              <a:rPr lang="ru-RU" sz="2400" dirty="0" smtClean="0">
                <a:solidFill>
                  <a:srgbClr val="0000FF"/>
                </a:solidFill>
                <a:latin typeface="Consolas" panose="020B0609020204030204" pitchFamily="49" charset="0"/>
              </a:rPr>
              <a:t>условиями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endParaRPr lang="ru-RU" sz="2400" dirty="0" smtClean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onsolas" panose="020B0609020204030204" pitchFamily="49" charset="0"/>
              </a:rPr>
              <a:t>	</a:t>
            </a:r>
            <a:r>
              <a:rPr lang="ru-RU" sz="24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		  </a:t>
            </a:r>
            <a:r>
              <a:rPr lang="en-US" sz="2400" dirty="0" err="1" smtClean="0">
                <a:solidFill>
                  <a:srgbClr val="FF0000"/>
                </a:solidFill>
                <a:latin typeface="Consolas" panose="020B0609020204030204" pitchFamily="49" charset="0"/>
              </a:rPr>
              <a:t>IsChecked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{Binding </a:t>
            </a: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IsAgreed</a:t>
            </a:r>
            <a:r>
              <a:rPr lang="en-US" sz="2400" dirty="0" smtClean="0">
                <a:solidFill>
                  <a:srgbClr val="0000FF"/>
                </a:solidFill>
                <a:latin typeface="Consolas" panose="020B0609020204030204" pitchFamily="49" charset="0"/>
              </a:rPr>
              <a:t>}</a:t>
            </a:r>
            <a:r>
              <a:rPr lang="en-US" sz="2400" dirty="0" smtClean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 smtClean="0">
                <a:solidFill>
                  <a:srgbClr val="800000"/>
                </a:solidFill>
                <a:latin typeface="Consolas" panose="020B0609020204030204" pitchFamily="49" charset="0"/>
              </a:rPr>
              <a:t>/&gt;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/>
            </a:r>
            <a:b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&lt;!-- </a:t>
            </a:r>
            <a:r>
              <a:rPr lang="ru-RU" sz="2400" dirty="0">
                <a:solidFill>
                  <a:srgbClr val="008000"/>
                </a:solidFill>
                <a:latin typeface="Consolas" panose="020B0609020204030204" pitchFamily="49" charset="0"/>
              </a:rPr>
              <a:t>Радио-кнопки --&gt;</a:t>
            </a:r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RadioButton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GroupName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 smtClean="0">
                <a:solidFill>
                  <a:srgbClr val="0000FF"/>
                </a:solidFill>
                <a:latin typeface="Consolas" panose="020B0609020204030204" pitchFamily="49" charset="0"/>
              </a:rPr>
              <a:t>Group1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2400" dirty="0" smtClean="0">
                <a:solidFill>
                  <a:srgbClr val="FF0000"/>
                </a:solidFill>
                <a:latin typeface="Consolas" panose="020B0609020204030204" pitchFamily="49" charset="0"/>
              </a:rPr>
              <a:t>				  </a:t>
            </a:r>
            <a:r>
              <a:rPr lang="en-US" sz="2400" dirty="0" smtClean="0">
                <a:solidFill>
                  <a:srgbClr val="FF0000"/>
                </a:solidFill>
                <a:latin typeface="Consolas" panose="020B0609020204030204" pitchFamily="49" charset="0"/>
              </a:rPr>
              <a:t>Content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>
                <a:solidFill>
                  <a:srgbClr val="0000FF"/>
                </a:solidFill>
                <a:latin typeface="Consolas" panose="020B0609020204030204" pitchFamily="49" charset="0"/>
              </a:rPr>
              <a:t>Вариант 1</a:t>
            </a:r>
            <a:r>
              <a:rPr lang="ru-RU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IsChecked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{Binding Option1</a:t>
            </a:r>
            <a:r>
              <a:rPr lang="en-US" sz="2400" dirty="0" smtClean="0">
                <a:solidFill>
                  <a:srgbClr val="0000FF"/>
                </a:solidFill>
                <a:latin typeface="Consolas" panose="020B0609020204030204" pitchFamily="49" charset="0"/>
              </a:rPr>
              <a:t>}</a:t>
            </a:r>
            <a:r>
              <a:rPr lang="en-US" sz="2400" dirty="0" smtClean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 smtClean="0">
                <a:solidFill>
                  <a:srgbClr val="800000"/>
                </a:solidFill>
                <a:latin typeface="Consolas" panose="020B0609020204030204" pitchFamily="49" charset="0"/>
              </a:rPr>
              <a:t>/&gt;</a:t>
            </a:r>
            <a:endParaRPr lang="ru-RU" sz="2400" dirty="0" smtClean="0">
              <a:solidFill>
                <a:srgbClr val="8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RadioButton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GroupName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 smtClean="0">
                <a:solidFill>
                  <a:srgbClr val="0000FF"/>
                </a:solidFill>
                <a:latin typeface="Consolas" panose="020B0609020204030204" pitchFamily="49" charset="0"/>
              </a:rPr>
              <a:t>Group1</a:t>
            </a:r>
            <a:r>
              <a:rPr lang="en-US" sz="2400" dirty="0" smtClean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endParaRPr lang="ru-RU" sz="2400" dirty="0" smtClean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2400" dirty="0" smtClean="0">
                <a:solidFill>
                  <a:srgbClr val="FF0000"/>
                </a:solidFill>
                <a:latin typeface="Consolas" panose="020B0609020204030204" pitchFamily="49" charset="0"/>
              </a:rPr>
              <a:t>				  </a:t>
            </a:r>
            <a:r>
              <a:rPr lang="en-US" sz="2400" dirty="0" smtClean="0">
                <a:solidFill>
                  <a:srgbClr val="FF0000"/>
                </a:solidFill>
                <a:latin typeface="Consolas" panose="020B0609020204030204" pitchFamily="49" charset="0"/>
              </a:rPr>
              <a:t>Content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>
                <a:solidFill>
                  <a:srgbClr val="0000FF"/>
                </a:solidFill>
                <a:latin typeface="Consolas" panose="020B0609020204030204" pitchFamily="49" charset="0"/>
              </a:rPr>
              <a:t>Вариант 2</a:t>
            </a:r>
            <a:r>
              <a:rPr lang="ru-RU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IsChecked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{Binding Option2</a:t>
            </a:r>
            <a:r>
              <a:rPr lang="en-US" sz="2400" dirty="0" smtClean="0">
                <a:solidFill>
                  <a:srgbClr val="0000FF"/>
                </a:solidFill>
                <a:latin typeface="Consolas" panose="020B0609020204030204" pitchFamily="49" charset="0"/>
              </a:rPr>
              <a:t>}</a:t>
            </a:r>
            <a:r>
              <a:rPr lang="en-US" sz="2400" dirty="0" smtClean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 smtClean="0">
                <a:solidFill>
                  <a:srgbClr val="800000"/>
                </a:solidFill>
                <a:latin typeface="Consolas" panose="020B0609020204030204" pitchFamily="49" charset="0"/>
              </a:rPr>
              <a:t>/&gt;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/>
            </a:r>
            <a:b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2320" y="4001794"/>
            <a:ext cx="4367359" cy="2608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31104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0" y="0"/>
            <a:ext cx="12192000" cy="6370975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/>
            </a:r>
            <a:b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&lt;!-- </a:t>
            </a:r>
            <a:r>
              <a:rPr lang="ru-RU" sz="2400" dirty="0">
                <a:solidFill>
                  <a:srgbClr val="008000"/>
                </a:solidFill>
                <a:latin typeface="Consolas" panose="020B0609020204030204" pitchFamily="49" charset="0"/>
              </a:rPr>
              <a:t>Выпадающий список --&gt;</a:t>
            </a:r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ComboBox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ItemsSource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{Binding Items</a:t>
            </a:r>
            <a:r>
              <a:rPr lang="en-US" sz="2400" dirty="0" smtClean="0">
                <a:solidFill>
                  <a:srgbClr val="0000FF"/>
                </a:solidFill>
                <a:latin typeface="Consolas" panose="020B0609020204030204" pitchFamily="49" charset="0"/>
              </a:rPr>
              <a:t>}</a:t>
            </a:r>
            <a:r>
              <a:rPr lang="en-US" sz="2400" dirty="0" smtClean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endParaRPr lang="ru-RU" sz="2400" dirty="0" smtClean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2400" dirty="0" smtClean="0">
                <a:solidFill>
                  <a:srgbClr val="FF0000"/>
                </a:solidFill>
                <a:latin typeface="Consolas" panose="020B0609020204030204" pitchFamily="49" charset="0"/>
              </a:rPr>
              <a:t>			  </a:t>
            </a:r>
            <a:r>
              <a:rPr lang="en-US" sz="2400" dirty="0" err="1" smtClean="0">
                <a:solidFill>
                  <a:srgbClr val="FF0000"/>
                </a:solidFill>
                <a:latin typeface="Consolas" panose="020B0609020204030204" pitchFamily="49" charset="0"/>
              </a:rPr>
              <a:t>SelectedItem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{Binding </a:t>
            </a: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SelectedItem</a:t>
            </a:r>
            <a:r>
              <a:rPr lang="en-US" sz="2400" dirty="0" smtClean="0">
                <a:solidFill>
                  <a:srgbClr val="0000FF"/>
                </a:solidFill>
                <a:latin typeface="Consolas" panose="020B0609020204030204" pitchFamily="49" charset="0"/>
              </a:rPr>
              <a:t>}</a:t>
            </a:r>
            <a:r>
              <a:rPr lang="en-US" sz="2400" dirty="0" smtClean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 smtClean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ru-RU" sz="2400" dirty="0" smtClean="0">
              <a:solidFill>
                <a:srgbClr val="8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ComboBox.ItemTemplate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DataTemplate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    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TextBlock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Text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{Binding Name}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/&gt;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&lt;/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DataTemplate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&lt;/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ComboBox.ItemTemplate</a:t>
            </a:r>
            <a:r>
              <a:rPr lang="en-US" sz="2400" dirty="0" smtClean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ru-RU" sz="2400" dirty="0" smtClean="0">
              <a:solidFill>
                <a:srgbClr val="8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&lt;/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ComboBox</a:t>
            </a:r>
            <a:r>
              <a:rPr lang="en-US" sz="2400" dirty="0" smtClean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ru-RU" sz="2400" dirty="0" smtClean="0">
              <a:solidFill>
                <a:srgbClr val="8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/>
            </a:r>
            <a:b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&lt;!-- </a:t>
            </a:r>
            <a:r>
              <a:rPr lang="ru-RU" sz="2400" dirty="0">
                <a:solidFill>
                  <a:srgbClr val="008000"/>
                </a:solidFill>
                <a:latin typeface="Consolas" panose="020B0609020204030204" pitchFamily="49" charset="0"/>
              </a:rPr>
              <a:t>Список --&gt;</a:t>
            </a:r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ListBox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ItemsSource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{Binding Users</a:t>
            </a:r>
            <a:r>
              <a:rPr lang="en-US" sz="2400" dirty="0" smtClean="0">
                <a:solidFill>
                  <a:srgbClr val="0000FF"/>
                </a:solidFill>
                <a:latin typeface="Consolas" panose="020B0609020204030204" pitchFamily="49" charset="0"/>
              </a:rPr>
              <a:t>}</a:t>
            </a:r>
            <a:r>
              <a:rPr lang="en-US" sz="2400" dirty="0" smtClean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endParaRPr lang="ru-RU" sz="2400" dirty="0" smtClean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2400" dirty="0" smtClean="0">
                <a:solidFill>
                  <a:srgbClr val="FF0000"/>
                </a:solidFill>
                <a:latin typeface="Consolas" panose="020B0609020204030204" pitchFamily="49" charset="0"/>
              </a:rPr>
              <a:t>			 </a:t>
            </a:r>
            <a:r>
              <a:rPr lang="en-US" sz="2400" dirty="0" err="1" smtClean="0">
                <a:solidFill>
                  <a:srgbClr val="FF0000"/>
                </a:solidFill>
                <a:latin typeface="Consolas" panose="020B0609020204030204" pitchFamily="49" charset="0"/>
              </a:rPr>
              <a:t>SelectedItem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{Binding </a:t>
            </a: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SelectedUser</a:t>
            </a:r>
            <a:r>
              <a:rPr lang="en-US" sz="2400" dirty="0" smtClean="0">
                <a:solidFill>
                  <a:srgbClr val="0000FF"/>
                </a:solidFill>
                <a:latin typeface="Consolas" panose="020B0609020204030204" pitchFamily="49" charset="0"/>
              </a:rPr>
              <a:t>}</a:t>
            </a:r>
            <a:r>
              <a:rPr lang="en-US" sz="2400" dirty="0" smtClean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 smtClean="0">
                <a:solidFill>
                  <a:srgbClr val="800000"/>
                </a:solidFill>
                <a:latin typeface="Consolas" panose="020B0609020204030204" pitchFamily="49" charset="0"/>
              </a:rPr>
              <a:t>/&gt;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53329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0" y="0"/>
            <a:ext cx="12192000" cy="7109639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>
                <a:solidFill>
                  <a:srgbClr val="000000"/>
                </a:solidFill>
                <a:latin typeface="Bookman Old Style" panose="02050604050505020204" pitchFamily="18" charset="0"/>
              </a:rPr>
              <a:t>4. Элементы для работы с </a:t>
            </a:r>
            <a:r>
              <a:rPr lang="ru-RU" sz="2400" b="1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числами</a:t>
            </a:r>
          </a:p>
          <a:p>
            <a:r>
              <a:rPr lang="ru-RU" sz="2400" dirty="0">
                <a:solidFill>
                  <a:srgbClr val="008000"/>
                </a:solidFill>
                <a:latin typeface="Consolas" panose="020B0609020204030204" pitchFamily="49" charset="0"/>
              </a:rPr>
              <a:t>&lt;!-- Ползунок --&gt;</a:t>
            </a:r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Slider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Minimum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0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Maximum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100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Value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{Binding Volume}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/&gt;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/>
            </a:r>
            <a:b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&lt;!-- </a:t>
            </a:r>
            <a:r>
              <a:rPr lang="ru-RU" sz="2400" dirty="0">
                <a:solidFill>
                  <a:srgbClr val="008000"/>
                </a:solidFill>
                <a:latin typeface="Consolas" panose="020B0609020204030204" pitchFamily="49" charset="0"/>
              </a:rPr>
              <a:t>Счетчик --&gt;</a:t>
            </a:r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NumericUpDown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Value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{Binding Age}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Minimum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0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Maximum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120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/&gt;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algn="just">
              <a:lnSpc>
                <a:spcPct val="150000"/>
              </a:lnSpc>
            </a:pPr>
            <a:endParaRPr lang="ru-RU" sz="2400" b="1" dirty="0" smtClean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b="1" dirty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b="1" dirty="0" smtClean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b="1" dirty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5</a:t>
            </a:r>
            <a:r>
              <a:rPr lang="ru-RU" sz="2400" b="1" dirty="0">
                <a:solidFill>
                  <a:srgbClr val="000000"/>
                </a:solidFill>
                <a:latin typeface="Bookman Old Style" panose="02050604050505020204" pitchFamily="18" charset="0"/>
              </a:rPr>
              <a:t>. </a:t>
            </a:r>
            <a:r>
              <a:rPr lang="ru-RU" sz="2400" b="1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Изображения</a:t>
            </a:r>
          </a:p>
          <a:p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&lt;Image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Source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image.png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Width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100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Height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100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/&gt;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&lt;Image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Source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{Binding </a:t>
            </a: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ImagePath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/&gt;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algn="just">
              <a:lnSpc>
                <a:spcPct val="150000"/>
              </a:lnSpc>
            </a:pP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8746" y="2657788"/>
            <a:ext cx="4934507" cy="23773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67068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>
                <a:solidFill>
                  <a:srgbClr val="202122"/>
                </a:solidFill>
                <a:latin typeface="Bookman Old Style" panose="02050604050505020204" pitchFamily="18" charset="0"/>
              </a:rPr>
              <a:t>Контейнеры для компоновки</a:t>
            </a:r>
            <a:endParaRPr lang="ru-RU" sz="2800" b="1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0" y="654356"/>
            <a:ext cx="12192000" cy="3046988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2400" b="1" dirty="0" smtClean="0">
                <a:latin typeface="Bookman Old Style" panose="02050604050505020204" pitchFamily="18" charset="0"/>
              </a:rPr>
              <a:t>1. </a:t>
            </a:r>
            <a:r>
              <a:rPr lang="en-US" sz="2400" b="1" dirty="0" err="1" smtClean="0">
                <a:latin typeface="Bookman Old Style" panose="02050604050505020204" pitchFamily="18" charset="0"/>
              </a:rPr>
              <a:t>StackPanel</a:t>
            </a:r>
            <a:r>
              <a:rPr lang="en-US" sz="2400" b="1" dirty="0" smtClean="0">
                <a:latin typeface="Bookman Old Style" panose="02050604050505020204" pitchFamily="18" charset="0"/>
              </a:rPr>
              <a:t> </a:t>
            </a:r>
            <a:r>
              <a:rPr lang="en-US" sz="2400" b="1" dirty="0">
                <a:latin typeface="Bookman Old Style" panose="02050604050505020204" pitchFamily="18" charset="0"/>
              </a:rPr>
              <a:t>- </a:t>
            </a:r>
            <a:r>
              <a:rPr lang="ru-RU" sz="2400" b="1" dirty="0">
                <a:latin typeface="Bookman Old Style" panose="02050604050505020204" pitchFamily="18" charset="0"/>
              </a:rPr>
              <a:t>линейное </a:t>
            </a:r>
            <a:r>
              <a:rPr lang="ru-RU" sz="2400" b="1" dirty="0" smtClean="0">
                <a:latin typeface="Bookman Old Style" panose="02050604050505020204" pitchFamily="18" charset="0"/>
              </a:rPr>
              <a:t>расположение</a:t>
            </a:r>
            <a:endParaRPr lang="en-US" sz="2400" b="1" dirty="0" smtClean="0">
              <a:latin typeface="Bookman Old Style" panose="02050604050505020204" pitchFamily="18" charset="0"/>
            </a:endParaRPr>
          </a:p>
          <a:p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StackPanel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Orientation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Vertical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Spacing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10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TextBlock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Text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>
                <a:solidFill>
                  <a:srgbClr val="0000FF"/>
                </a:solidFill>
                <a:latin typeface="Consolas" panose="020B0609020204030204" pitchFamily="49" charset="0"/>
              </a:rPr>
              <a:t>Первый элемент</a:t>
            </a:r>
            <a:r>
              <a:rPr lang="ru-RU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>
                <a:solidFill>
                  <a:srgbClr val="800000"/>
                </a:solidFill>
                <a:latin typeface="Consolas" panose="020B0609020204030204" pitchFamily="49" charset="0"/>
              </a:rPr>
              <a:t>/&gt;</a:t>
            </a:r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ru-RU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Button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Content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>
                <a:solidFill>
                  <a:srgbClr val="0000FF"/>
                </a:solidFill>
                <a:latin typeface="Consolas" panose="020B0609020204030204" pitchFamily="49" charset="0"/>
              </a:rPr>
              <a:t>Кнопка</a:t>
            </a:r>
            <a:r>
              <a:rPr lang="ru-RU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>
                <a:solidFill>
                  <a:srgbClr val="CD3131"/>
                </a:solidFill>
                <a:latin typeface="Consolas" panose="020B0609020204030204" pitchFamily="49" charset="0"/>
              </a:rPr>
              <a:t>/</a:t>
            </a:r>
            <a:r>
              <a:rPr lang="ru-RU" sz="24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ru-RU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CheckBox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Content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Чекбокс</a:t>
            </a:r>
            <a:r>
              <a:rPr lang="ru-RU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>
                <a:solidFill>
                  <a:srgbClr val="800000"/>
                </a:solidFill>
                <a:latin typeface="Consolas" panose="020B0609020204030204" pitchFamily="49" charset="0"/>
              </a:rPr>
              <a:t>/&gt;</a:t>
            </a:r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&lt;/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StackPanel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algn="just">
              <a:lnSpc>
                <a:spcPct val="150000"/>
              </a:lnSpc>
            </a:pP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5327" y="2246296"/>
            <a:ext cx="3332170" cy="29100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26714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0" y="12680"/>
            <a:ext cx="12192000" cy="3416320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2400" b="1" dirty="0">
                <a:latin typeface="Bookman Old Style" panose="02050604050505020204" pitchFamily="18" charset="0"/>
              </a:rPr>
              <a:t>2. Grid - </a:t>
            </a:r>
            <a:r>
              <a:rPr lang="ru-RU" sz="2400" b="1" dirty="0">
                <a:latin typeface="Bookman Old Style" panose="02050604050505020204" pitchFamily="18" charset="0"/>
              </a:rPr>
              <a:t>табличное </a:t>
            </a:r>
            <a:r>
              <a:rPr lang="ru-RU" sz="2400" b="1" dirty="0" smtClean="0">
                <a:latin typeface="Bookman Old Style" panose="02050604050505020204" pitchFamily="18" charset="0"/>
              </a:rPr>
              <a:t>расположение</a:t>
            </a:r>
          </a:p>
          <a:p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&lt;Grid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ColumnDefinitions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100,*,Auto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RowDefinitions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Auto,*,Auto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TextBlock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Grid.Row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0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Grid.Column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0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Text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>
                <a:solidFill>
                  <a:srgbClr val="0000FF"/>
                </a:solidFill>
                <a:latin typeface="Consolas" panose="020B0609020204030204" pitchFamily="49" charset="0"/>
              </a:rPr>
              <a:t>Заголовок</a:t>
            </a:r>
            <a:r>
              <a:rPr lang="ru-RU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>
                <a:solidFill>
                  <a:srgbClr val="800000"/>
                </a:solidFill>
                <a:latin typeface="Consolas" panose="020B0609020204030204" pitchFamily="49" charset="0"/>
              </a:rPr>
              <a:t>/&gt;</a:t>
            </a:r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ru-RU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TextBox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Grid.Row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Grid.Column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0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Grid.ColumnSpan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2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Text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>
                <a:solidFill>
                  <a:srgbClr val="0000FF"/>
                </a:solidFill>
                <a:latin typeface="Consolas" panose="020B0609020204030204" pitchFamily="49" charset="0"/>
              </a:rPr>
              <a:t>Контент</a:t>
            </a:r>
            <a:r>
              <a:rPr lang="ru-RU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>
                <a:solidFill>
                  <a:srgbClr val="800000"/>
                </a:solidFill>
                <a:latin typeface="Consolas" panose="020B0609020204030204" pitchFamily="49" charset="0"/>
              </a:rPr>
              <a:t>/&gt;</a:t>
            </a:r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ru-RU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Button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Grid.Row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2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Grid.Column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2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Content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OK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CD3131"/>
                </a:solidFill>
                <a:latin typeface="Consolas" panose="020B0609020204030204" pitchFamily="49" charset="0"/>
              </a:rPr>
              <a:t>/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&lt;/Grid&gt;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algn="just">
              <a:lnSpc>
                <a:spcPct val="150000"/>
              </a:lnSpc>
            </a:pP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6089" y="2461186"/>
            <a:ext cx="5641451" cy="4267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10086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0" y="0"/>
            <a:ext cx="12192000" cy="3785652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3. </a:t>
            </a:r>
            <a:r>
              <a:rPr lang="ru-RU" sz="2400" b="1" dirty="0" err="1">
                <a:latin typeface="Bookman Old Style" panose="02050604050505020204" pitchFamily="18" charset="0"/>
              </a:rPr>
              <a:t>DockPanel</a:t>
            </a:r>
            <a:r>
              <a:rPr lang="ru-RU" sz="2400" b="1" dirty="0">
                <a:latin typeface="Bookman Old Style" panose="02050604050505020204" pitchFamily="18" charset="0"/>
              </a:rPr>
              <a:t> - прикрепление к </a:t>
            </a:r>
            <a:r>
              <a:rPr lang="ru-RU" sz="2400" b="1" dirty="0" smtClean="0">
                <a:latin typeface="Bookman Old Style" panose="02050604050505020204" pitchFamily="18" charset="0"/>
              </a:rPr>
              <a:t>краям</a:t>
            </a:r>
          </a:p>
          <a:p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DockPanel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&lt;Menu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DockPanel.Dock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Top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r>
              <a:rPr lang="ru-RU" sz="2400" dirty="0">
                <a:solidFill>
                  <a:srgbClr val="000000"/>
                </a:solidFill>
                <a:latin typeface="Consolas" panose="020B0609020204030204" pitchFamily="49" charset="0"/>
              </a:rPr>
              <a:t>Меню</a:t>
            </a:r>
            <a:r>
              <a:rPr lang="ru-RU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&lt;/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Menu&gt;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ProgressBar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Value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75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DockPanel.Dock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Bottom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Height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25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&gt;&lt;/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ProgressBar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TextBox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DockPanel.Dock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Left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Width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200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/&gt;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ContentControl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Content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""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/&gt;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&lt;/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DockPanel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algn="just">
              <a:lnSpc>
                <a:spcPct val="150000"/>
              </a:lnSpc>
            </a:pP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1" y="2475235"/>
            <a:ext cx="5715896" cy="43029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88306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0" y="0"/>
            <a:ext cx="12192000" cy="2862322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2400" b="1" dirty="0">
                <a:latin typeface="Bookman Old Style" panose="02050604050505020204" pitchFamily="18" charset="0"/>
              </a:rPr>
              <a:t>4. Canvas - </a:t>
            </a:r>
            <a:r>
              <a:rPr lang="ru-RU" sz="2400" b="1" dirty="0">
                <a:latin typeface="Bookman Old Style" panose="02050604050505020204" pitchFamily="18" charset="0"/>
              </a:rPr>
              <a:t>абсолютное </a:t>
            </a:r>
            <a:r>
              <a:rPr lang="ru-RU" sz="2400" b="1" dirty="0" smtClean="0">
                <a:latin typeface="Bookman Old Style" panose="02050604050505020204" pitchFamily="18" charset="0"/>
              </a:rPr>
              <a:t>позиционирование</a:t>
            </a:r>
            <a:endParaRPr lang="en-US" sz="2400" b="1" dirty="0" smtClean="0">
              <a:latin typeface="Bookman Old Style" panose="02050604050505020204" pitchFamily="18" charset="0"/>
            </a:endParaRPr>
          </a:p>
          <a:p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&lt;Canvas&gt;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&lt;Rectangle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Canvas.Left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50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Canvas.Top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30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Width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100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Height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50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Fill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Red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/&gt;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&lt;Ellipse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Canvas.Left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200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Canvas.Top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100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Width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80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Height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80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Fill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Blue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/&gt;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&lt;/Canvas&gt;</a:t>
            </a:r>
            <a:endParaRPr lang="en-US" sz="2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5358" y="2201530"/>
            <a:ext cx="5915851" cy="4477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57444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>
                <a:solidFill>
                  <a:srgbClr val="202122"/>
                </a:solidFill>
                <a:latin typeface="Bookman Old Style" panose="02050604050505020204" pitchFamily="18" charset="0"/>
              </a:rPr>
              <a:t>Специальные элементы</a:t>
            </a:r>
            <a:endParaRPr lang="ru-RU" sz="2800" b="1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0" y="654356"/>
            <a:ext cx="12192000" cy="5909310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2400" b="1" dirty="0" smtClean="0">
                <a:latin typeface="Bookman Old Style" panose="02050604050505020204" pitchFamily="18" charset="0"/>
              </a:rPr>
              <a:t>1. </a:t>
            </a:r>
            <a:r>
              <a:rPr lang="en-US" sz="2400" b="1" dirty="0" err="1" smtClean="0">
                <a:latin typeface="Bookman Old Style" panose="02050604050505020204" pitchFamily="18" charset="0"/>
              </a:rPr>
              <a:t>StackPanel</a:t>
            </a:r>
            <a:r>
              <a:rPr lang="en-US" sz="2400" b="1" dirty="0" smtClean="0">
                <a:latin typeface="Bookman Old Style" panose="02050604050505020204" pitchFamily="18" charset="0"/>
              </a:rPr>
              <a:t> </a:t>
            </a:r>
            <a:r>
              <a:rPr lang="en-US" sz="2400" b="1" dirty="0">
                <a:latin typeface="Bookman Old Style" panose="02050604050505020204" pitchFamily="18" charset="0"/>
              </a:rPr>
              <a:t>- </a:t>
            </a:r>
            <a:r>
              <a:rPr lang="ru-RU" sz="2400" b="1" dirty="0">
                <a:latin typeface="Bookman Old Style" panose="02050604050505020204" pitchFamily="18" charset="0"/>
              </a:rPr>
              <a:t>линейное </a:t>
            </a:r>
            <a:r>
              <a:rPr lang="ru-RU" sz="2400" b="1" dirty="0" smtClean="0">
                <a:latin typeface="Bookman Old Style" panose="02050604050505020204" pitchFamily="18" charset="0"/>
              </a:rPr>
              <a:t>расположение</a:t>
            </a:r>
            <a:endParaRPr lang="en-US" sz="2400" b="1" dirty="0" smtClean="0">
              <a:latin typeface="Bookman Old Style" panose="02050604050505020204" pitchFamily="18" charset="0"/>
            </a:endParaRPr>
          </a:p>
          <a:p>
            <a:r>
              <a:rPr lang="en-US" sz="21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100" dirty="0" err="1">
                <a:solidFill>
                  <a:srgbClr val="800000"/>
                </a:solidFill>
                <a:latin typeface="Consolas" panose="020B0609020204030204" pitchFamily="49" charset="0"/>
              </a:rPr>
              <a:t>DataGrid</a:t>
            </a:r>
            <a:r>
              <a:rPr lang="en-US" sz="21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100" dirty="0" err="1">
                <a:solidFill>
                  <a:srgbClr val="FF0000"/>
                </a:solidFill>
                <a:latin typeface="Consolas" panose="020B0609020204030204" pitchFamily="49" charset="0"/>
              </a:rPr>
              <a:t>ItemsSource</a:t>
            </a:r>
            <a:r>
              <a:rPr lang="en-US" sz="21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1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100" dirty="0">
                <a:solidFill>
                  <a:srgbClr val="0000FF"/>
                </a:solidFill>
                <a:latin typeface="Consolas" panose="020B0609020204030204" pitchFamily="49" charset="0"/>
              </a:rPr>
              <a:t>{Binding Users}</a:t>
            </a:r>
            <a:r>
              <a:rPr lang="en-US" sz="21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1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100" dirty="0" err="1">
                <a:solidFill>
                  <a:srgbClr val="FF0000"/>
                </a:solidFill>
                <a:latin typeface="Consolas" panose="020B0609020204030204" pitchFamily="49" charset="0"/>
              </a:rPr>
              <a:t>AutoGenerateColumns</a:t>
            </a:r>
            <a:r>
              <a:rPr lang="en-US" sz="21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1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100" dirty="0">
                <a:solidFill>
                  <a:srgbClr val="0000FF"/>
                </a:solidFill>
                <a:latin typeface="Consolas" panose="020B0609020204030204" pitchFamily="49" charset="0"/>
              </a:rPr>
              <a:t>False</a:t>
            </a:r>
            <a:r>
              <a:rPr lang="en-US" sz="21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1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1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1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1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100" dirty="0" err="1">
                <a:solidFill>
                  <a:srgbClr val="800000"/>
                </a:solidFill>
                <a:latin typeface="Consolas" panose="020B0609020204030204" pitchFamily="49" charset="0"/>
              </a:rPr>
              <a:t>DataGrid.Columns</a:t>
            </a:r>
            <a:r>
              <a:rPr lang="en-US" sz="21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1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1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21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100" dirty="0" err="1">
                <a:solidFill>
                  <a:srgbClr val="800000"/>
                </a:solidFill>
                <a:latin typeface="Consolas" panose="020B0609020204030204" pitchFamily="49" charset="0"/>
              </a:rPr>
              <a:t>DataGridTextColumn</a:t>
            </a:r>
            <a:r>
              <a:rPr lang="en-US" sz="21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100" dirty="0">
                <a:solidFill>
                  <a:srgbClr val="FF0000"/>
                </a:solidFill>
                <a:latin typeface="Consolas" panose="020B0609020204030204" pitchFamily="49" charset="0"/>
              </a:rPr>
              <a:t>Header</a:t>
            </a:r>
            <a:r>
              <a:rPr lang="en-US" sz="21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1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100" dirty="0">
                <a:solidFill>
                  <a:srgbClr val="0000FF"/>
                </a:solidFill>
                <a:latin typeface="Consolas" panose="020B0609020204030204" pitchFamily="49" charset="0"/>
              </a:rPr>
              <a:t>Имя</a:t>
            </a:r>
            <a:r>
              <a:rPr lang="ru-RU" sz="21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1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100" dirty="0">
                <a:solidFill>
                  <a:srgbClr val="FF0000"/>
                </a:solidFill>
                <a:latin typeface="Consolas" panose="020B0609020204030204" pitchFamily="49" charset="0"/>
              </a:rPr>
              <a:t>Binding</a:t>
            </a:r>
            <a:r>
              <a:rPr lang="en-US" sz="21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1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100" dirty="0">
                <a:solidFill>
                  <a:srgbClr val="0000FF"/>
                </a:solidFill>
                <a:latin typeface="Consolas" panose="020B0609020204030204" pitchFamily="49" charset="0"/>
              </a:rPr>
              <a:t>{Binding Name}</a:t>
            </a:r>
            <a:r>
              <a:rPr lang="en-US" sz="21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100" dirty="0">
                <a:solidFill>
                  <a:srgbClr val="800000"/>
                </a:solidFill>
                <a:latin typeface="Consolas" panose="020B0609020204030204" pitchFamily="49" charset="0"/>
              </a:rPr>
              <a:t>/&gt;</a:t>
            </a:r>
            <a:endParaRPr lang="en-US" sz="21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1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21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100" dirty="0" err="1">
                <a:solidFill>
                  <a:srgbClr val="800000"/>
                </a:solidFill>
                <a:latin typeface="Consolas" panose="020B0609020204030204" pitchFamily="49" charset="0"/>
              </a:rPr>
              <a:t>DataGridCheckBoxColumn</a:t>
            </a:r>
            <a:r>
              <a:rPr lang="en-US" sz="21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100" dirty="0">
                <a:solidFill>
                  <a:srgbClr val="FF0000"/>
                </a:solidFill>
                <a:latin typeface="Consolas" panose="020B0609020204030204" pitchFamily="49" charset="0"/>
              </a:rPr>
              <a:t>Header</a:t>
            </a:r>
            <a:r>
              <a:rPr lang="en-US" sz="21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1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100" dirty="0">
                <a:solidFill>
                  <a:srgbClr val="0000FF"/>
                </a:solidFill>
                <a:latin typeface="Consolas" panose="020B0609020204030204" pitchFamily="49" charset="0"/>
              </a:rPr>
              <a:t>Активен</a:t>
            </a:r>
            <a:r>
              <a:rPr lang="ru-RU" sz="21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1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100" dirty="0">
                <a:solidFill>
                  <a:srgbClr val="FF0000"/>
                </a:solidFill>
                <a:latin typeface="Consolas" panose="020B0609020204030204" pitchFamily="49" charset="0"/>
              </a:rPr>
              <a:t>Binding</a:t>
            </a:r>
            <a:r>
              <a:rPr lang="en-US" sz="21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1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100" dirty="0">
                <a:solidFill>
                  <a:srgbClr val="0000FF"/>
                </a:solidFill>
                <a:latin typeface="Consolas" panose="020B0609020204030204" pitchFamily="49" charset="0"/>
              </a:rPr>
              <a:t>{Binding </a:t>
            </a:r>
            <a:r>
              <a:rPr lang="en-US" sz="2100" dirty="0" err="1">
                <a:solidFill>
                  <a:srgbClr val="0000FF"/>
                </a:solidFill>
                <a:latin typeface="Consolas" panose="020B0609020204030204" pitchFamily="49" charset="0"/>
              </a:rPr>
              <a:t>IsActive</a:t>
            </a:r>
            <a:r>
              <a:rPr lang="en-US" sz="2100" dirty="0">
                <a:solidFill>
                  <a:srgbClr val="0000FF"/>
                </a:solidFill>
                <a:latin typeface="Consolas" panose="020B0609020204030204" pitchFamily="49" charset="0"/>
              </a:rPr>
              <a:t>}</a:t>
            </a:r>
            <a:r>
              <a:rPr lang="en-US" sz="21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100" dirty="0">
                <a:solidFill>
                  <a:srgbClr val="800000"/>
                </a:solidFill>
                <a:latin typeface="Consolas" panose="020B0609020204030204" pitchFamily="49" charset="0"/>
              </a:rPr>
              <a:t>/&gt;</a:t>
            </a:r>
            <a:endParaRPr lang="en-US" sz="21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1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100" dirty="0">
                <a:solidFill>
                  <a:srgbClr val="800000"/>
                </a:solidFill>
                <a:latin typeface="Consolas" panose="020B0609020204030204" pitchFamily="49" charset="0"/>
              </a:rPr>
              <a:t>&lt;/</a:t>
            </a:r>
            <a:r>
              <a:rPr lang="en-US" sz="2100" dirty="0" err="1">
                <a:solidFill>
                  <a:srgbClr val="800000"/>
                </a:solidFill>
                <a:latin typeface="Consolas" panose="020B0609020204030204" pitchFamily="49" charset="0"/>
              </a:rPr>
              <a:t>DataGrid.Columns</a:t>
            </a:r>
            <a:r>
              <a:rPr lang="en-US" sz="21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1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100" dirty="0">
                <a:solidFill>
                  <a:srgbClr val="800000"/>
                </a:solidFill>
                <a:latin typeface="Consolas" panose="020B0609020204030204" pitchFamily="49" charset="0"/>
              </a:rPr>
              <a:t>&lt;/</a:t>
            </a:r>
            <a:r>
              <a:rPr lang="en-US" sz="2100" dirty="0" err="1">
                <a:solidFill>
                  <a:srgbClr val="800000"/>
                </a:solidFill>
                <a:latin typeface="Consolas" panose="020B0609020204030204" pitchFamily="49" charset="0"/>
              </a:rPr>
              <a:t>DataGrid</a:t>
            </a:r>
            <a:r>
              <a:rPr lang="en-US" sz="21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1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b="1" dirty="0" smtClean="0">
              <a:solidFill>
                <a:srgbClr val="0F1115"/>
              </a:solidFill>
              <a:latin typeface="quote-cjk-patch"/>
            </a:endParaRPr>
          </a:p>
          <a:p>
            <a:r>
              <a:rPr lang="en-US" sz="2400" b="1" dirty="0" smtClean="0">
                <a:solidFill>
                  <a:srgbClr val="0F1115"/>
                </a:solidFill>
                <a:latin typeface="Bookman Old Style" panose="02050604050505020204" pitchFamily="18" charset="0"/>
              </a:rPr>
              <a:t>2</a:t>
            </a:r>
            <a:r>
              <a:rPr lang="en-US" sz="2400" b="1" dirty="0">
                <a:solidFill>
                  <a:srgbClr val="0F1115"/>
                </a:solidFill>
                <a:latin typeface="Bookman Old Style" panose="02050604050505020204" pitchFamily="18" charset="0"/>
              </a:rPr>
              <a:t>. </a:t>
            </a:r>
            <a:r>
              <a:rPr lang="en-US" sz="2400" b="1" dirty="0" err="1">
                <a:solidFill>
                  <a:srgbClr val="0F1115"/>
                </a:solidFill>
                <a:latin typeface="Bookman Old Style" panose="02050604050505020204" pitchFamily="18" charset="0"/>
              </a:rPr>
              <a:t>TreeView</a:t>
            </a:r>
            <a:r>
              <a:rPr lang="en-US" sz="2400" b="1" dirty="0">
                <a:solidFill>
                  <a:srgbClr val="0F1115"/>
                </a:solidFill>
                <a:latin typeface="Bookman Old Style" panose="02050604050505020204" pitchFamily="18" charset="0"/>
              </a:rPr>
              <a:t> - </a:t>
            </a:r>
            <a:r>
              <a:rPr lang="ru-RU" sz="2400" b="1" dirty="0">
                <a:solidFill>
                  <a:srgbClr val="0F1115"/>
                </a:solidFill>
                <a:latin typeface="Bookman Old Style" panose="02050604050505020204" pitchFamily="18" charset="0"/>
              </a:rPr>
              <a:t>дерево элементов</a:t>
            </a:r>
          </a:p>
          <a:p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TreeView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ItemsSource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{Binding Categories}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TreeView.ItemTemplate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TreeDataTemplate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ItemsSource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{Binding </a:t>
            </a: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SubCategories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    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TextBlock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Text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{Binding Name}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/&gt;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&lt;/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TreeDataTemplate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&lt;/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TreeView.ItemTemplate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&lt;/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TreeView</a:t>
            </a:r>
            <a:r>
              <a:rPr lang="en-US" sz="2400" dirty="0" smtClean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968466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0" y="0"/>
            <a:ext cx="12192000" cy="4154984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endParaRPr lang="en-US" sz="2400" b="1" dirty="0" smtClean="0">
              <a:solidFill>
                <a:srgbClr val="0F1115"/>
              </a:solidFill>
              <a:latin typeface="quote-cjk-patch"/>
            </a:endParaRPr>
          </a:p>
          <a:p>
            <a:r>
              <a:rPr lang="en-US" sz="2400" b="1" dirty="0" smtClean="0">
                <a:solidFill>
                  <a:srgbClr val="0F1115"/>
                </a:solidFill>
                <a:latin typeface="Bookman Old Style" panose="02050604050505020204" pitchFamily="18" charset="0"/>
              </a:rPr>
              <a:t>3</a:t>
            </a:r>
            <a:r>
              <a:rPr lang="en-US" sz="2400" b="1" dirty="0">
                <a:solidFill>
                  <a:srgbClr val="0F1115"/>
                </a:solidFill>
                <a:latin typeface="Bookman Old Style" panose="02050604050505020204" pitchFamily="18" charset="0"/>
              </a:rPr>
              <a:t>. </a:t>
            </a:r>
            <a:r>
              <a:rPr lang="en-US" sz="2400" b="1" dirty="0" err="1">
                <a:solidFill>
                  <a:srgbClr val="0F1115"/>
                </a:solidFill>
                <a:latin typeface="Bookman Old Style" panose="02050604050505020204" pitchFamily="18" charset="0"/>
              </a:rPr>
              <a:t>TabControl</a:t>
            </a:r>
            <a:r>
              <a:rPr lang="en-US" sz="2400" b="1" dirty="0">
                <a:solidFill>
                  <a:srgbClr val="0F1115"/>
                </a:solidFill>
                <a:latin typeface="Bookman Old Style" panose="02050604050505020204" pitchFamily="18" charset="0"/>
              </a:rPr>
              <a:t> - </a:t>
            </a:r>
            <a:r>
              <a:rPr lang="ru-RU" sz="2400" b="1" dirty="0" smtClean="0">
                <a:solidFill>
                  <a:srgbClr val="0F1115"/>
                </a:solidFill>
                <a:latin typeface="Bookman Old Style" panose="02050604050505020204" pitchFamily="18" charset="0"/>
              </a:rPr>
              <a:t>вкладки</a:t>
            </a:r>
            <a:endParaRPr lang="en-US" sz="2400" b="1" dirty="0" smtClean="0">
              <a:solidFill>
                <a:srgbClr val="0F1115"/>
              </a:solidFill>
              <a:latin typeface="Bookman Old Style" panose="02050604050505020204" pitchFamily="18" charset="0"/>
            </a:endParaRPr>
          </a:p>
          <a:p>
            <a:endParaRPr lang="en-US" sz="2400" b="1" dirty="0" smtClean="0">
              <a:solidFill>
                <a:srgbClr val="0F1115"/>
              </a:solidFill>
              <a:latin typeface="quote-cjk-patch"/>
            </a:endParaRPr>
          </a:p>
          <a:p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TabControl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TabItem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Header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>
                <a:solidFill>
                  <a:srgbClr val="0000FF"/>
                </a:solidFill>
                <a:latin typeface="Consolas" panose="020B0609020204030204" pitchFamily="49" charset="0"/>
              </a:rPr>
              <a:t>Вкладка 1</a:t>
            </a:r>
            <a:r>
              <a:rPr lang="ru-RU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ru-RU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TextBlock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Text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>
                <a:solidFill>
                  <a:srgbClr val="0000FF"/>
                </a:solidFill>
                <a:latin typeface="Consolas" panose="020B0609020204030204" pitchFamily="49" charset="0"/>
              </a:rPr>
              <a:t>Содержимое первой вкладки</a:t>
            </a:r>
            <a:r>
              <a:rPr lang="ru-RU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>
                <a:solidFill>
                  <a:srgbClr val="800000"/>
                </a:solidFill>
                <a:latin typeface="Consolas" panose="020B0609020204030204" pitchFamily="49" charset="0"/>
              </a:rPr>
              <a:t>/&gt;</a:t>
            </a:r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ru-RU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&lt;/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TabItem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TabItem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Header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>
                <a:solidFill>
                  <a:srgbClr val="0000FF"/>
                </a:solidFill>
                <a:latin typeface="Consolas" panose="020B0609020204030204" pitchFamily="49" charset="0"/>
              </a:rPr>
              <a:t>Вкладка 2</a:t>
            </a:r>
            <a:r>
              <a:rPr lang="ru-RU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ru-RU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Button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Content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>
                <a:solidFill>
                  <a:srgbClr val="0000FF"/>
                </a:solidFill>
                <a:latin typeface="Consolas" panose="020B0609020204030204" pitchFamily="49" charset="0"/>
              </a:rPr>
              <a:t>Кнопка на второй вкладке</a:t>
            </a:r>
            <a:r>
              <a:rPr lang="ru-RU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>
                <a:solidFill>
                  <a:srgbClr val="CD3131"/>
                </a:solidFill>
                <a:latin typeface="Consolas" panose="020B0609020204030204" pitchFamily="49" charset="0"/>
              </a:rPr>
              <a:t>/</a:t>
            </a:r>
            <a:r>
              <a:rPr lang="ru-RU" sz="24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ru-RU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&lt;/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TabItem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&lt;/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TabControl</a:t>
            </a:r>
            <a:r>
              <a:rPr lang="en-US" sz="2400" dirty="0" smtClean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13766401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0" y="0"/>
            <a:ext cx="12192000" cy="6001643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endParaRPr lang="en-US" sz="2400" b="1" dirty="0" smtClean="0">
              <a:solidFill>
                <a:srgbClr val="0F1115"/>
              </a:solidFill>
              <a:latin typeface="Bookman Old Style" panose="02050604050505020204" pitchFamily="18" charset="0"/>
            </a:endParaRPr>
          </a:p>
          <a:p>
            <a:r>
              <a:rPr lang="en-US" sz="2400" b="1" dirty="0" smtClean="0">
                <a:solidFill>
                  <a:srgbClr val="0F1115"/>
                </a:solidFill>
                <a:latin typeface="Bookman Old Style" panose="02050604050505020204" pitchFamily="18" charset="0"/>
              </a:rPr>
              <a:t>4</a:t>
            </a:r>
            <a:r>
              <a:rPr lang="en-US" sz="2400" b="1" dirty="0">
                <a:solidFill>
                  <a:srgbClr val="0F1115"/>
                </a:solidFill>
                <a:latin typeface="Bookman Old Style" panose="02050604050505020204" pitchFamily="18" charset="0"/>
              </a:rPr>
              <a:t>. Menu </a:t>
            </a:r>
            <a:r>
              <a:rPr lang="ru-RU" sz="2400" b="1" dirty="0">
                <a:solidFill>
                  <a:srgbClr val="0F1115"/>
                </a:solidFill>
                <a:latin typeface="Bookman Old Style" panose="02050604050505020204" pitchFamily="18" charset="0"/>
              </a:rPr>
              <a:t>и </a:t>
            </a:r>
            <a:r>
              <a:rPr lang="en-US" sz="2400" b="1" dirty="0" err="1" smtClean="0">
                <a:solidFill>
                  <a:srgbClr val="0F1115"/>
                </a:solidFill>
                <a:latin typeface="Bookman Old Style" panose="02050604050505020204" pitchFamily="18" charset="0"/>
              </a:rPr>
              <a:t>ContextMenu</a:t>
            </a:r>
            <a:endParaRPr lang="en-US" sz="2400" b="1" dirty="0" smtClean="0">
              <a:solidFill>
                <a:srgbClr val="0F1115"/>
              </a:solidFill>
              <a:latin typeface="Bookman Old Style" panose="02050604050505020204" pitchFamily="18" charset="0"/>
            </a:endParaRPr>
          </a:p>
          <a:p>
            <a:endParaRPr lang="en-US" sz="2400" b="1" dirty="0">
              <a:solidFill>
                <a:srgbClr val="0F1115"/>
              </a:solidFill>
              <a:latin typeface="quote-cjk-patch"/>
            </a:endParaRPr>
          </a:p>
          <a:p>
            <a:r>
              <a:rPr lang="ru-RU" sz="2400" dirty="0">
                <a:solidFill>
                  <a:srgbClr val="008000"/>
                </a:solidFill>
                <a:latin typeface="Consolas" panose="020B0609020204030204" pitchFamily="49" charset="0"/>
              </a:rPr>
              <a:t>&lt;!-- Главное меню --&gt;</a:t>
            </a:r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Menu&gt;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CD3131"/>
                </a:solidFill>
                <a:latin typeface="Consolas" panose="020B0609020204030204" pitchFamily="49" charset="0"/>
              </a:rPr>
              <a:t>MenuItem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Header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>
                <a:solidFill>
                  <a:srgbClr val="0000FF"/>
                </a:solidFill>
                <a:latin typeface="Consolas" panose="020B0609020204030204" pitchFamily="49" charset="0"/>
              </a:rPr>
              <a:t>Файл</a:t>
            </a:r>
            <a:r>
              <a:rPr lang="ru-RU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ru-RU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CD3131"/>
                </a:solidFill>
                <a:latin typeface="Consolas" panose="020B0609020204030204" pitchFamily="49" charset="0"/>
              </a:rPr>
              <a:t>MenuItem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Header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>
                <a:solidFill>
                  <a:srgbClr val="0000FF"/>
                </a:solidFill>
                <a:latin typeface="Consolas" panose="020B0609020204030204" pitchFamily="49" charset="0"/>
              </a:rPr>
              <a:t>Открыть</a:t>
            </a:r>
            <a:r>
              <a:rPr lang="ru-RU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Command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{Binding </a:t>
            </a: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OpenCommand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CD3131"/>
                </a:solidFill>
                <a:latin typeface="Consolas" panose="020B0609020204030204" pitchFamily="49" charset="0"/>
              </a:rPr>
              <a:t>/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CD3131"/>
                </a:solidFill>
                <a:latin typeface="Consolas" panose="020B0609020204030204" pitchFamily="49" charset="0"/>
              </a:rPr>
              <a:t>MenuItem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Header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>
                <a:solidFill>
                  <a:srgbClr val="0000FF"/>
                </a:solidFill>
                <a:latin typeface="Consolas" panose="020B0609020204030204" pitchFamily="49" charset="0"/>
              </a:rPr>
              <a:t>Сохранить</a:t>
            </a:r>
            <a:r>
              <a:rPr lang="ru-RU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Command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{Binding </a:t>
            </a: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SaveCommand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CD3131"/>
                </a:solidFill>
                <a:latin typeface="Consolas" panose="020B0609020204030204" pitchFamily="49" charset="0"/>
              </a:rPr>
              <a:t>/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&lt;Separator/&gt;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CD3131"/>
                </a:solidFill>
                <a:latin typeface="Consolas" panose="020B0609020204030204" pitchFamily="49" charset="0"/>
              </a:rPr>
              <a:t>MenuItem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Header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>
                <a:solidFill>
                  <a:srgbClr val="0000FF"/>
                </a:solidFill>
                <a:latin typeface="Consolas" panose="020B0609020204030204" pitchFamily="49" charset="0"/>
              </a:rPr>
              <a:t>Выход</a:t>
            </a:r>
            <a:r>
              <a:rPr lang="ru-RU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Command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{Binding </a:t>
            </a: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ExitCommand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CD3131"/>
                </a:solidFill>
                <a:latin typeface="Consolas" panose="020B0609020204030204" pitchFamily="49" charset="0"/>
              </a:rPr>
              <a:t>/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&lt;/</a:t>
            </a:r>
            <a:r>
              <a:rPr lang="en-US" sz="2400" dirty="0" err="1">
                <a:solidFill>
                  <a:srgbClr val="CD3131"/>
                </a:solidFill>
                <a:latin typeface="Consolas" panose="020B0609020204030204" pitchFamily="49" charset="0"/>
              </a:rPr>
              <a:t>MenuItem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&lt;/Menu&gt;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/>
            </a:r>
            <a:b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&lt;!-- </a:t>
            </a:r>
            <a:r>
              <a:rPr lang="ru-RU" sz="2400" dirty="0">
                <a:solidFill>
                  <a:srgbClr val="008000"/>
                </a:solidFill>
                <a:latin typeface="Consolas" panose="020B0609020204030204" pitchFamily="49" charset="0"/>
              </a:rPr>
              <a:t>Контекстное меню --&gt;</a:t>
            </a:r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TextBox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ContextMenu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{</a:t>
            </a: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StaticResource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TextContextMenu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/&gt;</a:t>
            </a:r>
            <a:endParaRPr lang="en-US" sz="2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455071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0" y="0"/>
            <a:ext cx="12192000" cy="3416320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endParaRPr lang="en-US" sz="2400" b="1" dirty="0" smtClean="0">
              <a:solidFill>
                <a:srgbClr val="0F1115"/>
              </a:solidFill>
              <a:latin typeface="Bookman Old Style" panose="02050604050505020204" pitchFamily="18" charset="0"/>
            </a:endParaRPr>
          </a:p>
          <a:p>
            <a:r>
              <a:rPr lang="en-US" sz="2400" b="1" dirty="0" smtClean="0">
                <a:solidFill>
                  <a:srgbClr val="0F1115"/>
                </a:solidFill>
                <a:latin typeface="Bookman Old Style" panose="02050604050505020204" pitchFamily="18" charset="0"/>
              </a:rPr>
              <a:t>5. </a:t>
            </a:r>
            <a:r>
              <a:rPr lang="en-US" sz="2400" b="1" dirty="0">
                <a:solidFill>
                  <a:srgbClr val="0F1115"/>
                </a:solidFill>
                <a:latin typeface="Bookman Old Style" panose="02050604050505020204" pitchFamily="18" charset="0"/>
              </a:rPr>
              <a:t>  </a:t>
            </a:r>
            <a:r>
              <a:rPr lang="en-US" sz="2400" b="1" dirty="0" err="1">
                <a:solidFill>
                  <a:srgbClr val="0F1115"/>
                </a:solidFill>
                <a:latin typeface="Bookman Old Style" panose="02050604050505020204" pitchFamily="18" charset="0"/>
              </a:rPr>
              <a:t>ScrollViewer</a:t>
            </a:r>
            <a:r>
              <a:rPr lang="en-US" sz="2400" b="1" dirty="0">
                <a:solidFill>
                  <a:srgbClr val="0F1115"/>
                </a:solidFill>
                <a:latin typeface="Bookman Old Style" panose="02050604050505020204" pitchFamily="18" charset="0"/>
              </a:rPr>
              <a:t> - </a:t>
            </a:r>
            <a:r>
              <a:rPr lang="ru-RU" sz="2400" b="1" dirty="0" smtClean="0">
                <a:solidFill>
                  <a:srgbClr val="0F1115"/>
                </a:solidFill>
                <a:latin typeface="Bookman Old Style" panose="02050604050505020204" pitchFamily="18" charset="0"/>
              </a:rPr>
              <a:t>прокрутка</a:t>
            </a:r>
            <a:endParaRPr lang="en-US" sz="2400" b="1" dirty="0" smtClean="0">
              <a:solidFill>
                <a:srgbClr val="0F1115"/>
              </a:solidFill>
              <a:latin typeface="Bookman Old Style" panose="02050604050505020204" pitchFamily="18" charset="0"/>
            </a:endParaRPr>
          </a:p>
          <a:p>
            <a:endParaRPr lang="ru-RU" sz="2400" b="1" dirty="0">
              <a:solidFill>
                <a:srgbClr val="0F1115"/>
              </a:solidFill>
              <a:latin typeface="quote-cjk-patch"/>
            </a:endParaRPr>
          </a:p>
          <a:p>
            <a:r>
              <a:rPr lang="en-US" sz="2400" dirty="0" smtClean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ScrollViewer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HorizontalScrollBarVisibility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VerticalScrollBarVisibility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StackPanel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Height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1000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&lt;!-- </a:t>
            </a:r>
            <a:r>
              <a:rPr lang="ru-RU" sz="2400" dirty="0">
                <a:solidFill>
                  <a:srgbClr val="008000"/>
                </a:solidFill>
                <a:latin typeface="Consolas" panose="020B0609020204030204" pitchFamily="49" charset="0"/>
              </a:rPr>
              <a:t>Длинный контент --&gt;</a:t>
            </a:r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ru-RU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&lt;/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StackPanel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&lt;/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ScrollViewer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64666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654356"/>
            <a:ext cx="12192000" cy="6186309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Reactive </a:t>
            </a:r>
            <a:r>
              <a:rPr lang="ru-RU" sz="2400" b="1" dirty="0">
                <a:latin typeface="Bookman Old Style" panose="02050604050505020204" pitchFamily="18" charset="0"/>
              </a:rPr>
              <a:t>UI (</a:t>
            </a:r>
            <a:r>
              <a:rPr lang="ru-RU" sz="2400" b="1" dirty="0" err="1">
                <a:latin typeface="Bookman Old Style" panose="02050604050505020204" pitchFamily="18" charset="0"/>
              </a:rPr>
              <a:t>RxUI</a:t>
            </a:r>
            <a:r>
              <a:rPr lang="ru-RU" sz="2400" b="1" dirty="0">
                <a:latin typeface="Bookman Old Style" panose="02050604050505020204" pitchFamily="18" charset="0"/>
              </a:rPr>
              <a:t>) </a:t>
            </a:r>
            <a:r>
              <a:rPr lang="ru-RU" sz="2400" dirty="0">
                <a:latin typeface="Bookman Old Style" panose="02050604050505020204" pitchFamily="18" charset="0"/>
              </a:rPr>
              <a:t>— это </a:t>
            </a:r>
            <a:r>
              <a:rPr lang="ru-RU" sz="2400" dirty="0" err="1">
                <a:latin typeface="Bookman Old Style" panose="02050604050505020204" pitchFamily="18" charset="0"/>
              </a:rPr>
              <a:t>фреймворк</a:t>
            </a:r>
            <a:r>
              <a:rPr lang="ru-RU" sz="2400" dirty="0">
                <a:latin typeface="Bookman Old Style" panose="02050604050505020204" pitchFamily="18" charset="0"/>
              </a:rPr>
              <a:t>, построенный на основе реактивного программирования (Reactive </a:t>
            </a:r>
            <a:r>
              <a:rPr lang="ru-RU" sz="2400" dirty="0" err="1">
                <a:latin typeface="Bookman Old Style" panose="02050604050505020204" pitchFamily="18" charset="0"/>
              </a:rPr>
              <a:t>Extensions</a:t>
            </a:r>
            <a:r>
              <a:rPr lang="ru-RU" sz="2400" dirty="0">
                <a:latin typeface="Bookman Old Style" panose="02050604050505020204" pitchFamily="18" charset="0"/>
              </a:rPr>
              <a:t>, или </a:t>
            </a:r>
            <a:r>
              <a:rPr lang="ru-RU" sz="2400" dirty="0" err="1">
                <a:latin typeface="Bookman Old Style" panose="02050604050505020204" pitchFamily="18" charset="0"/>
              </a:rPr>
              <a:t>Rx</a:t>
            </a:r>
            <a:r>
              <a:rPr lang="ru-RU" sz="2400" dirty="0">
                <a:latin typeface="Bookman Old Style" panose="02050604050505020204" pitchFamily="18" charset="0"/>
              </a:rPr>
              <a:t>), который позволяет создавать приложения, реагирующие на изменения данных, используя наблюдаемые последовательности (</a:t>
            </a:r>
            <a:r>
              <a:rPr lang="ru-RU" sz="2400" dirty="0" err="1">
                <a:latin typeface="Bookman Old Style" panose="02050604050505020204" pitchFamily="18" charset="0"/>
              </a:rPr>
              <a:t>Observables</a:t>
            </a:r>
            <a:r>
              <a:rPr lang="ru-RU" sz="2400" dirty="0" smtClean="0">
                <a:latin typeface="Bookman Old Style" panose="02050604050505020204" pitchFamily="18" charset="0"/>
              </a:rPr>
              <a:t>).</a:t>
            </a:r>
          </a:p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Зачем он </a:t>
            </a:r>
            <a:r>
              <a:rPr lang="ru-RU" sz="2400" b="1" dirty="0" smtClean="0">
                <a:latin typeface="Bookman Old Style" panose="02050604050505020204" pitchFamily="18" charset="0"/>
              </a:rPr>
              <a:t>нужен?</a:t>
            </a:r>
            <a:endParaRPr lang="ru-RU" sz="2400" b="1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Упрощение MVVM: </a:t>
            </a:r>
            <a:r>
              <a:rPr lang="ru-RU" sz="2400" dirty="0">
                <a:latin typeface="Bookman Old Style" panose="02050604050505020204" pitchFamily="18" charset="0"/>
              </a:rPr>
              <a:t>Избавляет от рутинного кода (вызовов </a:t>
            </a:r>
            <a:r>
              <a:rPr lang="ru-RU" sz="2400" dirty="0" err="1">
                <a:latin typeface="Bookman Old Style" panose="02050604050505020204" pitchFamily="18" charset="0"/>
              </a:rPr>
              <a:t>INotifyPropertyChanged</a:t>
            </a:r>
            <a:r>
              <a:rPr lang="ru-RU" sz="2400" dirty="0">
                <a:latin typeface="Bookman Old Style" panose="02050604050505020204" pitchFamily="18" charset="0"/>
              </a:rPr>
              <a:t>, команд</a:t>
            </a:r>
            <a:r>
              <a:rPr lang="ru-RU" sz="2400" dirty="0" smtClean="0">
                <a:latin typeface="Bookman Old Style" panose="02050604050505020204" pitchFamily="18" charset="0"/>
              </a:rPr>
              <a:t>).</a:t>
            </a: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Мощные привязки</a:t>
            </a:r>
            <a:r>
              <a:rPr lang="ru-RU" sz="2400" dirty="0">
                <a:latin typeface="Bookman Old Style" panose="02050604050505020204" pitchFamily="18" charset="0"/>
              </a:rPr>
              <a:t>: Позволяет привязывать не только свойства, но и целые потоки событий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Управление состоянием: </a:t>
            </a:r>
            <a:r>
              <a:rPr lang="ru-RU" sz="2400" dirty="0">
                <a:latin typeface="Bookman Old Style" panose="02050604050505020204" pitchFamily="18" charset="0"/>
              </a:rPr>
              <a:t>Упрощает обработку асинхронных операций, </a:t>
            </a:r>
            <a:r>
              <a:rPr lang="ru-RU" sz="2400" dirty="0" err="1">
                <a:latin typeface="Bookman Old Style" panose="02050604050505020204" pitchFamily="18" charset="0"/>
              </a:rPr>
              <a:t>валидации</a:t>
            </a:r>
            <a:r>
              <a:rPr lang="ru-RU" sz="2400" dirty="0">
                <a:latin typeface="Bookman Old Style" panose="02050604050505020204" pitchFamily="18" charset="0"/>
              </a:rPr>
              <a:t> и сложных взаимодействий между компонентами.</a:t>
            </a:r>
          </a:p>
        </p:txBody>
      </p:sp>
      <p:sp>
        <p:nvSpPr>
          <p:cNvPr id="6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2800" b="1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Reactive UI</a:t>
            </a:r>
            <a:endParaRPr lang="ru-RU" sz="2800" b="1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46178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Основные Термины и Концепции</a:t>
            </a:r>
          </a:p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1. </a:t>
            </a:r>
            <a:r>
              <a:rPr lang="en-US" sz="2400" b="1" dirty="0" err="1">
                <a:latin typeface="Bookman Old Style" panose="02050604050505020204" pitchFamily="18" charset="0"/>
              </a:rPr>
              <a:t>ReactiveObject</a:t>
            </a:r>
            <a:endParaRPr lang="en-US" sz="2400" b="1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Базовый класс для всех </a:t>
            </a:r>
            <a:r>
              <a:rPr lang="en-US" sz="2400" dirty="0" err="1">
                <a:latin typeface="Bookman Old Style" panose="02050604050505020204" pitchFamily="18" charset="0"/>
              </a:rPr>
              <a:t>ViewModel</a:t>
            </a:r>
            <a:r>
              <a:rPr lang="en-US" sz="2400" dirty="0">
                <a:latin typeface="Bookman Old Style" panose="02050604050505020204" pitchFamily="18" charset="0"/>
              </a:rPr>
              <a:t>, </a:t>
            </a:r>
            <a:r>
              <a:rPr lang="ru-RU" sz="2400" dirty="0">
                <a:latin typeface="Bookman Old Style" panose="02050604050505020204" pitchFamily="18" charset="0"/>
              </a:rPr>
              <a:t>который реализует </a:t>
            </a:r>
            <a:r>
              <a:rPr lang="en-US" sz="2400" dirty="0" err="1">
                <a:latin typeface="Bookman Old Style" panose="02050604050505020204" pitchFamily="18" charset="0"/>
              </a:rPr>
              <a:t>INotifyPropertyChanged</a:t>
            </a:r>
            <a:r>
              <a:rPr lang="en-US" sz="2400" dirty="0">
                <a:latin typeface="Bookman Old Style" panose="02050604050505020204" pitchFamily="18" charset="0"/>
              </a:rPr>
              <a:t> </a:t>
            </a:r>
            <a:r>
              <a:rPr lang="ru-RU" sz="2400" dirty="0">
                <a:latin typeface="Bookman Old Style" panose="02050604050505020204" pitchFamily="18" charset="0"/>
              </a:rPr>
              <a:t>реактивным способом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MainViewModel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: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ReactiveObject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private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_name;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Name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get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=&gt; _name;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=&gt; </a:t>
            </a:r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this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.RaiseAndSetIfChanged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ref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_name,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}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 err="1">
                <a:latin typeface="Bookman Old Style" panose="02050604050505020204" pitchFamily="18" charset="0"/>
              </a:rPr>
              <a:t>RaiseAndSetIfChanged</a:t>
            </a:r>
            <a:r>
              <a:rPr lang="ru-RU" sz="2400" dirty="0">
                <a:latin typeface="Bookman Old Style" panose="02050604050505020204" pitchFamily="18" charset="0"/>
              </a:rPr>
              <a:t> — это метод, который проверяет, изменилось ли значение, и уведомляет об этом UI.</a:t>
            </a:r>
          </a:p>
        </p:txBody>
      </p:sp>
    </p:spTree>
    <p:extLst>
      <p:ext uri="{BB962C8B-B14F-4D97-AF65-F5344CB8AC3E}">
        <p14:creationId xmlns:p14="http://schemas.microsoft.com/office/powerpoint/2010/main" val="42846970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760208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2. Привязки (</a:t>
            </a:r>
            <a:r>
              <a:rPr lang="en-US" sz="2400" b="1" dirty="0">
                <a:latin typeface="Bookman Old Style" panose="02050604050505020204" pitchFamily="18" charset="0"/>
              </a:rPr>
              <a:t>Bindings) </a:t>
            </a:r>
            <a:r>
              <a:rPr lang="ru-RU" sz="2400" b="1" dirty="0">
                <a:latin typeface="Bookman Old Style" panose="02050604050505020204" pitchFamily="18" charset="0"/>
              </a:rPr>
              <a:t>через </a:t>
            </a:r>
            <a:r>
              <a:rPr lang="en-US" sz="2400" b="1" dirty="0" err="1">
                <a:latin typeface="Bookman Old Style" panose="02050604050505020204" pitchFamily="18" charset="0"/>
              </a:rPr>
              <a:t>WhenActivated</a:t>
            </a:r>
            <a:r>
              <a:rPr lang="en-US" sz="2400" b="1" dirty="0">
                <a:latin typeface="Bookman Old Style" panose="02050604050505020204" pitchFamily="18" charset="0"/>
              </a:rPr>
              <a:t> </a:t>
            </a:r>
            <a:r>
              <a:rPr lang="ru-RU" sz="2400" b="1" dirty="0">
                <a:latin typeface="Bookman Old Style" panose="02050604050505020204" pitchFamily="18" charset="0"/>
              </a:rPr>
              <a:t>и </a:t>
            </a:r>
            <a:r>
              <a:rPr lang="en-US" sz="2400" b="1" dirty="0" err="1">
                <a:latin typeface="Bookman Old Style" panose="02050604050505020204" pitchFamily="18" charset="0"/>
              </a:rPr>
              <a:t>OneWayBind</a:t>
            </a:r>
            <a:r>
              <a:rPr lang="en-US" sz="2400" b="1" dirty="0">
                <a:latin typeface="Bookman Old Style" panose="02050604050505020204" pitchFamily="18" charset="0"/>
              </a:rPr>
              <a:t>, Bind</a:t>
            </a:r>
          </a:p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В </a:t>
            </a:r>
            <a:r>
              <a:rPr lang="en-US" sz="2400" dirty="0" err="1">
                <a:latin typeface="Bookman Old Style" panose="02050604050505020204" pitchFamily="18" charset="0"/>
              </a:rPr>
              <a:t>Avalonia</a:t>
            </a:r>
            <a:r>
              <a:rPr lang="en-US" sz="2400" dirty="0">
                <a:latin typeface="Bookman Old Style" panose="02050604050505020204" pitchFamily="18" charset="0"/>
              </a:rPr>
              <a:t> Reactive UI </a:t>
            </a:r>
            <a:r>
              <a:rPr lang="ru-RU" sz="2400" dirty="0">
                <a:latin typeface="Bookman Old Style" panose="02050604050505020204" pitchFamily="18" charset="0"/>
              </a:rPr>
              <a:t>привязки часто настраиваются в конструкторе </a:t>
            </a:r>
            <a:r>
              <a:rPr lang="en-US" sz="2400" dirty="0">
                <a:latin typeface="Bookman Old Style" panose="02050604050505020204" pitchFamily="18" charset="0"/>
              </a:rPr>
              <a:t>View </a:t>
            </a:r>
            <a:r>
              <a:rPr lang="ru-RU" sz="2400" dirty="0">
                <a:latin typeface="Bookman Old Style" panose="02050604050505020204" pitchFamily="18" charset="0"/>
              </a:rPr>
              <a:t>с помощью метода </a:t>
            </a:r>
            <a:r>
              <a:rPr lang="en-US" sz="2400" dirty="0" err="1">
                <a:latin typeface="Bookman Old Style" panose="02050604050505020204" pitchFamily="18" charset="0"/>
              </a:rPr>
              <a:t>WhenActivated</a:t>
            </a:r>
            <a:r>
              <a:rPr lang="en-US" sz="2400" dirty="0" smtClean="0">
                <a:latin typeface="Bookman Old Style" panose="02050604050505020204" pitchFamily="18" charset="0"/>
              </a:rPr>
              <a:t>.</a:t>
            </a:r>
            <a:endParaRPr lang="ru-RU" sz="2400" dirty="0" smtClean="0">
              <a:latin typeface="Bookman Old Style" panose="02050604050505020204" pitchFamily="18" charset="0"/>
            </a:endParaRPr>
          </a:p>
          <a:p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partial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class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0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MainWindow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: </a:t>
            </a:r>
            <a:r>
              <a:rPr lang="en-US" sz="20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ReactiveUserControl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</a:t>
            </a:r>
            <a:r>
              <a:rPr lang="en-US" sz="20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MainViewModel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</a:t>
            </a:r>
          </a:p>
          <a:p>
            <a:r>
              <a:rPr lang="ru-RU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0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MainWindow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</a:t>
            </a:r>
          </a:p>
          <a:p>
            <a:r>
              <a:rPr lang="ru-RU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{</a:t>
            </a: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InitializeComponent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</a:t>
            </a:r>
          </a:p>
          <a:p>
            <a:r>
              <a:rPr lang="ru-RU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ru-RU" sz="20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Когда </a:t>
            </a:r>
            <a:r>
              <a:rPr lang="ru-RU" sz="20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</a:t>
            </a:r>
            <a:r>
              <a:rPr lang="ru-RU" sz="20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становится активной, устанавливаются привязки</a:t>
            </a:r>
            <a:endParaRPr lang="ru-RU" sz="20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0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this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.WhenActivated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(disposables =&gt;</a:t>
            </a:r>
          </a:p>
          <a:p>
            <a:r>
              <a:rPr lang="ru-RU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{</a:t>
            </a:r>
          </a:p>
          <a:p>
            <a:r>
              <a:rPr lang="ru-RU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ru-RU" sz="20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</a:t>
            </a:r>
            <a:r>
              <a:rPr lang="ru-RU" sz="20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OneWayBind</a:t>
            </a:r>
            <a:r>
              <a:rPr lang="ru-RU" sz="20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: Односторонняя привязка (из VM в </a:t>
            </a:r>
            <a:r>
              <a:rPr lang="ru-RU" sz="20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</a:t>
            </a:r>
            <a:r>
              <a:rPr lang="ru-RU" sz="20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  <a:endParaRPr lang="ru-RU" sz="20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2000" dirty="0" err="1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this</a:t>
            </a:r>
            <a:r>
              <a:rPr lang="en-US" sz="2000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.OneWayBind</a:t>
            </a:r>
            <a:r>
              <a:rPr lang="en-US" sz="20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000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ViewModel</a:t>
            </a:r>
            <a:r>
              <a:rPr lang="en-US" sz="20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20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							</a:t>
            </a:r>
            <a:r>
              <a:rPr lang="en-US" sz="2000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vm</a:t>
            </a:r>
            <a:r>
              <a:rPr lang="en-US" sz="20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=&gt; 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vm.Name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v =&gt; 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v.NameTextBlock.Text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    .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DisposeWith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(disposables);</a:t>
            </a:r>
          </a:p>
          <a:p>
            <a:endParaRPr lang="ru-RU" sz="20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ru-RU" sz="20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</a:t>
            </a:r>
            <a:r>
              <a:rPr lang="ru-RU" sz="20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Bind</a:t>
            </a:r>
            <a:r>
              <a:rPr lang="ru-RU" sz="20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: Двусторонняя привязка (например, для </a:t>
            </a:r>
            <a:r>
              <a:rPr lang="ru-RU" sz="20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TextBox</a:t>
            </a:r>
            <a:r>
              <a:rPr lang="ru-RU" sz="20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  <a:endParaRPr lang="ru-RU" sz="20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20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this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.Bind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ViewModel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vm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=&gt; 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vm.Name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v =&gt; 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v.NameTextBox.Text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    .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DisposeWith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(disposables);</a:t>
            </a:r>
          </a:p>
          <a:p>
            <a:r>
              <a:rPr lang="ru-RU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});</a:t>
            </a:r>
          </a:p>
          <a:p>
            <a:r>
              <a:rPr lang="ru-RU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}</a:t>
            </a:r>
          </a:p>
          <a:p>
            <a:r>
              <a:rPr lang="ru-RU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ru-RU" sz="20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214494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5447645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3. Команды (</a:t>
            </a:r>
            <a:r>
              <a:rPr lang="ru-RU" sz="2400" b="1" dirty="0" err="1">
                <a:latin typeface="Bookman Old Style" panose="02050604050505020204" pitchFamily="18" charset="0"/>
              </a:rPr>
              <a:t>ReactiveCommand</a:t>
            </a:r>
            <a:r>
              <a:rPr lang="ru-RU" sz="2400" b="1" dirty="0">
                <a:latin typeface="Bookman Old Style" panose="02050604050505020204" pitchFamily="18" charset="0"/>
              </a:rPr>
              <a:t>)</a:t>
            </a:r>
          </a:p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Команда, которая может быть включена или отключена на основе наблюдаемой последовательности (</a:t>
            </a:r>
            <a:r>
              <a:rPr lang="ru-RU" sz="2400" dirty="0" err="1">
                <a:latin typeface="Bookman Old Style" panose="02050604050505020204" pitchFamily="18" charset="0"/>
              </a:rPr>
              <a:t>Observable</a:t>
            </a:r>
            <a:r>
              <a:rPr lang="ru-RU" sz="2400" dirty="0" smtClean="0">
                <a:latin typeface="Bookman Old Style" panose="02050604050505020204" pitchFamily="18" charset="0"/>
              </a:rPr>
              <a:t>).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partial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MainWindowViewModel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: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ViewModelBase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endParaRPr lang="en-US" sz="2400" dirty="0" smtClean="0">
              <a:solidFill>
                <a:srgbClr val="008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Простая команда без параметра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ReactiveCommand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Unit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Unit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SubmitCommand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{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get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 }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Команда с параметром 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ReactiveCommand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Unit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LoadDataCommand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{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get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 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</a:p>
          <a:p>
            <a:endParaRPr lang="en-US" sz="24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33864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655564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endParaRPr lang="en-US" sz="2000" dirty="0" smtClean="0">
              <a:solidFill>
                <a:srgbClr val="0000FF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0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0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000" dirty="0" err="1" smtClean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MainWindowViewModel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</a:t>
            </a:r>
          </a:p>
          <a:p>
            <a:r>
              <a:rPr lang="ru-RU" sz="20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endParaRPr lang="ru-RU" sz="20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000" dirty="0" smtClean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ru-RU" sz="2000" dirty="0" smtClean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</a:t>
            </a:r>
            <a:r>
              <a:rPr lang="ru-RU" sz="20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CanExecute</a:t>
            </a:r>
            <a:r>
              <a:rPr lang="ru-RU" sz="20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: определяет, когда команда </a:t>
            </a:r>
            <a:r>
              <a:rPr lang="ru-RU" sz="2000" dirty="0" smtClean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активна</a:t>
            </a:r>
            <a:r>
              <a:rPr lang="en-US" sz="2000" dirty="0" smtClean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</a:p>
          <a:p>
            <a:r>
              <a:rPr lang="en-US" sz="20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2000" dirty="0" err="1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var</a:t>
            </a:r>
            <a:r>
              <a:rPr lang="en-US" sz="20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canSubmit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en-US" sz="20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this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.WhenAnyValue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vm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=&gt; </a:t>
            </a:r>
            <a:r>
              <a:rPr lang="en-US" sz="2000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vm.Name</a:t>
            </a:r>
            <a:r>
              <a:rPr lang="en-US" sz="20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20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									name 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=&gt; !</a:t>
            </a:r>
            <a:r>
              <a:rPr lang="en-US" sz="20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.IsNullOrWhiteSpace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(name));</a:t>
            </a:r>
          </a:p>
          <a:p>
            <a:endParaRPr lang="ru-RU" sz="20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0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2000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SubmitCommand</a:t>
            </a:r>
            <a:r>
              <a:rPr lang="en-US" sz="20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 </a:t>
            </a:r>
            <a:r>
              <a:rPr lang="en-US" sz="2000" dirty="0" err="1" smtClean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ReactiveCommand</a:t>
            </a:r>
            <a:r>
              <a:rPr lang="en-US" sz="2000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.Create</a:t>
            </a:r>
            <a:r>
              <a:rPr lang="en-US" sz="20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000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ExecuteSubmit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canSubmit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endParaRPr lang="ru-RU" sz="20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000" dirty="0" smtClean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ru-RU" sz="2000" dirty="0" smtClean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</a:t>
            </a:r>
            <a:r>
              <a:rPr lang="ru-RU" sz="20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Команда с параметром</a:t>
            </a:r>
            <a:endParaRPr lang="ru-RU" sz="20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0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2000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LoadDataCommand</a:t>
            </a:r>
            <a:r>
              <a:rPr lang="en-US" sz="20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 </a:t>
            </a:r>
            <a:r>
              <a:rPr lang="en-US" sz="20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ReactiveCommand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.Create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</a:t>
            </a:r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&gt;(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ExecuteLoadData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ru-RU" sz="20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ru-RU" sz="20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0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private</a:t>
            </a:r>
            <a:r>
              <a:rPr lang="en-US" sz="20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void</a:t>
            </a:r>
            <a:r>
              <a:rPr lang="en-US" sz="2000" dirty="0" smtClean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000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ExecuteSubmit</a:t>
            </a:r>
            <a:r>
              <a:rPr lang="en-US" sz="20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</a:t>
            </a:r>
            <a:endParaRPr lang="en-US" sz="20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0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endParaRPr lang="en-US" sz="20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0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</a:t>
            </a:r>
            <a:r>
              <a:rPr lang="en-US" sz="2000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le.WriteAllText</a:t>
            </a:r>
            <a:r>
              <a:rPr lang="en-US" sz="20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(</a:t>
            </a:r>
            <a:r>
              <a:rPr lang="en-US" sz="2000" dirty="0" smtClean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"data.txt"</a:t>
            </a:r>
            <a:r>
              <a:rPr lang="en-US" sz="20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Name);</a:t>
            </a:r>
          </a:p>
          <a:p>
            <a:r>
              <a:rPr lang="ru-RU" sz="20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ru-RU" sz="20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0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private</a:t>
            </a:r>
            <a:r>
              <a:rPr lang="en-US" sz="20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void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ExecuteLoadData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parameter)</a:t>
            </a:r>
          </a:p>
          <a:p>
            <a:r>
              <a:rPr lang="ru-RU" sz="20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endParaRPr lang="ru-RU" sz="20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000" dirty="0" smtClean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ru-RU" sz="2000" dirty="0" smtClean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</a:t>
            </a:r>
            <a:r>
              <a:rPr lang="ru-RU" sz="20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Логика загрузки данных по параметру</a:t>
            </a:r>
            <a:endParaRPr lang="ru-RU" sz="20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0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Name 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 </a:t>
            </a:r>
            <a:r>
              <a:rPr lang="en-US" sz="20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$"Loaded: 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{parameter}</a:t>
            </a:r>
            <a:r>
              <a:rPr lang="en-US" sz="20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r>
              <a:rPr lang="ru-RU" sz="20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ru-RU" sz="20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020057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671691"/>
            <a:ext cx="12192000" cy="6186309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Структура проекта с </a:t>
            </a:r>
            <a:r>
              <a:rPr lang="en-US" sz="2400" dirty="0" err="1" smtClean="0">
                <a:latin typeface="Bookman Old Style" panose="02050604050505020204" pitchFamily="18" charset="0"/>
              </a:rPr>
              <a:t>ReactiveUI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en-US" sz="2400" dirty="0" err="1">
                <a:latin typeface="Bookman Old Style" panose="02050604050505020204" pitchFamily="18" charset="0"/>
              </a:rPr>
              <a:t>ReactiveAvaloniaApp</a:t>
            </a:r>
            <a:r>
              <a:rPr lang="en-US" sz="2400" dirty="0">
                <a:latin typeface="Bookman Old Style" panose="02050604050505020204" pitchFamily="18" charset="0"/>
              </a:rPr>
              <a:t>/</a:t>
            </a:r>
          </a:p>
          <a:p>
            <a:pPr algn="just">
              <a:lnSpc>
                <a:spcPct val="150000"/>
              </a:lnSpc>
            </a:pPr>
            <a:r>
              <a:rPr lang="en-US" sz="2400" dirty="0">
                <a:latin typeface="Bookman Old Style" panose="02050604050505020204" pitchFamily="18" charset="0"/>
              </a:rPr>
              <a:t>├── </a:t>
            </a:r>
            <a:r>
              <a:rPr lang="en-US" sz="2400" dirty="0" err="1">
                <a:latin typeface="Bookman Old Style" panose="02050604050505020204" pitchFamily="18" charset="0"/>
              </a:rPr>
              <a:t>ViewModels</a:t>
            </a:r>
            <a:r>
              <a:rPr lang="en-US" sz="2400" dirty="0">
                <a:latin typeface="Bookman Old Style" panose="02050604050505020204" pitchFamily="18" charset="0"/>
              </a:rPr>
              <a:t>/</a:t>
            </a:r>
          </a:p>
          <a:p>
            <a:pPr algn="just">
              <a:lnSpc>
                <a:spcPct val="150000"/>
              </a:lnSpc>
            </a:pPr>
            <a:r>
              <a:rPr lang="en-US" sz="2400" dirty="0">
                <a:latin typeface="Bookman Old Style" panose="02050604050505020204" pitchFamily="18" charset="0"/>
              </a:rPr>
              <a:t>│   └── </a:t>
            </a:r>
            <a:r>
              <a:rPr lang="en-US" sz="2400" dirty="0" err="1">
                <a:latin typeface="Bookman Old Style" panose="02050604050505020204" pitchFamily="18" charset="0"/>
              </a:rPr>
              <a:t>MainWindowViewModel.cs</a:t>
            </a: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en-US" sz="2400" dirty="0">
                <a:latin typeface="Bookman Old Style" panose="02050604050505020204" pitchFamily="18" charset="0"/>
              </a:rPr>
              <a:t>├── Views/</a:t>
            </a:r>
          </a:p>
          <a:p>
            <a:pPr algn="just">
              <a:lnSpc>
                <a:spcPct val="150000"/>
              </a:lnSpc>
            </a:pPr>
            <a:r>
              <a:rPr lang="en-US" sz="2400" dirty="0">
                <a:latin typeface="Bookman Old Style" panose="02050604050505020204" pitchFamily="18" charset="0"/>
              </a:rPr>
              <a:t>│   └── </a:t>
            </a:r>
            <a:r>
              <a:rPr lang="en-US" sz="2400" dirty="0" err="1">
                <a:latin typeface="Bookman Old Style" panose="02050604050505020204" pitchFamily="18" charset="0"/>
              </a:rPr>
              <a:t>MainWindow.axaml</a:t>
            </a: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en-US" sz="2400" dirty="0">
                <a:latin typeface="Bookman Old Style" panose="02050604050505020204" pitchFamily="18" charset="0"/>
              </a:rPr>
              <a:t>│   └── </a:t>
            </a:r>
            <a:r>
              <a:rPr lang="en-US" sz="2400" dirty="0" err="1">
                <a:latin typeface="Bookman Old Style" panose="02050604050505020204" pitchFamily="18" charset="0"/>
              </a:rPr>
              <a:t>MainWindow.axaml.cs</a:t>
            </a: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en-US" sz="2400" dirty="0">
                <a:latin typeface="Bookman Old Style" panose="02050604050505020204" pitchFamily="18" charset="0"/>
              </a:rPr>
              <a:t>├── </a:t>
            </a:r>
            <a:r>
              <a:rPr lang="en-US" sz="2400" dirty="0" err="1">
                <a:latin typeface="Bookman Old Style" panose="02050604050505020204" pitchFamily="18" charset="0"/>
              </a:rPr>
              <a:t>App.axaml</a:t>
            </a: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en-US" sz="2400" dirty="0">
                <a:latin typeface="Bookman Old Style" panose="02050604050505020204" pitchFamily="18" charset="0"/>
              </a:rPr>
              <a:t>├── </a:t>
            </a:r>
            <a:r>
              <a:rPr lang="en-US" sz="2400" dirty="0" err="1">
                <a:latin typeface="Bookman Old Style" panose="02050604050505020204" pitchFamily="18" charset="0"/>
              </a:rPr>
              <a:t>App.axaml.cs</a:t>
            </a: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en-US" sz="2400" dirty="0">
                <a:latin typeface="Bookman Old Style" panose="02050604050505020204" pitchFamily="18" charset="0"/>
              </a:rPr>
              <a:t>└── </a:t>
            </a:r>
            <a:r>
              <a:rPr lang="en-US" sz="2400" dirty="0" err="1">
                <a:latin typeface="Bookman Old Style" panose="02050604050505020204" pitchFamily="18" charset="0"/>
              </a:rPr>
              <a:t>Program.cs</a:t>
            </a:r>
            <a:endParaRPr lang="ru-RU" sz="2400" dirty="0" smtClean="0">
              <a:latin typeface="Bookman Old Style" panose="02050604050505020204" pitchFamily="18" charset="0"/>
            </a:endParaRPr>
          </a:p>
        </p:txBody>
      </p:sp>
      <p:sp>
        <p:nvSpPr>
          <p:cNvPr id="7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Программа на </a:t>
            </a:r>
            <a:r>
              <a:rPr lang="en-US" sz="2800" b="1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C# </a:t>
            </a:r>
            <a:r>
              <a:rPr lang="en-US" sz="2800" b="1" dirty="0" err="1" smtClean="0">
                <a:solidFill>
                  <a:srgbClr val="202122"/>
                </a:solidFill>
                <a:latin typeface="Bookman Old Style" panose="02050604050505020204" pitchFamily="18" charset="0"/>
              </a:rPr>
              <a:t>Avalonia</a:t>
            </a:r>
            <a:r>
              <a:rPr lang="en-US" sz="2800" b="1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 + Reactive UI + MVVM</a:t>
            </a:r>
            <a:endParaRPr lang="ru-RU" sz="2800" b="1" dirty="0">
              <a:solidFill>
                <a:srgbClr val="202122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74480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2893100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 marL="457200" indent="-457200" algn="just">
              <a:lnSpc>
                <a:spcPct val="150000"/>
              </a:lnSpc>
              <a:buAutoNum type="arabicPeriod"/>
            </a:pPr>
            <a:r>
              <a:rPr lang="ru-RU" sz="2400" dirty="0" smtClean="0">
                <a:latin typeface="Bookman Old Style" panose="02050604050505020204" pitchFamily="18" charset="0"/>
              </a:rPr>
              <a:t>Установка </a:t>
            </a:r>
            <a:r>
              <a:rPr lang="ru-RU" sz="2400" dirty="0">
                <a:latin typeface="Bookman Old Style" panose="02050604050505020204" pitchFamily="18" charset="0"/>
              </a:rPr>
              <a:t>необходимых </a:t>
            </a:r>
            <a:r>
              <a:rPr lang="ru-RU" sz="2400" dirty="0" smtClean="0">
                <a:latin typeface="Bookman Old Style" panose="02050604050505020204" pitchFamily="18" charset="0"/>
              </a:rPr>
              <a:t>пакетов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marL="457200" indent="-457200" algn="just">
              <a:lnSpc>
                <a:spcPct val="150000"/>
              </a:lnSpc>
              <a:buAutoNum type="arabicPeriod"/>
            </a:pPr>
            <a:endParaRPr lang="en-US" sz="2400" dirty="0">
              <a:latin typeface="Bookman Old Style" panose="02050604050505020204" pitchFamily="18" charset="0"/>
            </a:endParaRPr>
          </a:p>
          <a:p>
            <a:r>
              <a:rPr lang="en-US" sz="22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200" dirty="0" err="1">
                <a:solidFill>
                  <a:srgbClr val="800000"/>
                </a:solidFill>
                <a:latin typeface="Consolas" panose="020B0609020204030204" pitchFamily="49" charset="0"/>
              </a:rPr>
              <a:t>ItemGroup</a:t>
            </a:r>
            <a:r>
              <a:rPr lang="en-US" sz="22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2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200" dirty="0" err="1">
                <a:solidFill>
                  <a:srgbClr val="800000"/>
                </a:solidFill>
                <a:latin typeface="Consolas" panose="020B0609020204030204" pitchFamily="49" charset="0"/>
              </a:rPr>
              <a:t>PackageReference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FF0000"/>
                </a:solidFill>
                <a:latin typeface="Consolas" panose="020B0609020204030204" pitchFamily="49" charset="0"/>
              </a:rPr>
              <a:t>Include</a:t>
            </a:r>
            <a:r>
              <a:rPr lang="en-US" sz="22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2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200" dirty="0" err="1">
                <a:solidFill>
                  <a:srgbClr val="0000FF"/>
                </a:solidFill>
                <a:latin typeface="Consolas" panose="020B0609020204030204" pitchFamily="49" charset="0"/>
              </a:rPr>
              <a:t>Avalonia.Desktop</a:t>
            </a:r>
            <a:r>
              <a:rPr lang="en-US" sz="22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FF0000"/>
                </a:solidFill>
                <a:latin typeface="Consolas" panose="020B0609020204030204" pitchFamily="49" charset="0"/>
              </a:rPr>
              <a:t>Version</a:t>
            </a:r>
            <a:r>
              <a:rPr lang="en-US" sz="22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2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11.0.5</a:t>
            </a:r>
            <a:r>
              <a:rPr lang="en-US" sz="22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200" dirty="0">
                <a:solidFill>
                  <a:srgbClr val="800000"/>
                </a:solidFill>
                <a:latin typeface="Consolas" panose="020B0609020204030204" pitchFamily="49" charset="0"/>
              </a:rPr>
              <a:t> /&gt;</a:t>
            </a:r>
            <a:endParaRPr lang="en-US" sz="2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2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200" dirty="0" err="1">
                <a:solidFill>
                  <a:srgbClr val="800000"/>
                </a:solidFill>
                <a:latin typeface="Consolas" panose="020B0609020204030204" pitchFamily="49" charset="0"/>
              </a:rPr>
              <a:t>PackageReference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FF0000"/>
                </a:solidFill>
                <a:latin typeface="Consolas" panose="020B0609020204030204" pitchFamily="49" charset="0"/>
              </a:rPr>
              <a:t>Include</a:t>
            </a:r>
            <a:r>
              <a:rPr lang="en-US" sz="22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2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200" dirty="0" err="1">
                <a:solidFill>
                  <a:srgbClr val="0000FF"/>
                </a:solidFill>
                <a:latin typeface="Consolas" panose="020B0609020204030204" pitchFamily="49" charset="0"/>
              </a:rPr>
              <a:t>Avalonia.Themes.Fluent</a:t>
            </a:r>
            <a:r>
              <a:rPr lang="en-US" sz="22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FF0000"/>
                </a:solidFill>
                <a:latin typeface="Consolas" panose="020B0609020204030204" pitchFamily="49" charset="0"/>
              </a:rPr>
              <a:t>Version</a:t>
            </a:r>
            <a:r>
              <a:rPr lang="en-US" sz="22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2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11.0.5</a:t>
            </a:r>
            <a:r>
              <a:rPr lang="en-US" sz="22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200" dirty="0">
                <a:solidFill>
                  <a:srgbClr val="800000"/>
                </a:solidFill>
                <a:latin typeface="Consolas" panose="020B0609020204030204" pitchFamily="49" charset="0"/>
              </a:rPr>
              <a:t> /&gt;</a:t>
            </a:r>
            <a:endParaRPr lang="en-US" sz="2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2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200" dirty="0" err="1">
                <a:solidFill>
                  <a:srgbClr val="800000"/>
                </a:solidFill>
                <a:latin typeface="Consolas" panose="020B0609020204030204" pitchFamily="49" charset="0"/>
              </a:rPr>
              <a:t>PackageReference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FF0000"/>
                </a:solidFill>
                <a:latin typeface="Consolas" panose="020B0609020204030204" pitchFamily="49" charset="0"/>
              </a:rPr>
              <a:t>Include</a:t>
            </a:r>
            <a:r>
              <a:rPr lang="en-US" sz="22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2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200" dirty="0" err="1">
                <a:solidFill>
                  <a:srgbClr val="0000FF"/>
                </a:solidFill>
                <a:latin typeface="Consolas" panose="020B0609020204030204" pitchFamily="49" charset="0"/>
              </a:rPr>
              <a:t>ReactiveUI.Avalonia</a:t>
            </a:r>
            <a:r>
              <a:rPr lang="en-US" sz="22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FF0000"/>
                </a:solidFill>
                <a:latin typeface="Consolas" panose="020B0609020204030204" pitchFamily="49" charset="0"/>
              </a:rPr>
              <a:t>Version</a:t>
            </a:r>
            <a:r>
              <a:rPr lang="en-US" sz="22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2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19.4.1</a:t>
            </a:r>
            <a:r>
              <a:rPr lang="en-US" sz="22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200" dirty="0">
                <a:solidFill>
                  <a:srgbClr val="800000"/>
                </a:solidFill>
                <a:latin typeface="Consolas" panose="020B0609020204030204" pitchFamily="49" charset="0"/>
              </a:rPr>
              <a:t> /&gt;</a:t>
            </a:r>
            <a:endParaRPr lang="en-US" sz="2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200" dirty="0" smtClean="0">
                <a:solidFill>
                  <a:srgbClr val="800000"/>
                </a:solidFill>
                <a:latin typeface="Consolas" panose="020B0609020204030204" pitchFamily="49" charset="0"/>
              </a:rPr>
              <a:t>&lt;/</a:t>
            </a:r>
            <a:r>
              <a:rPr lang="en-US" sz="2200" dirty="0" err="1">
                <a:solidFill>
                  <a:srgbClr val="800000"/>
                </a:solidFill>
                <a:latin typeface="Consolas" panose="020B0609020204030204" pitchFamily="49" charset="0"/>
              </a:rPr>
              <a:t>ItemGroup</a:t>
            </a:r>
            <a:r>
              <a:rPr lang="en-US" sz="2200" dirty="0" smtClean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2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47031" y="5155333"/>
            <a:ext cx="6931050" cy="911980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47031" y="4109416"/>
            <a:ext cx="4738323" cy="1045917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47032" y="3095513"/>
            <a:ext cx="6035147" cy="1013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17621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3416320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В </a:t>
            </a:r>
            <a:r>
              <a:rPr lang="en-US" sz="2400" dirty="0" err="1" smtClean="0">
                <a:latin typeface="Bookman Old Style" panose="02050604050505020204" pitchFamily="18" charset="0"/>
              </a:rPr>
              <a:t>Program.cs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необходимо добавить строку </a:t>
            </a:r>
            <a:r>
              <a:rPr lang="en-US" sz="2400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UseReactiveUI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marL="457200" indent="-457200" algn="just">
              <a:lnSpc>
                <a:spcPct val="150000"/>
              </a:lnSpc>
              <a:buAutoNum type="arabicPeriod"/>
            </a:pPr>
            <a:endParaRPr lang="en-US" sz="2400" dirty="0">
              <a:latin typeface="Bookman Old Style" panose="02050604050505020204" pitchFamily="18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static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AppBuilder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BuildAvaloniaApp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=&gt;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AppBuilder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.Configure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App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&gt;()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    .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UsePlatformDetect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    .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WithInterFont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    .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LogToTrace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    .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UseReactiveUI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smtClean="0">
                <a:solidFill>
                  <a:srgbClr val="00B05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//&lt;-----</a:t>
            </a:r>
            <a:endParaRPr lang="en-US" sz="2200" dirty="0">
              <a:solidFill>
                <a:srgbClr val="00B05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33972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7048083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2400" dirty="0">
                <a:latin typeface="Bookman Old Style" panose="02050604050505020204" pitchFamily="18" charset="0"/>
              </a:rPr>
              <a:t>2. </a:t>
            </a:r>
            <a:r>
              <a:rPr lang="en-US" sz="2400" dirty="0" err="1">
                <a:latin typeface="Bookman Old Style" panose="02050604050505020204" pitchFamily="18" charset="0"/>
              </a:rPr>
              <a:t>ViewModel</a:t>
            </a:r>
            <a:r>
              <a:rPr lang="en-US" sz="2400" dirty="0">
                <a:latin typeface="Bookman Old Style" panose="02050604050505020204" pitchFamily="18" charset="0"/>
              </a:rPr>
              <a:t> </a:t>
            </a:r>
            <a:r>
              <a:rPr lang="ru-RU" sz="2400" dirty="0">
                <a:latin typeface="Bookman Old Style" panose="02050604050505020204" pitchFamily="18" charset="0"/>
              </a:rPr>
              <a:t>с </a:t>
            </a:r>
            <a:r>
              <a:rPr lang="en-US" sz="2400" dirty="0" err="1">
                <a:latin typeface="Bookman Old Style" panose="02050604050505020204" pitchFamily="18" charset="0"/>
              </a:rPr>
              <a:t>ReactiveUI</a:t>
            </a: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en-US" sz="2400" dirty="0" err="1" smtClean="0">
                <a:latin typeface="Bookman Old Style" panose="02050604050505020204" pitchFamily="18" charset="0"/>
              </a:rPr>
              <a:t>ViewModels</a:t>
            </a:r>
            <a:r>
              <a:rPr lang="en-US" sz="2400" dirty="0" smtClean="0">
                <a:latin typeface="Bookman Old Style" panose="02050604050505020204" pitchFamily="18" charset="0"/>
              </a:rPr>
              <a:t>/</a:t>
            </a:r>
            <a:r>
              <a:rPr lang="en-US" sz="2400" dirty="0" err="1" smtClean="0">
                <a:latin typeface="Bookman Old Style" panose="02050604050505020204" pitchFamily="18" charset="0"/>
              </a:rPr>
              <a:t>MainWindowViewModel.cs</a:t>
            </a:r>
            <a:endParaRPr lang="en-US" sz="2000" dirty="0" smtClean="0">
              <a:solidFill>
                <a:srgbClr val="0000FF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0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0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class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0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MainWindowViewModel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: </a:t>
            </a:r>
            <a:r>
              <a:rPr lang="en-US" sz="20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ReactiveObject</a:t>
            </a:r>
            <a:endParaRPr lang="en-US" sz="20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private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_message = </a:t>
            </a:r>
            <a:r>
              <a:rPr lang="en-US" sz="20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ru-RU" sz="20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Добро пожаловать в </a:t>
            </a:r>
            <a:r>
              <a:rPr lang="en-US" sz="20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Avalonia + </a:t>
            </a:r>
            <a:r>
              <a:rPr lang="en-US" sz="2000" dirty="0" err="1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ReactiveUI</a:t>
            </a:r>
            <a:r>
              <a:rPr lang="en-US" sz="20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!"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private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0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_count;</a:t>
            </a:r>
          </a:p>
          <a:p>
            <a:endParaRPr lang="ru-RU" sz="20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0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MainWindowViewModel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</a:t>
            </a:r>
          </a:p>
          <a:p>
            <a:r>
              <a:rPr lang="ru-RU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ru-RU" sz="20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endParaRPr lang="en-US" sz="20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0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		</a:t>
            </a:r>
            <a:r>
              <a:rPr lang="ru-RU" sz="2000" dirty="0" smtClean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</a:t>
            </a:r>
            <a:r>
              <a:rPr lang="ru-RU" sz="20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Создаем вычисляемое свойство, которое реагирует на изменения </a:t>
            </a:r>
            <a:r>
              <a:rPr lang="ru-RU" sz="20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Count</a:t>
            </a:r>
            <a:endParaRPr lang="ru-RU" sz="20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0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this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.WhenAnyValue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(x =&gt; 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x.Count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.Select(count =&gt; </a:t>
            </a:r>
            <a:r>
              <a:rPr lang="en-US" sz="20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$"</a:t>
            </a:r>
            <a:r>
              <a:rPr lang="ru-RU" sz="20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Количество нажатий: </a:t>
            </a:r>
            <a:r>
              <a:rPr lang="ru-RU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count}</a:t>
            </a:r>
            <a:r>
              <a:rPr lang="en-US" sz="20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.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ToProperty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this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x =&gt; 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x.DisplayCount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</a:t>
            </a:r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out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_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displayCount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endParaRPr lang="ru-RU" sz="20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ru-RU" sz="20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Инициализация команд</a:t>
            </a:r>
            <a:endParaRPr lang="ru-RU" sz="20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IncrementCommand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en-US" sz="20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ReactiveCommand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.Create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IncrementCount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endParaRPr lang="ru-RU" sz="20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ru-RU" sz="20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Команда сброса активна только когда счетчик &gt; 0</a:t>
            </a:r>
            <a:endParaRPr lang="ru-RU" sz="20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ResetCommand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en-US" sz="20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ReactiveCommand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.Create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ResetCount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20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this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.WhenAnyValue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(x =&gt; 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x.Count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).Select(count =&gt; count &gt; 0</a:t>
            </a:r>
            <a:r>
              <a:rPr lang="en-US" sz="20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));</a:t>
            </a:r>
          </a:p>
          <a:p>
            <a:r>
              <a:rPr lang="en-US" sz="20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}</a:t>
            </a:r>
            <a:endParaRPr lang="en-US" sz="20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94685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6186309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endParaRPr lang="ru-RU" sz="2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2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Reactive </a:t>
            </a:r>
            <a:r>
              <a:rPr lang="ru-RU" sz="22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свойства</a:t>
            </a:r>
            <a:endParaRPr lang="ru-RU" sz="2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Message</a:t>
            </a:r>
          </a:p>
          <a:p>
            <a:r>
              <a:rPr lang="ru-RU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{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get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=&gt; _message;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=&gt; </a:t>
            </a:r>
            <a:r>
              <a:rPr lang="en-US" sz="22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this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.RaiseAndSetIfChanged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ref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_message, </a:t>
            </a:r>
            <a:r>
              <a:rPr lang="en-US" sz="2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ru-RU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}</a:t>
            </a:r>
          </a:p>
          <a:p>
            <a:endParaRPr lang="ru-RU" sz="2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2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Count</a:t>
            </a:r>
          </a:p>
          <a:p>
            <a:r>
              <a:rPr lang="ru-RU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{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get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=&gt; _count;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=&gt; </a:t>
            </a:r>
            <a:r>
              <a:rPr lang="en-US" sz="22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this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.RaiseAndSetIfChanged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ref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_count, </a:t>
            </a:r>
            <a:r>
              <a:rPr lang="en-US" sz="2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ru-RU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}</a:t>
            </a:r>
          </a:p>
          <a:p>
            <a:endParaRPr lang="ru-RU" sz="2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2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 </a:t>
            </a:r>
            <a:r>
              <a:rPr lang="ru-RU" sz="2200" dirty="0" smtClean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</a:t>
            </a:r>
            <a:r>
              <a:rPr lang="ru-RU" sz="22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Вычисляемое свойство через </a:t>
            </a:r>
            <a:r>
              <a:rPr lang="en-US" sz="22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Observable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private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2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readonly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2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ObservableAsPropertyHelper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</a:t>
            </a:r>
            <a:r>
              <a:rPr lang="en-US" sz="2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 _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displayCount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DisplayCount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2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=&gt;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22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						_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displayCount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?.</a:t>
            </a:r>
            <a:r>
              <a:rPr lang="en-US" sz="22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 ?? </a:t>
            </a:r>
            <a:r>
              <a:rPr lang="en-US" sz="22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ru-RU" sz="22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Количество нажатий: 0"</a:t>
            </a:r>
            <a:r>
              <a:rPr lang="ru-RU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194241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Команды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ReactiveCommand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Unit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Unit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IncrementCommand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{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get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 }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ReactiveCommand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Unit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Unit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ResetCommand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{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get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 }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private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IncrementCount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Count++;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if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(Count % 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10 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== 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0)</a:t>
            </a:r>
            <a:endParaRPr lang="ru-RU" sz="24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ru-RU" sz="2400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Message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ru-RU" sz="2400" dirty="0" smtClean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$"Отлично! Вы достигли 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r>
              <a:rPr lang="ru-RU" sz="2400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Count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r>
              <a:rPr lang="ru-RU" sz="2400" dirty="0" smtClean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нажатий!"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 </a:t>
            </a:r>
          </a:p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}</a:t>
            </a:r>
            <a:endParaRPr lang="en-US" sz="24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ru-RU" sz="24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private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ResetCount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Count = 0;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ru-RU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Message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"Счетчик сброшен! Давайте начнем снова."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}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552854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2400" dirty="0">
                <a:latin typeface="Bookman Old Style" panose="02050604050505020204" pitchFamily="18" charset="0"/>
              </a:rPr>
              <a:t>3. View с </a:t>
            </a:r>
            <a:r>
              <a:rPr lang="en-US" sz="2400" dirty="0" err="1">
                <a:latin typeface="Bookman Old Style" panose="02050604050505020204" pitchFamily="18" charset="0"/>
              </a:rPr>
              <a:t>ReactiveUI</a:t>
            </a: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en-US" sz="2400" dirty="0">
                <a:latin typeface="Bookman Old Style" panose="02050604050505020204" pitchFamily="18" charset="0"/>
              </a:rPr>
              <a:t>Views/</a:t>
            </a:r>
            <a:r>
              <a:rPr lang="en-US" sz="2400" dirty="0" err="1">
                <a:latin typeface="Bookman Old Style" panose="02050604050505020204" pitchFamily="18" charset="0"/>
              </a:rPr>
              <a:t>MainWindow.axaml</a:t>
            </a:r>
            <a:endParaRPr lang="en-US" sz="2000" dirty="0" smtClean="0">
              <a:solidFill>
                <a:srgbClr val="0000FF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000" dirty="0">
                <a:solidFill>
                  <a:srgbClr val="800000"/>
                </a:solidFill>
                <a:latin typeface="Consolas" panose="020B0609020204030204" pitchFamily="49" charset="0"/>
              </a:rPr>
              <a:t>&lt;Window</a:t>
            </a:r>
            <a:r>
              <a:rPr lang="en-US" sz="20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E50000"/>
                </a:solidFill>
                <a:latin typeface="Consolas" panose="020B0609020204030204" pitchFamily="49" charset="0"/>
              </a:rPr>
              <a:t>xmlns</a:t>
            </a:r>
            <a:r>
              <a:rPr lang="en-US" sz="20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"https://github.com/</a:t>
            </a:r>
            <a:r>
              <a:rPr lang="en-US" sz="2000" dirty="0" err="1">
                <a:solidFill>
                  <a:srgbClr val="0000FF"/>
                </a:solidFill>
                <a:latin typeface="Consolas" panose="020B0609020204030204" pitchFamily="49" charset="0"/>
              </a:rPr>
              <a:t>avaloniaui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"</a:t>
            </a:r>
            <a:endParaRPr lang="en-US" sz="20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en-US" sz="2000" dirty="0" err="1">
                <a:solidFill>
                  <a:srgbClr val="E50000"/>
                </a:solidFill>
                <a:latin typeface="Consolas" panose="020B0609020204030204" pitchFamily="49" charset="0"/>
              </a:rPr>
              <a:t>xmlns:x</a:t>
            </a:r>
            <a:r>
              <a:rPr lang="en-US" sz="20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"http://schemas.microsoft.com/</a:t>
            </a:r>
            <a:r>
              <a:rPr lang="en-US" sz="2000" dirty="0" err="1">
                <a:solidFill>
                  <a:srgbClr val="0000FF"/>
                </a:solidFill>
                <a:latin typeface="Consolas" panose="020B0609020204030204" pitchFamily="49" charset="0"/>
              </a:rPr>
              <a:t>winfx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/2006/</a:t>
            </a:r>
            <a:r>
              <a:rPr lang="en-US" sz="2000" dirty="0" err="1">
                <a:solidFill>
                  <a:srgbClr val="0000FF"/>
                </a:solidFill>
                <a:latin typeface="Consolas" panose="020B0609020204030204" pitchFamily="49" charset="0"/>
              </a:rPr>
              <a:t>xaml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"</a:t>
            </a:r>
            <a:endParaRPr lang="en-US" sz="20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en-US" sz="2000" dirty="0" err="1">
                <a:solidFill>
                  <a:srgbClr val="E50000"/>
                </a:solidFill>
                <a:latin typeface="Consolas" panose="020B0609020204030204" pitchFamily="49" charset="0"/>
              </a:rPr>
              <a:t>xmlns:vm</a:t>
            </a:r>
            <a:r>
              <a:rPr lang="en-US" sz="20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"using:AvaloniaApplication1.ViewModels"</a:t>
            </a:r>
            <a:endParaRPr lang="en-US" sz="20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en-US" sz="2000" dirty="0" err="1">
                <a:solidFill>
                  <a:srgbClr val="E50000"/>
                </a:solidFill>
                <a:latin typeface="Consolas" panose="020B0609020204030204" pitchFamily="49" charset="0"/>
              </a:rPr>
              <a:t>xmlns:d</a:t>
            </a:r>
            <a:r>
              <a:rPr lang="en-US" sz="20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"http://schemas.microsoft.com/expression/blend/2008"</a:t>
            </a:r>
            <a:endParaRPr lang="en-US" sz="20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en-US" sz="2000" dirty="0" err="1">
                <a:solidFill>
                  <a:srgbClr val="E50000"/>
                </a:solidFill>
                <a:latin typeface="Consolas" panose="020B0609020204030204" pitchFamily="49" charset="0"/>
              </a:rPr>
              <a:t>xmlns:mc</a:t>
            </a:r>
            <a:r>
              <a:rPr lang="en-US" sz="20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"http://schemas.openxmlformats.org/markup-compatibility/2006"</a:t>
            </a:r>
            <a:endParaRPr lang="en-US" sz="20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en-US" sz="2000" dirty="0" err="1">
                <a:solidFill>
                  <a:srgbClr val="E50000"/>
                </a:solidFill>
                <a:latin typeface="Consolas" panose="020B0609020204030204" pitchFamily="49" charset="0"/>
              </a:rPr>
              <a:t>mc:Ignorable</a:t>
            </a:r>
            <a:r>
              <a:rPr lang="en-US" sz="20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"d"</a:t>
            </a:r>
            <a:r>
              <a:rPr lang="en-US" sz="20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smtClean="0">
                <a:solidFill>
                  <a:srgbClr val="E50000"/>
                </a:solidFill>
                <a:latin typeface="Consolas" panose="020B0609020204030204" pitchFamily="49" charset="0"/>
              </a:rPr>
              <a:t>Width</a:t>
            </a:r>
            <a:r>
              <a:rPr lang="en-US" sz="20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"600"</a:t>
            </a:r>
            <a:r>
              <a:rPr lang="en-US" sz="20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smtClean="0">
                <a:solidFill>
                  <a:srgbClr val="E50000"/>
                </a:solidFill>
                <a:latin typeface="Consolas" panose="020B0609020204030204" pitchFamily="49" charset="0"/>
              </a:rPr>
              <a:t>Height</a:t>
            </a:r>
            <a:r>
              <a:rPr lang="en-US" sz="20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"400"</a:t>
            </a:r>
            <a:endParaRPr lang="en-US" sz="20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en-US" sz="2000" dirty="0">
                <a:solidFill>
                  <a:srgbClr val="E50000"/>
                </a:solidFill>
                <a:latin typeface="Consolas" panose="020B0609020204030204" pitchFamily="49" charset="0"/>
              </a:rPr>
              <a:t>x:Class</a:t>
            </a:r>
            <a:r>
              <a:rPr lang="en-US" sz="20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"AvaloniaApplication1.Views.MainWindow"</a:t>
            </a:r>
            <a:endParaRPr lang="en-US" sz="20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en-US" sz="2000" dirty="0">
                <a:solidFill>
                  <a:srgbClr val="E50000"/>
                </a:solidFill>
                <a:latin typeface="Consolas" panose="020B0609020204030204" pitchFamily="49" charset="0"/>
              </a:rPr>
              <a:t>x:DataType</a:t>
            </a:r>
            <a:r>
              <a:rPr lang="en-US" sz="20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"vm:MainWindowViewModel"</a:t>
            </a:r>
            <a:endParaRPr lang="en-US" sz="20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en-US" sz="2000" dirty="0">
                <a:solidFill>
                  <a:srgbClr val="E50000"/>
                </a:solidFill>
                <a:latin typeface="Consolas" panose="020B0609020204030204" pitchFamily="49" charset="0"/>
              </a:rPr>
              <a:t>Icon</a:t>
            </a:r>
            <a:r>
              <a:rPr lang="en-US" sz="20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"/Assets/avalonia-logo.ico"</a:t>
            </a:r>
            <a:endParaRPr lang="en-US" sz="20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en-US" sz="2000" dirty="0">
                <a:solidFill>
                  <a:srgbClr val="E50000"/>
                </a:solidFill>
                <a:latin typeface="Consolas" panose="020B0609020204030204" pitchFamily="49" charset="0"/>
              </a:rPr>
              <a:t>Title</a:t>
            </a:r>
            <a:r>
              <a:rPr lang="en-US" sz="20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"</a:t>
            </a:r>
            <a:r>
              <a:rPr lang="ru-RU" sz="2000" dirty="0">
                <a:solidFill>
                  <a:srgbClr val="0000FF"/>
                </a:solidFill>
                <a:latin typeface="Consolas" panose="020B0609020204030204" pitchFamily="49" charset="0"/>
              </a:rPr>
              <a:t>Первое приложение на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Avalonia</a:t>
            </a:r>
            <a:r>
              <a:rPr lang="en-US" sz="2000" dirty="0" smtClean="0">
                <a:solidFill>
                  <a:srgbClr val="0000FF"/>
                </a:solidFill>
                <a:latin typeface="Consolas" panose="020B0609020204030204" pitchFamily="49" charset="0"/>
              </a:rPr>
              <a:t>"</a:t>
            </a:r>
            <a:r>
              <a:rPr lang="en-US" sz="2000" dirty="0" smtClean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r>
              <a:rPr lang="en-US" sz="2000" dirty="0">
                <a:solidFill>
                  <a:srgbClr val="3B3B3B"/>
                </a:solidFill>
                <a:latin typeface="Consolas" panose="020B0609020204030204" pitchFamily="49" charset="0"/>
              </a:rPr>
              <a:t/>
            </a:r>
            <a:br>
              <a:rPr lang="en-US" sz="20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en-US" sz="20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endParaRPr lang="en-US" sz="2000" dirty="0" smtClean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3B3B3B"/>
                </a:solidFill>
                <a:latin typeface="Consolas" panose="020B0609020204030204" pitchFamily="49" charset="0"/>
              </a:rPr>
              <a:t>	</a:t>
            </a:r>
            <a:r>
              <a:rPr lang="en-US" sz="2000" dirty="0" smtClean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000" dirty="0" err="1">
                <a:solidFill>
                  <a:srgbClr val="800000"/>
                </a:solidFill>
                <a:latin typeface="Consolas" panose="020B0609020204030204" pitchFamily="49" charset="0"/>
              </a:rPr>
              <a:t>Design.DataContext</a:t>
            </a:r>
            <a:r>
              <a:rPr lang="en-US" sz="20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0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en-US" sz="20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000" dirty="0" err="1">
                <a:solidFill>
                  <a:srgbClr val="800000"/>
                </a:solidFill>
                <a:latin typeface="Consolas" panose="020B0609020204030204" pitchFamily="49" charset="0"/>
              </a:rPr>
              <a:t>vm:MainWindowViewModel</a:t>
            </a:r>
            <a:r>
              <a:rPr lang="en-US" sz="2000" dirty="0">
                <a:solidFill>
                  <a:srgbClr val="800000"/>
                </a:solidFill>
                <a:latin typeface="Consolas" panose="020B0609020204030204" pitchFamily="49" charset="0"/>
              </a:rPr>
              <a:t>/&gt;</a:t>
            </a:r>
            <a:endParaRPr lang="en-US" sz="20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en-US" sz="2000" dirty="0">
                <a:solidFill>
                  <a:srgbClr val="800000"/>
                </a:solidFill>
                <a:latin typeface="Consolas" panose="020B0609020204030204" pitchFamily="49" charset="0"/>
              </a:rPr>
              <a:t>&lt;/</a:t>
            </a:r>
            <a:r>
              <a:rPr lang="en-US" sz="2000" dirty="0" err="1">
                <a:solidFill>
                  <a:srgbClr val="800000"/>
                </a:solidFill>
                <a:latin typeface="Consolas" panose="020B0609020204030204" pitchFamily="49" charset="0"/>
              </a:rPr>
              <a:t>Design.DataContext</a:t>
            </a:r>
            <a:r>
              <a:rPr lang="en-US" sz="2000" dirty="0" smtClean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</a:p>
          <a:p>
            <a:endParaRPr lang="en-US" sz="2000" dirty="0">
              <a:solidFill>
                <a:srgbClr val="8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en-US" sz="2000" dirty="0" smtClean="0">
                <a:solidFill>
                  <a:srgbClr val="008000"/>
                </a:solidFill>
                <a:latin typeface="Consolas" panose="020B0609020204030204" pitchFamily="49" charset="0"/>
              </a:rPr>
              <a:t>&lt;!– </a:t>
            </a:r>
            <a:r>
              <a:rPr lang="ru-RU" sz="2000" dirty="0" smtClean="0">
                <a:solidFill>
                  <a:srgbClr val="008000"/>
                </a:solidFill>
                <a:latin typeface="Consolas" panose="020B0609020204030204" pitchFamily="49" charset="0"/>
              </a:rPr>
              <a:t>Далее --&gt;</a:t>
            </a:r>
            <a:endParaRPr lang="en-US" sz="2000" dirty="0" smtClean="0">
              <a:solidFill>
                <a:srgbClr val="8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800000"/>
                </a:solidFill>
                <a:latin typeface="Consolas" panose="020B0609020204030204" pitchFamily="49" charset="0"/>
              </a:rPr>
              <a:t>	</a:t>
            </a:r>
            <a:r>
              <a:rPr lang="en-US" sz="2000" dirty="0">
                <a:solidFill>
                  <a:srgbClr val="3B3B3B"/>
                </a:solidFill>
                <a:latin typeface="Consolas" panose="020B0609020204030204" pitchFamily="49" charset="0"/>
              </a:rPr>
              <a:t/>
            </a:r>
            <a:br>
              <a:rPr lang="en-US" sz="20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en-US" sz="2000" dirty="0">
                <a:solidFill>
                  <a:srgbClr val="800000"/>
                </a:solidFill>
                <a:latin typeface="Consolas" panose="020B0609020204030204" pitchFamily="49" charset="0"/>
              </a:rPr>
              <a:t>&lt;/Window&gt;</a:t>
            </a:r>
            <a:endParaRPr lang="en-US" sz="20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596004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5632311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StackPanel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E50000"/>
                </a:solidFill>
                <a:latin typeface="Consolas" panose="020B0609020204030204" pitchFamily="49" charset="0"/>
              </a:rPr>
              <a:t>HorizontalAlignment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 smtClean="0">
                <a:solidFill>
                  <a:srgbClr val="0000FF"/>
                </a:solidFill>
                <a:latin typeface="Consolas" panose="020B0609020204030204" pitchFamily="49" charset="0"/>
              </a:rPr>
              <a:t>Center"</a:t>
            </a:r>
            <a:endParaRPr lang="ru-RU" sz="2400" dirty="0" smtClean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2400" dirty="0" smtClean="0">
                <a:solidFill>
                  <a:srgbClr val="E50000"/>
                </a:solidFill>
                <a:latin typeface="Consolas" panose="020B0609020204030204" pitchFamily="49" charset="0"/>
              </a:rPr>
              <a:t>						</a:t>
            </a:r>
            <a:r>
              <a:rPr lang="en-US" sz="2400" dirty="0" err="1" smtClean="0">
                <a:solidFill>
                  <a:srgbClr val="E50000"/>
                </a:solidFill>
                <a:latin typeface="Consolas" panose="020B0609020204030204" pitchFamily="49" charset="0"/>
              </a:rPr>
              <a:t>VerticalAlignment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"Center"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E50000"/>
                </a:solidFill>
                <a:latin typeface="Consolas" panose="020B0609020204030204" pitchFamily="49" charset="0"/>
              </a:rPr>
              <a:t>Spacing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"20"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</a:p>
          <a:p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&lt;!-- </a:t>
            </a:r>
            <a:r>
              <a:rPr lang="ru-RU" sz="2400" dirty="0">
                <a:solidFill>
                  <a:srgbClr val="008000"/>
                </a:solidFill>
                <a:latin typeface="Consolas" panose="020B0609020204030204" pitchFamily="49" charset="0"/>
              </a:rPr>
              <a:t>Приветственный текст --&gt;</a:t>
            </a:r>
            <a:endParaRPr lang="ru-RU" sz="2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ru-RU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TextBlock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E50000"/>
                </a:solidFill>
                <a:latin typeface="Consolas" panose="020B0609020204030204" pitchFamily="49" charset="0"/>
              </a:rPr>
              <a:t>Text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"{Binding Message}"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     </a:t>
            </a:r>
            <a:r>
              <a:rPr lang="en-US" sz="2400" dirty="0" err="1">
                <a:solidFill>
                  <a:srgbClr val="E50000"/>
                </a:solidFill>
                <a:latin typeface="Consolas" panose="020B0609020204030204" pitchFamily="49" charset="0"/>
              </a:rPr>
              <a:t>FontSize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"16"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     </a:t>
            </a:r>
            <a:r>
              <a:rPr lang="en-US" sz="2400" dirty="0" err="1">
                <a:solidFill>
                  <a:srgbClr val="E50000"/>
                </a:solidFill>
                <a:latin typeface="Consolas" panose="020B0609020204030204" pitchFamily="49" charset="0"/>
              </a:rPr>
              <a:t>TextAlignment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"Center"</a:t>
            </a:r>
            <a:endParaRPr lang="en-US" sz="2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     </a:t>
            </a:r>
            <a:r>
              <a:rPr lang="en-US" sz="2400" dirty="0" err="1">
                <a:solidFill>
                  <a:srgbClr val="E50000"/>
                </a:solidFill>
                <a:latin typeface="Consolas" panose="020B0609020204030204" pitchFamily="49" charset="0"/>
              </a:rPr>
              <a:t>HorizontalAlignment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"Center"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/&gt;</a:t>
            </a:r>
            <a:endParaRPr lang="en-US" sz="2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</a:p>
          <a:p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&lt;!-- </a:t>
            </a:r>
            <a:r>
              <a:rPr lang="ru-RU" sz="2400" dirty="0">
                <a:solidFill>
                  <a:srgbClr val="008000"/>
                </a:solidFill>
                <a:latin typeface="Consolas" panose="020B0609020204030204" pitchFamily="49" charset="0"/>
              </a:rPr>
              <a:t>Счетчик с привязкой к вычисляемому свойству --&gt;</a:t>
            </a:r>
            <a:endParaRPr lang="ru-RU" sz="2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ru-RU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TextBlock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E50000"/>
                </a:solidFill>
                <a:latin typeface="Consolas" panose="020B0609020204030204" pitchFamily="49" charset="0"/>
              </a:rPr>
              <a:t>Text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"{Binding </a:t>
            </a: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DisplayCount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}"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     </a:t>
            </a:r>
            <a:r>
              <a:rPr lang="en-US" sz="2400" dirty="0" err="1">
                <a:solidFill>
                  <a:srgbClr val="E50000"/>
                </a:solidFill>
                <a:latin typeface="Consolas" panose="020B0609020204030204" pitchFamily="49" charset="0"/>
              </a:rPr>
              <a:t>FontSize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"18"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     </a:t>
            </a:r>
            <a:r>
              <a:rPr lang="en-US" sz="2400" dirty="0" err="1">
                <a:solidFill>
                  <a:srgbClr val="E50000"/>
                </a:solidFill>
                <a:latin typeface="Consolas" panose="020B0609020204030204" pitchFamily="49" charset="0"/>
              </a:rPr>
              <a:t>FontWeight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"Bold"</a:t>
            </a:r>
            <a:endParaRPr lang="en-US" sz="2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     </a:t>
            </a:r>
            <a:r>
              <a:rPr lang="en-US" sz="2400" dirty="0">
                <a:solidFill>
                  <a:srgbClr val="E50000"/>
                </a:solidFill>
                <a:latin typeface="Consolas" panose="020B0609020204030204" pitchFamily="49" charset="0"/>
              </a:rPr>
              <a:t>Foreground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"Blue"</a:t>
            </a:r>
            <a:endParaRPr lang="en-US" sz="2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     </a:t>
            </a:r>
            <a:r>
              <a:rPr lang="en-US" sz="2400" dirty="0" err="1">
                <a:solidFill>
                  <a:srgbClr val="E50000"/>
                </a:solidFill>
                <a:latin typeface="Consolas" panose="020B0609020204030204" pitchFamily="49" charset="0"/>
              </a:rPr>
              <a:t>HorizontalAlignment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"Center</a:t>
            </a:r>
            <a:r>
              <a:rPr lang="en-US" sz="2400" dirty="0" smtClean="0">
                <a:solidFill>
                  <a:srgbClr val="0000FF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 smtClean="0">
                <a:solidFill>
                  <a:srgbClr val="800000"/>
                </a:solidFill>
                <a:latin typeface="Consolas" panose="020B0609020204030204" pitchFamily="49" charset="0"/>
              </a:rPr>
              <a:t>/&gt;</a:t>
            </a:r>
            <a:endParaRPr lang="en-US" sz="2400" dirty="0">
              <a:solidFill>
                <a:srgbClr val="3B3B3B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92839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</a:p>
          <a:p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&lt;!-- </a:t>
            </a:r>
            <a:r>
              <a:rPr lang="ru-RU" sz="2400" dirty="0">
                <a:solidFill>
                  <a:srgbClr val="008000"/>
                </a:solidFill>
                <a:latin typeface="Consolas" panose="020B0609020204030204" pitchFamily="49" charset="0"/>
              </a:rPr>
              <a:t>Кнопки с привязкой команд </a:t>
            </a:r>
            <a:r>
              <a:rPr lang="en-US" sz="2400" dirty="0" err="1">
                <a:solidFill>
                  <a:srgbClr val="008000"/>
                </a:solidFill>
                <a:latin typeface="Consolas" panose="020B0609020204030204" pitchFamily="49" charset="0"/>
              </a:rPr>
              <a:t>ReactiveUI</a:t>
            </a: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 --&gt;</a:t>
            </a:r>
            <a:endParaRPr lang="en-US" sz="2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&lt;Button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E50000"/>
                </a:solidFill>
                <a:latin typeface="Consolas" panose="020B0609020204030204" pitchFamily="49" charset="0"/>
              </a:rPr>
              <a:t>Content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>
                <a:solidFill>
                  <a:srgbClr val="0000FF"/>
                </a:solidFill>
                <a:latin typeface="Consolas" panose="020B0609020204030204" pitchFamily="49" charset="0"/>
              </a:rPr>
              <a:t>Увеличить счетчик!"</a:t>
            </a:r>
            <a:r>
              <a:rPr lang="ru-RU" sz="2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ru-RU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  </a:t>
            </a:r>
            <a:r>
              <a:rPr lang="en-US" sz="2400" dirty="0">
                <a:solidFill>
                  <a:srgbClr val="E50000"/>
                </a:solidFill>
                <a:latin typeface="Consolas" panose="020B0609020204030204" pitchFamily="49" charset="0"/>
              </a:rPr>
              <a:t>Command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"{Binding </a:t>
            </a: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IncrementCommand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}"</a:t>
            </a:r>
            <a:endParaRPr lang="en-US" sz="2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  </a:t>
            </a:r>
            <a:r>
              <a:rPr lang="en-US" sz="2400" dirty="0">
                <a:solidFill>
                  <a:srgbClr val="E50000"/>
                </a:solidFill>
                <a:latin typeface="Consolas" panose="020B0609020204030204" pitchFamily="49" charset="0"/>
              </a:rPr>
              <a:t>Width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"150"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E50000"/>
                </a:solidFill>
                <a:latin typeface="Consolas" panose="020B0609020204030204" pitchFamily="49" charset="0"/>
              </a:rPr>
              <a:t>Height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"35"</a:t>
            </a:r>
            <a:endParaRPr lang="en-US" sz="2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  </a:t>
            </a:r>
            <a:r>
              <a:rPr lang="en-US" sz="2400" dirty="0" err="1">
                <a:solidFill>
                  <a:srgbClr val="E50000"/>
                </a:solidFill>
                <a:latin typeface="Consolas" panose="020B0609020204030204" pitchFamily="49" charset="0"/>
              </a:rPr>
              <a:t>FontSize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"14"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/&gt;</a:t>
            </a:r>
            <a:endParaRPr lang="en-US" sz="2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</a:p>
          <a:p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&lt;Button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E50000"/>
                </a:solidFill>
                <a:latin typeface="Consolas" panose="020B0609020204030204" pitchFamily="49" charset="0"/>
              </a:rPr>
              <a:t>Content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>
                <a:solidFill>
                  <a:srgbClr val="0000FF"/>
                </a:solidFill>
                <a:latin typeface="Consolas" panose="020B0609020204030204" pitchFamily="49" charset="0"/>
              </a:rPr>
              <a:t>Сбросить"</a:t>
            </a:r>
            <a:r>
              <a:rPr lang="ru-RU" sz="2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ru-RU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  </a:t>
            </a:r>
            <a:r>
              <a:rPr lang="en-US" sz="2400" dirty="0">
                <a:solidFill>
                  <a:srgbClr val="E50000"/>
                </a:solidFill>
                <a:latin typeface="Consolas" panose="020B0609020204030204" pitchFamily="49" charset="0"/>
              </a:rPr>
              <a:t>Command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"{Binding </a:t>
            </a: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ResetCommand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}"</a:t>
            </a:r>
            <a:endParaRPr lang="en-US" sz="2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  </a:t>
            </a:r>
            <a:r>
              <a:rPr lang="en-US" sz="2400" dirty="0">
                <a:solidFill>
                  <a:srgbClr val="E50000"/>
                </a:solidFill>
                <a:latin typeface="Consolas" panose="020B0609020204030204" pitchFamily="49" charset="0"/>
              </a:rPr>
              <a:t>Width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"100"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E50000"/>
                </a:solidFill>
                <a:latin typeface="Consolas" panose="020B0609020204030204" pitchFamily="49" charset="0"/>
              </a:rPr>
              <a:t>Height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"30"</a:t>
            </a:r>
            <a:endParaRPr lang="en-US" sz="2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  </a:t>
            </a:r>
            <a:r>
              <a:rPr lang="en-US" sz="2400" dirty="0" err="1">
                <a:solidFill>
                  <a:srgbClr val="E50000"/>
                </a:solidFill>
                <a:latin typeface="Consolas" panose="020B0609020204030204" pitchFamily="49" charset="0"/>
              </a:rPr>
              <a:t>FontSize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"12"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/&gt;</a:t>
            </a:r>
            <a:endParaRPr lang="en-US" sz="2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</a:p>
          <a:p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&lt;/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StackPanel</a:t>
            </a:r>
            <a:r>
              <a:rPr lang="en-US" sz="2400" dirty="0" smtClean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ru-RU" sz="2400" dirty="0" smtClean="0">
              <a:solidFill>
                <a:srgbClr val="800000"/>
              </a:solidFill>
              <a:latin typeface="Consolas" panose="020B0609020204030204" pitchFamily="49" charset="0"/>
            </a:endParaRPr>
          </a:p>
          <a:p>
            <a:endParaRPr lang="ru-RU" sz="2400" dirty="0">
              <a:solidFill>
                <a:srgbClr val="800000"/>
              </a:solidFill>
              <a:latin typeface="Consolas" panose="020B0609020204030204" pitchFamily="49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 smtClean="0">
                <a:highlight>
                  <a:srgbClr val="FFFFFF"/>
                </a:highlight>
                <a:latin typeface="Bookman Old Style" panose="02050604050505020204" pitchFamily="18" charset="0"/>
              </a:rPr>
              <a:t>Замечание: </a:t>
            </a:r>
            <a:r>
              <a:rPr lang="ru-RU" sz="2400" dirty="0" smtClean="0">
                <a:highlight>
                  <a:srgbClr val="FFFFFF"/>
                </a:highlight>
                <a:latin typeface="Bookman Old Style" panose="02050604050505020204" pitchFamily="18" charset="0"/>
              </a:rPr>
              <a:t>Чтобы отображалась кириллица необходимо, чтобы расширение файла было </a:t>
            </a:r>
            <a:r>
              <a:rPr lang="en-US" sz="2400" dirty="0" smtClean="0">
                <a:highlight>
                  <a:srgbClr val="FFFFFF"/>
                </a:highlight>
                <a:latin typeface="Bookman Old Style" panose="02050604050505020204" pitchFamily="18" charset="0"/>
              </a:rPr>
              <a:t>UTF-8.</a:t>
            </a:r>
            <a:endParaRPr lang="en-US" sz="2400" dirty="0">
              <a:solidFill>
                <a:srgbClr val="0000FF"/>
              </a:solidFill>
              <a:highlight>
                <a:srgbClr val="FFFFFF"/>
              </a:highlight>
              <a:latin typeface="Bookman Old Style" panose="02050604050505020204" pitchFamily="18" charset="0"/>
            </a:endParaRPr>
          </a:p>
          <a:p>
            <a:endParaRPr lang="en-US" sz="2400" dirty="0">
              <a:solidFill>
                <a:srgbClr val="3B3B3B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46390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583045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smtClean="0">
                <a:highlight>
                  <a:srgbClr val="FFFFFF"/>
                </a:highlight>
                <a:latin typeface="Bookman Old Style" panose="02050604050505020204" pitchFamily="18" charset="0"/>
              </a:rPr>
              <a:t>Внешний вид окна</a:t>
            </a:r>
            <a:endParaRPr lang="en-US" sz="2400" dirty="0">
              <a:solidFill>
                <a:srgbClr val="0000FF"/>
              </a:solidFill>
              <a:highlight>
                <a:srgbClr val="FFFFFF"/>
              </a:highlight>
              <a:latin typeface="Bookman Old Style" panose="02050604050505020204" pitchFamily="18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0352" y="583045"/>
            <a:ext cx="8751296" cy="5882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55481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583045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smtClean="0">
                <a:highlight>
                  <a:srgbClr val="FFFFFF"/>
                </a:highlight>
                <a:latin typeface="Bookman Old Style" panose="02050604050505020204" pitchFamily="18" charset="0"/>
              </a:rPr>
              <a:t>Пример работы программы</a:t>
            </a:r>
            <a:endParaRPr lang="en-US" sz="2400" dirty="0">
              <a:solidFill>
                <a:srgbClr val="0000FF"/>
              </a:solidFill>
              <a:highlight>
                <a:srgbClr val="FFFFFF"/>
              </a:highlight>
              <a:latin typeface="Bookman Old Style" panose="02050604050505020204" pitchFamily="18" charset="0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8612" y="583045"/>
            <a:ext cx="8334775" cy="5981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79747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15501</TotalTime>
  <Words>1137</Words>
  <Application>Microsoft Office PowerPoint</Application>
  <PresentationFormat>Широкоэкранный</PresentationFormat>
  <Paragraphs>426</Paragraphs>
  <Slides>38</Slides>
  <Notes>38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8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38</vt:i4>
      </vt:variant>
    </vt:vector>
  </HeadingPairs>
  <TitlesOfParts>
    <vt:vector size="47" baseType="lpstr">
      <vt:lpstr>Arial</vt:lpstr>
      <vt:lpstr>Bookman Old Style</vt:lpstr>
      <vt:lpstr>Calibri</vt:lpstr>
      <vt:lpstr>Calibri Light</vt:lpstr>
      <vt:lpstr>Cascadia Mono</vt:lpstr>
      <vt:lpstr>Consolas</vt:lpstr>
      <vt:lpstr>quote-cjk-patch</vt:lpstr>
      <vt:lpstr>Times New Roman</vt:lpstr>
      <vt:lpstr>Тема Office</vt:lpstr>
      <vt:lpstr>3 семестр Лекция 9.  Содержание лекции: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ПРОГРАММЫ ДЛЯ РАСЧЁТА ПРОДОЛЬНО-ПОПЕРЕЧНЫХ КОЛЕБАНИЙ СТВОЛА АРТИЛЛЕРИЙСКОГО ОРУДИЯ</dc:title>
  <dc:creator>vsufiy</dc:creator>
  <cp:lastModifiedBy>Daniil Kljukin</cp:lastModifiedBy>
  <cp:revision>1010</cp:revision>
  <dcterms:modified xsi:type="dcterms:W3CDTF">2025-11-01T07:34:04Z</dcterms:modified>
</cp:coreProperties>
</file>